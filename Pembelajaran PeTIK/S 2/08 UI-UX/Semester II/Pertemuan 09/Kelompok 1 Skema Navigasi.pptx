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2772" y="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13AA6-DF8C-27F3-4A5E-F240B71351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AEA3CC-526A-3BC3-8E14-2BDEB2F6CD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2A104-91EE-16C1-8482-EFD84F8B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557729-552B-C197-0603-EF0FBD4B4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87D445-5264-594B-ECF2-6FB7E97DE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886362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9B7CE-EE16-8E85-4A72-0596E82A5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3CF1B-A55C-A7FA-0FD4-FF8177464C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FF04A-3C90-9717-70CC-429AF44ED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F99835-E7E8-5D5D-5E37-713C3BEA1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353030-000F-AB78-69C7-2AC8EE970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900056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58900-21BF-981F-36E2-D03F5ED2E2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81729A-A491-E74C-FBC0-F770E0D29D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9DE0-5378-F1DC-0653-F31A6FCDE2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A41717-3569-B11E-1DF9-189B911E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C65F1-18E5-D7C4-1442-3F863276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15230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433DF-B818-6167-DCC9-9B0777CF5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C6CA4-7103-62D8-8BE9-0FFCD0ACA17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1DEDE-DAF5-3081-760F-3A6D6B552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366368-8A1E-6379-BE73-7C880E676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77A913-729A-E565-CF95-6223DC90B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AB277A-9E5B-067C-2130-57BCD37F2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10355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59187-8FF9-3B98-27CD-16EA0029B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1D5A91-02E3-06EF-1FEA-0E5BAFE99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B8C35-1D86-9C3E-0ECB-11DCBA5DCC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6E73A-7E1A-CBD8-320E-ACF057445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F649BA-BAA5-03DE-0F0B-68C81A2AAA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D92A2-CC79-F2B3-93CE-A5BF4DA401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FB738A-6938-1EAC-71C0-66C54A9A2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4B9EC2E-3AB7-8A03-CCBC-C58CFFD1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760249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465F3-ED72-A13D-6EA8-DB0547272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12EA7D-AC69-E9C3-3D91-B16FEBD77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E05AC0-4892-4A4A-4F86-543E8DD28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8C5FFF-9D3C-3467-BECD-58375BD506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86120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C2049-9244-7576-9295-69572F17E7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D930B-B3ED-9EE6-2C82-37C4393AF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936ED-9E0B-1801-7461-4D9E65041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207674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1B61-03DE-B68E-B850-C2624C658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81046B-03F6-51CE-B2E7-94A9248297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5587A7-A4A2-3F33-3CF6-F9518E775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19BB26-ED1C-EEEB-6AE4-E4CE2A02F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7DC201-6F2B-4068-093E-DE33093A6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C8AD2-E693-E2C2-6EDB-6A31B0A49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717203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A1EFE-BF67-6D57-631C-27E3A792CA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1B3806-04E3-99F1-9216-64208053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35D1BE-D3D0-F881-0D34-25292B796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59C07D-7F09-503F-1335-91D27C90A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E39314-BB7D-C87F-8384-7F9717BBC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06C000-BA3F-90E0-C1DE-355867B1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78248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5C334-6809-A226-5735-2E92EE1C2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E95A07-B642-BE36-5682-89A93AF2E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BE679-6EB4-4940-1727-BFB5D4795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90938-CF2E-3D33-876E-248DD42CA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EF4A3-1072-D13C-4BB1-C0E515A94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95087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0A9D93-E6FA-8E94-85C0-E01FE440A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B38ABD-5B07-B5AA-02A4-1FE651543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2946FF-54A5-2CC1-FAA4-A34DD3B1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DE32D4-8EA6-CCAD-5F22-5E0E7BEF6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ADEF00-D2B5-9968-9108-3C7A78DE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998899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7916CB-4A57-CB0F-FD29-6FF82F86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B98B6-5445-F58E-CD1E-CBA4701B6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4888A1-576C-6ED8-CCC1-0B9D0B3584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0D751C-AE6C-4D8F-B37C-2DA39E035A7A}" type="datetimeFigureOut">
              <a:rPr lang="en-ID" smtClean="0"/>
              <a:t>16/01/2023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E54A4-A964-A2DD-0D2B-024F772263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8BEBD9-0712-CBBD-5B8E-C83F40D7E3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9FBE3-B2CB-4E0C-B643-27D81E82E32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34743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repository.unikom.ac.id/45892/1/Menu%20dan%20Skema%20navigasi.pdf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66BDC-BC72-55C8-B144-7DB63AA4D6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370395"/>
            <a:ext cx="9144000" cy="953572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Montserrat" panose="00000500000000000000" pitchFamily="2" charset="0"/>
              </a:rPr>
              <a:t>Skema/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052F4-DEC7-BCC4-FABF-DEA7D9775C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44104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Presented By</a:t>
            </a:r>
          </a:p>
          <a:p>
            <a:r>
              <a:rPr lang="en-ID" dirty="0">
                <a:latin typeface="Montserrat" panose="00000500000000000000" pitchFamily="2" charset="0"/>
              </a:rPr>
              <a:t>Arda, </a:t>
            </a:r>
            <a:r>
              <a:rPr lang="en-ID" dirty="0" err="1">
                <a:latin typeface="Montserrat" panose="00000500000000000000" pitchFamily="2" charset="0"/>
              </a:rPr>
              <a:t>Feirdaus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Mu’aadz</a:t>
            </a:r>
            <a:r>
              <a:rPr lang="en-ID" dirty="0">
                <a:latin typeface="Montserrat" panose="00000500000000000000" pitchFamily="2" charset="0"/>
              </a:rPr>
              <a:t>, Aslan, </a:t>
            </a:r>
            <a:r>
              <a:rPr lang="en-ID" dirty="0" err="1">
                <a:latin typeface="Montserrat" panose="00000500000000000000" pitchFamily="2" charset="0"/>
              </a:rPr>
              <a:t>Syahdan</a:t>
            </a:r>
            <a:r>
              <a:rPr lang="en-ID" dirty="0">
                <a:latin typeface="Montserrat" panose="00000500000000000000" pitchFamily="2" charset="0"/>
              </a:rPr>
              <a:t>, </a:t>
            </a:r>
            <a:r>
              <a:rPr lang="en-ID" dirty="0" err="1">
                <a:latin typeface="Montserrat" panose="00000500000000000000" pitchFamily="2" charset="0"/>
              </a:rPr>
              <a:t>Qodri</a:t>
            </a:r>
            <a:endParaRPr lang="en-ID" dirty="0"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B94689-610E-305E-5869-4D2A0C512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7546" y="1686105"/>
            <a:ext cx="1376905" cy="363503"/>
          </a:xfrm>
          <a:prstGeom prst="rect">
            <a:avLst/>
          </a:prstGeom>
        </p:spPr>
      </p:pic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81A63C1-9310-44FC-F1A8-3FFD193FC9EE}"/>
              </a:ext>
            </a:extLst>
          </p:cNvPr>
          <p:cNvSpPr/>
          <p:nvPr/>
        </p:nvSpPr>
        <p:spPr>
          <a:xfrm>
            <a:off x="-19050" y="4667250"/>
            <a:ext cx="3562350" cy="2171700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C290A27-3BDA-4C21-C3AE-61C9E69AFCE1}"/>
              </a:ext>
            </a:extLst>
          </p:cNvPr>
          <p:cNvSpPr/>
          <p:nvPr/>
        </p:nvSpPr>
        <p:spPr>
          <a:xfrm rot="10800000" flipH="1">
            <a:off x="0" y="0"/>
            <a:ext cx="3543300" cy="2346927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03F3FAF-F463-F4B2-22CA-7B90282E0F8A}"/>
              </a:ext>
            </a:extLst>
          </p:cNvPr>
          <p:cNvSpPr/>
          <p:nvPr/>
        </p:nvSpPr>
        <p:spPr>
          <a:xfrm rot="358227" flipH="1">
            <a:off x="9142955" y="4566821"/>
            <a:ext cx="2958333" cy="2490014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D1B886B-6ABA-8CEB-6DFD-06A7C5EEC7A4}"/>
              </a:ext>
            </a:extLst>
          </p:cNvPr>
          <p:cNvSpPr/>
          <p:nvPr/>
        </p:nvSpPr>
        <p:spPr>
          <a:xfrm rot="10800000">
            <a:off x="9163050" y="-1"/>
            <a:ext cx="3181350" cy="2480597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2160199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7030-F6F1-7A4B-CECB-9CE5330D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Montserrat" panose="00000500000000000000" pitchFamily="2" charset="0"/>
              </a:rPr>
              <a:t>Pengertian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BD8D-08CC-0DD0-A6E5-663A5753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52286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D" sz="2000" dirty="0" err="1">
                <a:latin typeface="Montserrat" panose="00000500000000000000" pitchFamily="2" charset="0"/>
              </a:rPr>
              <a:t>Secara</a:t>
            </a:r>
            <a:r>
              <a:rPr lang="en-ID" sz="2000" dirty="0">
                <a:latin typeface="Montserrat" panose="00000500000000000000" pitchFamily="2" charset="0"/>
              </a:rPr>
              <a:t> garis </a:t>
            </a:r>
            <a:r>
              <a:rPr lang="en-ID" sz="2000" dirty="0" err="1">
                <a:latin typeface="Montserrat" panose="00000500000000000000" pitchFamily="2" charset="0"/>
              </a:rPr>
              <a:t>besar</a:t>
            </a:r>
            <a:r>
              <a:rPr lang="en-ID" sz="2000" dirty="0">
                <a:latin typeface="Montserrat" panose="00000500000000000000" pitchFamily="2" charset="0"/>
              </a:rPr>
              <a:t>,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dalam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konteks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ini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mengacu</a:t>
            </a:r>
            <a:r>
              <a:rPr lang="en-ID" sz="2000" dirty="0">
                <a:latin typeface="Montserrat" panose="00000500000000000000" pitchFamily="2" charset="0"/>
              </a:rPr>
              <a:t> pada proses </a:t>
            </a:r>
            <a:r>
              <a:rPr lang="en-ID" sz="2000" dirty="0" err="1">
                <a:latin typeface="Montserrat" panose="00000500000000000000" pitchFamily="2" charset="0"/>
              </a:rPr>
              <a:t>menavigasi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halaman</a:t>
            </a:r>
            <a:r>
              <a:rPr lang="en-ID" sz="2000" dirty="0">
                <a:latin typeface="Montserrat" panose="00000500000000000000" pitchFamily="2" charset="0"/>
              </a:rPr>
              <a:t>, </a:t>
            </a:r>
            <a:r>
              <a:rPr lang="en-ID" sz="2000" dirty="0" err="1">
                <a:latin typeface="Montserrat" panose="00000500000000000000" pitchFamily="2" charset="0"/>
              </a:rPr>
              <a:t>aplikasi</a:t>
            </a:r>
            <a:r>
              <a:rPr lang="en-ID" sz="2000" dirty="0">
                <a:latin typeface="Montserrat" panose="00000500000000000000" pitchFamily="2" charset="0"/>
              </a:rPr>
              <a:t>, dan website di internet. </a:t>
            </a:r>
            <a:r>
              <a:rPr lang="en-ID" sz="2000" dirty="0" err="1">
                <a:latin typeface="Montserrat" panose="00000500000000000000" pitchFamily="2" charset="0"/>
              </a:rPr>
              <a:t>Teknologi</a:t>
            </a:r>
            <a:r>
              <a:rPr lang="en-ID" sz="2000" dirty="0">
                <a:latin typeface="Montserrat" panose="00000500000000000000" pitchFamily="2" charset="0"/>
              </a:rPr>
              <a:t> yang </a:t>
            </a:r>
            <a:r>
              <a:rPr lang="en-ID" sz="2000" dirty="0" err="1">
                <a:latin typeface="Montserrat" panose="00000500000000000000" pitchFamily="2" charset="0"/>
              </a:rPr>
              <a:t>ada</a:t>
            </a:r>
            <a:r>
              <a:rPr lang="en-ID" sz="2000" dirty="0">
                <a:latin typeface="Montserrat" panose="00000500000000000000" pitchFamily="2" charset="0"/>
              </a:rPr>
              <a:t> di </a:t>
            </a:r>
            <a:r>
              <a:rPr lang="en-ID" sz="2000" dirty="0" err="1">
                <a:latin typeface="Montserrat" panose="00000500000000000000" pitchFamily="2" charset="0"/>
              </a:rPr>
              <a:t>baliknya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disebut</a:t>
            </a:r>
            <a:r>
              <a:rPr lang="en-ID" sz="2000" dirty="0">
                <a:latin typeface="Montserrat" panose="00000500000000000000" pitchFamily="2" charset="0"/>
              </a:rPr>
              <a:t> hypertext dan hyperlink.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>
                <a:latin typeface="Montserrat" panose="00000500000000000000" pitchFamily="2" charset="0"/>
              </a:rPr>
              <a:t>Hypertext </a:t>
            </a:r>
            <a:r>
              <a:rPr lang="en-ID" sz="2000" dirty="0" err="1">
                <a:latin typeface="Montserrat" panose="00000500000000000000" pitchFamily="2" charset="0"/>
              </a:rPr>
              <a:t>merupakan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teks</a:t>
            </a:r>
            <a:r>
              <a:rPr lang="en-ID" sz="2000" dirty="0">
                <a:latin typeface="Montserrat" panose="00000500000000000000" pitchFamily="2" charset="0"/>
              </a:rPr>
              <a:t> yang </a:t>
            </a:r>
            <a:r>
              <a:rPr lang="en-ID" sz="2000" dirty="0" err="1">
                <a:latin typeface="Montserrat" panose="00000500000000000000" pitchFamily="2" charset="0"/>
              </a:rPr>
              <a:t>menggunakan</a:t>
            </a:r>
            <a:r>
              <a:rPr lang="en-ID" sz="2000" dirty="0">
                <a:latin typeface="Montserrat" panose="00000500000000000000" pitchFamily="2" charset="0"/>
              </a:rPr>
              <a:t> hyperlink </a:t>
            </a:r>
            <a:r>
              <a:rPr lang="en-ID" sz="2000" dirty="0" err="1">
                <a:latin typeface="Montserrat" panose="00000500000000000000" pitchFamily="2" charset="0"/>
              </a:rPr>
              <a:t>untuk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menghubungkan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sebuah</a:t>
            </a:r>
            <a:r>
              <a:rPr lang="en-ID" sz="2000" dirty="0">
                <a:latin typeface="Montserrat" panose="00000500000000000000" pitchFamily="2" charset="0"/>
              </a:rPr>
              <a:t> website </a:t>
            </a:r>
            <a:r>
              <a:rPr lang="en-ID" sz="2000" dirty="0" err="1">
                <a:latin typeface="Montserrat" panose="00000500000000000000" pitchFamily="2" charset="0"/>
              </a:rPr>
              <a:t>dengan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halaman</a:t>
            </a:r>
            <a:r>
              <a:rPr lang="en-ID" sz="2000" dirty="0">
                <a:latin typeface="Montserrat" panose="00000500000000000000" pitchFamily="2" charset="0"/>
              </a:rPr>
              <a:t> lain di internet. </a:t>
            </a:r>
            <a:r>
              <a:rPr lang="en-ID" sz="2000" dirty="0" err="1">
                <a:latin typeface="Montserrat" panose="00000500000000000000" pitchFamily="2" charset="0"/>
              </a:rPr>
              <a:t>Sedangkan</a:t>
            </a:r>
            <a:r>
              <a:rPr lang="en-ID" sz="2000" dirty="0">
                <a:latin typeface="Montserrat" panose="00000500000000000000" pitchFamily="2" charset="0"/>
              </a:rPr>
              <a:t> hyperlink </a:t>
            </a:r>
            <a:r>
              <a:rPr lang="en-ID" sz="2000" dirty="0" err="1">
                <a:latin typeface="Montserrat" panose="00000500000000000000" pitchFamily="2" charset="0"/>
              </a:rPr>
              <a:t>adalah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tautan</a:t>
            </a:r>
            <a:r>
              <a:rPr lang="en-ID" sz="2000" dirty="0">
                <a:latin typeface="Montserrat" panose="00000500000000000000" pitchFamily="2" charset="0"/>
              </a:rPr>
              <a:t> yang </a:t>
            </a:r>
            <a:r>
              <a:rPr lang="en-ID" sz="2000" dirty="0" err="1">
                <a:latin typeface="Montserrat" panose="00000500000000000000" pitchFamily="2" charset="0"/>
              </a:rPr>
              <a:t>akan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mengarahkan</a:t>
            </a:r>
            <a:r>
              <a:rPr lang="en-ID" sz="2000" dirty="0">
                <a:latin typeface="Montserrat" panose="00000500000000000000" pitchFamily="2" charset="0"/>
              </a:rPr>
              <a:t> Anda pada URL.</a:t>
            </a:r>
          </a:p>
        </p:txBody>
      </p:sp>
      <p:pic>
        <p:nvPicPr>
          <p:cNvPr id="2054" name="Picture 6" descr="person holding compass">
            <a:extLst>
              <a:ext uri="{FF2B5EF4-FFF2-40B4-BE49-F238E27FC236}">
                <a16:creationId xmlns:a16="http://schemas.microsoft.com/office/drawing/2014/main" id="{248F5F73-DD09-CD3D-B211-4D75F9473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4680" y="418654"/>
            <a:ext cx="3609381" cy="6074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hord 3">
            <a:extLst>
              <a:ext uri="{FF2B5EF4-FFF2-40B4-BE49-F238E27FC236}">
                <a16:creationId xmlns:a16="http://schemas.microsoft.com/office/drawing/2014/main" id="{485ADFB8-BC20-ECC3-F4F5-91F9687FA4C0}"/>
              </a:ext>
            </a:extLst>
          </p:cNvPr>
          <p:cNvSpPr/>
          <p:nvPr/>
        </p:nvSpPr>
        <p:spPr>
          <a:xfrm rot="14522064">
            <a:off x="-806521" y="-309411"/>
            <a:ext cx="1613043" cy="914400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Chord 4">
            <a:extLst>
              <a:ext uri="{FF2B5EF4-FFF2-40B4-BE49-F238E27FC236}">
                <a16:creationId xmlns:a16="http://schemas.microsoft.com/office/drawing/2014/main" id="{BE6B3875-0C27-D20B-5A10-C6F8DD4621C2}"/>
              </a:ext>
            </a:extLst>
          </p:cNvPr>
          <p:cNvSpPr/>
          <p:nvPr/>
        </p:nvSpPr>
        <p:spPr>
          <a:xfrm rot="10164501">
            <a:off x="-901314" y="6317419"/>
            <a:ext cx="1613043" cy="914400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109368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87030-F6F1-7A4B-CECB-9CE5330D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Montserrat" panose="00000500000000000000" pitchFamily="2" charset="0"/>
              </a:rPr>
              <a:t>Macam-Macam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BD8D-08CC-0DD0-A6E5-663A5753D8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5022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D" sz="2600" b="1" dirty="0" err="1">
                <a:latin typeface="Montserrat" panose="00000500000000000000" pitchFamily="2" charset="0"/>
              </a:rPr>
              <a:t>Struktur</a:t>
            </a:r>
            <a:r>
              <a:rPr lang="en-ID" sz="2600" b="1" dirty="0">
                <a:latin typeface="Montserrat" panose="00000500000000000000" pitchFamily="2" charset="0"/>
              </a:rPr>
              <a:t> </a:t>
            </a:r>
            <a:r>
              <a:rPr lang="en-ID" sz="2600" b="1" dirty="0" err="1">
                <a:latin typeface="Montserrat" panose="00000500000000000000" pitchFamily="2" charset="0"/>
              </a:rPr>
              <a:t>Navigasi</a:t>
            </a:r>
            <a:r>
              <a:rPr lang="en-ID" sz="2600" b="1" dirty="0">
                <a:latin typeface="Montserrat" panose="00000500000000000000" pitchFamily="2" charset="0"/>
              </a:rPr>
              <a:t> Global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global </a:t>
            </a:r>
            <a:r>
              <a:rPr lang="en-ID" sz="2000" dirty="0" err="1">
                <a:latin typeface="Montserrat" panose="00000500000000000000" pitchFamily="2" charset="0"/>
              </a:rPr>
              <a:t>adalah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website yang menu dan </a:t>
            </a:r>
            <a:r>
              <a:rPr lang="en-ID" sz="2000" dirty="0" err="1">
                <a:latin typeface="Montserrat" panose="00000500000000000000" pitchFamily="2" charset="0"/>
              </a:rPr>
              <a:t>tautannya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dibuat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seragam</a:t>
            </a:r>
            <a:r>
              <a:rPr lang="en-ID" sz="2000" dirty="0">
                <a:latin typeface="Montserrat" panose="00000500000000000000" pitchFamily="2" charset="0"/>
              </a:rPr>
              <a:t> dan </a:t>
            </a:r>
            <a:r>
              <a:rPr lang="en-ID" sz="2000" dirty="0" err="1">
                <a:latin typeface="Montserrat" panose="00000500000000000000" pitchFamily="2" charset="0"/>
              </a:rPr>
              <a:t>mirip</a:t>
            </a:r>
            <a:r>
              <a:rPr lang="en-ID" sz="2000" dirty="0">
                <a:latin typeface="Montserrat" panose="00000500000000000000" pitchFamily="2" charset="0"/>
              </a:rPr>
              <a:t> di </a:t>
            </a:r>
            <a:r>
              <a:rPr lang="en-ID" sz="2000" dirty="0" err="1">
                <a:latin typeface="Montserrat" panose="00000500000000000000" pitchFamily="2" charset="0"/>
              </a:rPr>
              <a:t>semua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halaman</a:t>
            </a:r>
            <a:r>
              <a:rPr lang="en-ID" sz="2000" dirty="0">
                <a:latin typeface="Montserrat" panose="00000500000000000000" pitchFamily="2" charset="0"/>
              </a:rPr>
              <a:t> situs.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 err="1">
                <a:latin typeface="Montserrat" panose="00000500000000000000" pitchFamily="2" charset="0"/>
              </a:rPr>
              <a:t>Tipe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ini</a:t>
            </a:r>
            <a:r>
              <a:rPr lang="en-ID" sz="2000" dirty="0">
                <a:latin typeface="Montserrat" panose="00000500000000000000" pitchFamily="2" charset="0"/>
              </a:rPr>
              <a:t> sangat </a:t>
            </a:r>
            <a:r>
              <a:rPr lang="en-ID" sz="2000" dirty="0" err="1">
                <a:latin typeface="Montserrat" panose="00000500000000000000" pitchFamily="2" charset="0"/>
              </a:rPr>
              <a:t>populer</a:t>
            </a:r>
            <a:r>
              <a:rPr lang="en-ID" sz="2000" dirty="0">
                <a:latin typeface="Montserrat" panose="00000500000000000000" pitchFamily="2" charset="0"/>
              </a:rPr>
              <a:t> dan </a:t>
            </a:r>
            <a:r>
              <a:rPr lang="en-ID" sz="2000" dirty="0" err="1">
                <a:latin typeface="Montserrat" panose="00000500000000000000" pitchFamily="2" charset="0"/>
              </a:rPr>
              <a:t>banyak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digunakan</a:t>
            </a:r>
            <a:r>
              <a:rPr lang="en-ID" sz="2000" dirty="0">
                <a:latin typeface="Montserrat" panose="00000500000000000000" pitchFamily="2" charset="0"/>
              </a:rPr>
              <a:t> oleh </a:t>
            </a:r>
            <a:r>
              <a:rPr lang="en-ID" sz="2000" dirty="0" err="1">
                <a:latin typeface="Montserrat" panose="00000500000000000000" pitchFamily="2" charset="0"/>
              </a:rPr>
              <a:t>banyak</a:t>
            </a:r>
            <a:r>
              <a:rPr lang="en-ID" sz="2000" dirty="0">
                <a:latin typeface="Montserrat" panose="00000500000000000000" pitchFamily="2" charset="0"/>
              </a:rPr>
              <a:t> website. Desain </a:t>
            </a:r>
            <a:r>
              <a:rPr lang="en-ID" sz="2000" dirty="0" err="1">
                <a:latin typeface="Montserrat" panose="00000500000000000000" pitchFamily="2" charset="0"/>
              </a:rPr>
              <a:t>ini</a:t>
            </a:r>
            <a:r>
              <a:rPr lang="en-ID" sz="2000" dirty="0">
                <a:latin typeface="Montserrat" panose="00000500000000000000" pitchFamily="2" charset="0"/>
              </a:rPr>
              <a:t> juga </a:t>
            </a:r>
            <a:r>
              <a:rPr lang="en-ID" sz="2000" dirty="0" err="1">
                <a:latin typeface="Montserrat" panose="00000500000000000000" pitchFamily="2" charset="0"/>
              </a:rPr>
              <a:t>cukup</a:t>
            </a:r>
            <a:r>
              <a:rPr lang="en-ID" sz="2000" dirty="0">
                <a:latin typeface="Montserrat" panose="00000500000000000000" pitchFamily="2" charset="0"/>
              </a:rPr>
              <a:t> simple </a:t>
            </a:r>
            <a:r>
              <a:rPr lang="en-ID" sz="2000" dirty="0" err="1">
                <a:latin typeface="Montserrat" panose="00000500000000000000" pitchFamily="2" charset="0"/>
              </a:rPr>
              <a:t>sehingga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memudahkan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pengguna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mendapatkan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informasi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tentang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produk</a:t>
            </a:r>
            <a:r>
              <a:rPr lang="en-ID" sz="2000" dirty="0">
                <a:latin typeface="Montserrat" panose="00000500000000000000" pitchFamily="2" charset="0"/>
              </a:rPr>
              <a:t>, </a:t>
            </a:r>
            <a:r>
              <a:rPr lang="en-ID" sz="2000" dirty="0" err="1">
                <a:latin typeface="Montserrat" panose="00000500000000000000" pitchFamily="2" charset="0"/>
              </a:rPr>
              <a:t>kontak</a:t>
            </a:r>
            <a:r>
              <a:rPr lang="en-ID" sz="2000" dirty="0">
                <a:latin typeface="Montserrat" panose="00000500000000000000" pitchFamily="2" charset="0"/>
              </a:rPr>
              <a:t>, </a:t>
            </a:r>
            <a:r>
              <a:rPr lang="en-ID" sz="2000" dirty="0" err="1">
                <a:latin typeface="Montserrat" panose="00000500000000000000" pitchFamily="2" charset="0"/>
              </a:rPr>
              <a:t>atau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informasi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lainnya</a:t>
            </a:r>
            <a:r>
              <a:rPr lang="en-ID" sz="2000" dirty="0">
                <a:latin typeface="Montserrat" panose="00000500000000000000" pitchFamily="2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C93E30-F598-6388-93A2-974E597DB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0995" y="2367671"/>
            <a:ext cx="4831492" cy="32672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E3BAB3D-0CBE-D9E3-B13E-BCCCA95C0171}"/>
              </a:ext>
            </a:extLst>
          </p:cNvPr>
          <p:cNvSpPr/>
          <p:nvPr/>
        </p:nvSpPr>
        <p:spPr>
          <a:xfrm>
            <a:off x="8946292" y="2367671"/>
            <a:ext cx="2916195" cy="38788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Flowchart: Decision 6">
            <a:extLst>
              <a:ext uri="{FF2B5EF4-FFF2-40B4-BE49-F238E27FC236}">
                <a16:creationId xmlns:a16="http://schemas.microsoft.com/office/drawing/2014/main" id="{1B5D8CFD-5E43-21BF-FD3E-81BEFF05E834}"/>
              </a:ext>
            </a:extLst>
          </p:cNvPr>
          <p:cNvSpPr/>
          <p:nvPr/>
        </p:nvSpPr>
        <p:spPr>
          <a:xfrm>
            <a:off x="-1123950" y="-147638"/>
            <a:ext cx="2247900" cy="102552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3D9EB89B-CAF7-321F-2A92-17FBA5A10E8E}"/>
              </a:ext>
            </a:extLst>
          </p:cNvPr>
          <p:cNvSpPr/>
          <p:nvPr/>
        </p:nvSpPr>
        <p:spPr>
          <a:xfrm>
            <a:off x="11163300" y="1274762"/>
            <a:ext cx="2152650" cy="83185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4063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683578-397B-E967-5AA6-918CC847DDB7}"/>
              </a:ext>
            </a:extLst>
          </p:cNvPr>
          <p:cNvSpPr txBox="1">
            <a:spLocks/>
          </p:cNvSpPr>
          <p:nvPr/>
        </p:nvSpPr>
        <p:spPr>
          <a:xfrm>
            <a:off x="990600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latin typeface="Montserrat" panose="00000500000000000000" pitchFamily="2" charset="0"/>
              </a:rPr>
              <a:t>Macam-Macam Struktur Navigasi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3EEA3C-BDF2-402E-EB85-F52FF86A5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989137"/>
            <a:ext cx="5785022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D" sz="2600" b="1" dirty="0" err="1">
                <a:latin typeface="Montserrat" panose="00000500000000000000" pitchFamily="2" charset="0"/>
              </a:rPr>
              <a:t>Struktur</a:t>
            </a:r>
            <a:r>
              <a:rPr lang="en-ID" sz="2600" b="1" dirty="0">
                <a:latin typeface="Montserrat" panose="00000500000000000000" pitchFamily="2" charset="0"/>
              </a:rPr>
              <a:t> </a:t>
            </a:r>
            <a:r>
              <a:rPr lang="en-ID" sz="2600" b="1" dirty="0" err="1">
                <a:latin typeface="Montserrat" panose="00000500000000000000" pitchFamily="2" charset="0"/>
              </a:rPr>
              <a:t>Navigasi</a:t>
            </a:r>
            <a:r>
              <a:rPr lang="en-ID" sz="2600" b="1" dirty="0">
                <a:latin typeface="Montserrat" panose="00000500000000000000" pitchFamily="2" charset="0"/>
              </a:rPr>
              <a:t> </a:t>
            </a:r>
            <a:r>
              <a:rPr lang="en-ID" sz="2600" b="1" dirty="0" err="1">
                <a:latin typeface="Montserrat" panose="00000500000000000000" pitchFamily="2" charset="0"/>
              </a:rPr>
              <a:t>Hierarki</a:t>
            </a:r>
            <a:endParaRPr lang="en-ID" sz="2600" b="1" dirty="0">
              <a:latin typeface="Montserrat" panose="00000500000000000000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 err="1">
                <a:latin typeface="Montserrat" panose="00000500000000000000" pitchFamily="2" charset="0"/>
              </a:rPr>
              <a:t>Tipe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hirarki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merupakan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jenis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website yang </a:t>
            </a:r>
            <a:r>
              <a:rPr lang="en-ID" sz="2000" dirty="0" err="1">
                <a:latin typeface="Montserrat" panose="00000500000000000000" pitchFamily="2" charset="0"/>
              </a:rPr>
              <a:t>sering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digunakan</a:t>
            </a:r>
            <a:r>
              <a:rPr lang="en-ID" sz="2000" dirty="0">
                <a:latin typeface="Montserrat" panose="00000500000000000000" pitchFamily="2" charset="0"/>
              </a:rPr>
              <a:t> oleh situs </a:t>
            </a:r>
            <a:r>
              <a:rPr lang="en-ID" sz="2000" dirty="0" err="1">
                <a:latin typeface="Montserrat" panose="00000500000000000000" pitchFamily="2" charset="0"/>
              </a:rPr>
              <a:t>berita</a:t>
            </a:r>
            <a:r>
              <a:rPr lang="en-ID" sz="2000" dirty="0">
                <a:latin typeface="Montserrat" panose="00000500000000000000" pitchFamily="2" charset="0"/>
              </a:rPr>
              <a:t>. </a:t>
            </a:r>
            <a:r>
              <a:rPr lang="en-ID" sz="2000" dirty="0" err="1">
                <a:latin typeface="Montserrat" panose="00000500000000000000" pitchFamily="2" charset="0"/>
              </a:rPr>
              <a:t>Jenis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ini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membuat</a:t>
            </a:r>
            <a:r>
              <a:rPr lang="en-ID" sz="2000" dirty="0">
                <a:latin typeface="Montserrat" panose="00000500000000000000" pitchFamily="2" charset="0"/>
              </a:rPr>
              <a:t> menu yang </a:t>
            </a:r>
            <a:r>
              <a:rPr lang="en-ID" sz="2000" dirty="0" err="1">
                <a:latin typeface="Montserrat" panose="00000500000000000000" pitchFamily="2" charset="0"/>
              </a:rPr>
              <a:t>berbeda</a:t>
            </a:r>
            <a:r>
              <a:rPr lang="en-ID" sz="2000" dirty="0">
                <a:latin typeface="Montserrat" panose="00000500000000000000" pitchFamily="2" charset="0"/>
              </a:rPr>
              <a:t> di </a:t>
            </a:r>
            <a:r>
              <a:rPr lang="en-ID" sz="2000" dirty="0" err="1">
                <a:latin typeface="Montserrat" panose="00000500000000000000" pitchFamily="2" charset="0"/>
              </a:rPr>
              <a:t>setiap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halaman</a:t>
            </a:r>
            <a:r>
              <a:rPr lang="en-ID" sz="2000" dirty="0">
                <a:latin typeface="Montserrat" panose="00000500000000000000" pitchFamily="2" charset="0"/>
              </a:rPr>
              <a:t> website.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>
                <a:latin typeface="Montserrat" panose="00000500000000000000" pitchFamily="2" charset="0"/>
              </a:rPr>
              <a:t>Jadi </a:t>
            </a:r>
            <a:r>
              <a:rPr lang="en-ID" sz="2000" dirty="0" err="1">
                <a:latin typeface="Montserrat" panose="00000500000000000000" pitchFamily="2" charset="0"/>
              </a:rPr>
              <a:t>ketika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pengguna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melakukan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klik</a:t>
            </a:r>
            <a:r>
              <a:rPr lang="en-ID" sz="2000" dirty="0">
                <a:latin typeface="Montserrat" panose="00000500000000000000" pitchFamily="2" charset="0"/>
              </a:rPr>
              <a:t> di </a:t>
            </a:r>
            <a:r>
              <a:rPr lang="en-ID" sz="2000" dirty="0" err="1">
                <a:latin typeface="Montserrat" panose="00000500000000000000" pitchFamily="2" charset="0"/>
              </a:rPr>
              <a:t>sebuah</a:t>
            </a:r>
            <a:r>
              <a:rPr lang="en-ID" sz="2000" dirty="0">
                <a:latin typeface="Montserrat" panose="00000500000000000000" pitchFamily="2" charset="0"/>
              </a:rPr>
              <a:t> menu </a:t>
            </a:r>
            <a:r>
              <a:rPr lang="en-ID" sz="2000" dirty="0" err="1">
                <a:latin typeface="Montserrat" panose="00000500000000000000" pitchFamily="2" charset="0"/>
              </a:rPr>
              <a:t>maka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akan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diarahkan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ke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subkategorinya</a:t>
            </a:r>
            <a:r>
              <a:rPr lang="en-ID" sz="2000" dirty="0">
                <a:latin typeface="Montserrat" panose="00000500000000000000" pitchFamily="2" charset="0"/>
              </a:rPr>
              <a:t>. Ketika </a:t>
            </a:r>
            <a:r>
              <a:rPr lang="en-ID" sz="2000" dirty="0" err="1">
                <a:latin typeface="Montserrat" panose="00000500000000000000" pitchFamily="2" charset="0"/>
              </a:rPr>
              <a:t>dia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pindah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ke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kategori</a:t>
            </a:r>
            <a:r>
              <a:rPr lang="en-ID" sz="2000" dirty="0">
                <a:latin typeface="Montserrat" panose="00000500000000000000" pitchFamily="2" charset="0"/>
              </a:rPr>
              <a:t> yang lain, </a:t>
            </a:r>
            <a:r>
              <a:rPr lang="en-ID" sz="2000" dirty="0" err="1">
                <a:latin typeface="Montserrat" panose="00000500000000000000" pitchFamily="2" charset="0"/>
              </a:rPr>
              <a:t>maka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tampilannya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berbeda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dengan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kategori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sebelumnya</a:t>
            </a:r>
            <a:r>
              <a:rPr lang="en-ID" sz="2000" dirty="0">
                <a:latin typeface="Montserrat" panose="00000500000000000000" pitchFamily="2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4330140-96BF-E133-F6C5-1B1F9E99C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475" y="3022829"/>
            <a:ext cx="4837652" cy="15337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293034-5EA1-9C98-7857-B91214CFD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551" y="4766610"/>
            <a:ext cx="5109500" cy="691911"/>
          </a:xfrm>
          <a:prstGeom prst="rect">
            <a:avLst/>
          </a:prstGeom>
        </p:spPr>
      </p:pic>
      <p:sp>
        <p:nvSpPr>
          <p:cNvPr id="13" name="Chord 12">
            <a:extLst>
              <a:ext uri="{FF2B5EF4-FFF2-40B4-BE49-F238E27FC236}">
                <a16:creationId xmlns:a16="http://schemas.microsoft.com/office/drawing/2014/main" id="{CF10E2F6-D758-AE06-92A4-E6ED9DA00C8B}"/>
              </a:ext>
            </a:extLst>
          </p:cNvPr>
          <p:cNvSpPr/>
          <p:nvPr/>
        </p:nvSpPr>
        <p:spPr>
          <a:xfrm rot="14522064">
            <a:off x="-806521" y="-309411"/>
            <a:ext cx="1613043" cy="914400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14" name="Chord 13">
            <a:extLst>
              <a:ext uri="{FF2B5EF4-FFF2-40B4-BE49-F238E27FC236}">
                <a16:creationId xmlns:a16="http://schemas.microsoft.com/office/drawing/2014/main" id="{9F8B6E57-4533-7D41-539A-52A839627D6C}"/>
              </a:ext>
            </a:extLst>
          </p:cNvPr>
          <p:cNvSpPr/>
          <p:nvPr/>
        </p:nvSpPr>
        <p:spPr>
          <a:xfrm rot="10164501">
            <a:off x="-901314" y="6317419"/>
            <a:ext cx="1613043" cy="914400"/>
          </a:xfrm>
          <a:prstGeom prst="chor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719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00B3DD0-E186-331F-8E12-EE4988758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Montserrat" panose="00000500000000000000" pitchFamily="2" charset="0"/>
              </a:rPr>
              <a:t>Macam-Macam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7F15700-7367-4A1B-F5C3-71F72A1F40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5022" cy="4351338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70000"/>
              </a:lnSpc>
              <a:buNone/>
            </a:pPr>
            <a:r>
              <a:rPr lang="en-ID" sz="2600" b="1" dirty="0" err="1">
                <a:latin typeface="Montserrat" panose="00000500000000000000" pitchFamily="2" charset="0"/>
              </a:rPr>
              <a:t>Struktur</a:t>
            </a:r>
            <a:r>
              <a:rPr lang="en-ID" sz="2600" b="1" dirty="0">
                <a:latin typeface="Montserrat" panose="00000500000000000000" pitchFamily="2" charset="0"/>
              </a:rPr>
              <a:t> </a:t>
            </a:r>
            <a:r>
              <a:rPr lang="en-ID" sz="2600" b="1" dirty="0" err="1">
                <a:latin typeface="Montserrat" panose="00000500000000000000" pitchFamily="2" charset="0"/>
              </a:rPr>
              <a:t>Navigasi</a:t>
            </a:r>
            <a:r>
              <a:rPr lang="en-ID" sz="2600" b="1" dirty="0">
                <a:latin typeface="Montserrat" panose="00000500000000000000" pitchFamily="2" charset="0"/>
              </a:rPr>
              <a:t> </a:t>
            </a:r>
            <a:r>
              <a:rPr lang="en-ID" sz="2600" b="1" dirty="0" err="1">
                <a:latin typeface="Montserrat" panose="00000500000000000000" pitchFamily="2" charset="0"/>
              </a:rPr>
              <a:t>Lokal</a:t>
            </a:r>
            <a:endParaRPr lang="en-ID" sz="2600" b="1" dirty="0">
              <a:latin typeface="Montserrat" panose="00000500000000000000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lokal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berbeda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dengan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hirarki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maupun</a:t>
            </a:r>
            <a:r>
              <a:rPr lang="en-ID" sz="2000" dirty="0">
                <a:latin typeface="Montserrat" panose="00000500000000000000" pitchFamily="2" charset="0"/>
              </a:rPr>
              <a:t> global. </a:t>
            </a:r>
            <a:r>
              <a:rPr lang="en-ID" sz="2000" dirty="0" err="1">
                <a:latin typeface="Montserrat" panose="00000500000000000000" pitchFamily="2" charset="0"/>
              </a:rPr>
              <a:t>Jenis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ini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lebih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didominasi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tautan</a:t>
            </a:r>
            <a:r>
              <a:rPr lang="en-ID" sz="2000" dirty="0">
                <a:latin typeface="Montserrat" panose="00000500000000000000" pitchFamily="2" charset="0"/>
              </a:rPr>
              <a:t> internal. </a:t>
            </a:r>
            <a:r>
              <a:rPr lang="en-ID" sz="2000" dirty="0" err="1">
                <a:latin typeface="Montserrat" panose="00000500000000000000" pitchFamily="2" charset="0"/>
              </a:rPr>
              <a:t>Struktur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navigasi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lokal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sering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digunakan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untuk</a:t>
            </a:r>
            <a:r>
              <a:rPr lang="en-ID" sz="2000" dirty="0">
                <a:latin typeface="Montserrat" panose="00000500000000000000" pitchFamily="2" charset="0"/>
              </a:rPr>
              <a:t> situs </a:t>
            </a:r>
            <a:r>
              <a:rPr lang="en-ID" sz="2000" dirty="0" err="1">
                <a:latin typeface="Montserrat" panose="00000500000000000000" pitchFamily="2" charset="0"/>
              </a:rPr>
              <a:t>majalah</a:t>
            </a:r>
            <a:r>
              <a:rPr lang="en-ID" sz="2000" dirty="0">
                <a:latin typeface="Montserrat" panose="00000500000000000000" pitchFamily="2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r>
              <a:rPr lang="en-ID" sz="2000" dirty="0" err="1">
                <a:latin typeface="Montserrat" panose="00000500000000000000" pitchFamily="2" charset="0"/>
              </a:rPr>
              <a:t>Pengguna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akan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dibawa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ke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halaman</a:t>
            </a:r>
            <a:r>
              <a:rPr lang="en-ID" sz="2000" dirty="0">
                <a:latin typeface="Montserrat" panose="00000500000000000000" pitchFamily="2" charset="0"/>
              </a:rPr>
              <a:t> situs yang </a:t>
            </a:r>
            <a:r>
              <a:rPr lang="en-ID" sz="2000" dirty="0" err="1">
                <a:latin typeface="Montserrat" panose="00000500000000000000" pitchFamily="2" charset="0"/>
              </a:rPr>
              <a:t>lebih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dalam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atau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lebih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detil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ketika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memilih</a:t>
            </a:r>
            <a:r>
              <a:rPr lang="en-ID" sz="2000" dirty="0">
                <a:latin typeface="Montserrat" panose="00000500000000000000" pitchFamily="2" charset="0"/>
              </a:rPr>
              <a:t> menu di </a:t>
            </a:r>
            <a:r>
              <a:rPr lang="en-ID" sz="2000" dirty="0" err="1">
                <a:latin typeface="Montserrat" panose="00000500000000000000" pitchFamily="2" charset="0"/>
              </a:rPr>
              <a:t>halaman</a:t>
            </a:r>
            <a:r>
              <a:rPr lang="en-ID" sz="2000" dirty="0">
                <a:latin typeface="Montserrat" panose="00000500000000000000" pitchFamily="2" charset="0"/>
              </a:rPr>
              <a:t> </a:t>
            </a:r>
            <a:r>
              <a:rPr lang="en-ID" sz="2000" dirty="0" err="1">
                <a:latin typeface="Montserrat" panose="00000500000000000000" pitchFamily="2" charset="0"/>
              </a:rPr>
              <a:t>utama</a:t>
            </a:r>
            <a:r>
              <a:rPr lang="en-ID" sz="2000" dirty="0">
                <a:latin typeface="Montserrat" panose="00000500000000000000" pitchFamily="2" charset="0"/>
              </a:rPr>
              <a:t>.</a:t>
            </a: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  <a:p>
            <a:pPr marL="0" indent="0">
              <a:lnSpc>
                <a:spcPct val="170000"/>
              </a:lnSpc>
              <a:buNone/>
            </a:pPr>
            <a:endParaRPr lang="en-ID" sz="2000" dirty="0"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88C525-5586-3B51-C92A-8DB2E4C30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2070" y="2298199"/>
            <a:ext cx="3601730" cy="3406190"/>
          </a:xfrm>
          <a:prstGeom prst="rect">
            <a:avLst/>
          </a:prstGeom>
        </p:spPr>
      </p:pic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68CB7D01-F404-717E-62E2-B953F7ADDF80}"/>
              </a:ext>
            </a:extLst>
          </p:cNvPr>
          <p:cNvSpPr/>
          <p:nvPr/>
        </p:nvSpPr>
        <p:spPr>
          <a:xfrm>
            <a:off x="-1123950" y="-147638"/>
            <a:ext cx="2247900" cy="102552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C44CD94C-43DC-3225-EF68-A6F368C23219}"/>
              </a:ext>
            </a:extLst>
          </p:cNvPr>
          <p:cNvSpPr/>
          <p:nvPr/>
        </p:nvSpPr>
        <p:spPr>
          <a:xfrm>
            <a:off x="11163300" y="1274762"/>
            <a:ext cx="2152650" cy="83185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480237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E4C8E-7D20-0F52-A278-AE8D260C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Tips </a:t>
            </a:r>
            <a:r>
              <a:rPr lang="en-US" dirty="0" err="1">
                <a:latin typeface="Montserrat" panose="00000500000000000000" pitchFamily="2" charset="0"/>
              </a:rPr>
              <a:t>Membuat</a:t>
            </a:r>
            <a:r>
              <a:rPr lang="en-US" dirty="0">
                <a:latin typeface="Montserrat" panose="00000500000000000000" pitchFamily="2" charset="0"/>
              </a:rPr>
              <a:t> dan </a:t>
            </a:r>
            <a:r>
              <a:rPr lang="en-US" dirty="0" err="1">
                <a:latin typeface="Montserrat" panose="00000500000000000000" pitchFamily="2" charset="0"/>
              </a:rPr>
              <a:t>Memperbaiki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r>
              <a:rPr lang="en-US" dirty="0">
                <a:latin typeface="Montserrat" panose="00000500000000000000" pitchFamily="2" charset="0"/>
              </a:rPr>
              <a:t> Website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E8F62A-E790-B15F-AEC4-EC146C8D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8000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/>
            </a:pPr>
            <a:r>
              <a:rPr lang="en-ID" sz="2200" b="1" dirty="0" err="1">
                <a:latin typeface="Montserrat" panose="00000500000000000000" pitchFamily="2" charset="0"/>
              </a:rPr>
              <a:t>Rencanakan</a:t>
            </a:r>
            <a:r>
              <a:rPr lang="en-ID" sz="2200" b="1" dirty="0">
                <a:latin typeface="Montserrat" panose="00000500000000000000" pitchFamily="2" charset="0"/>
              </a:rPr>
              <a:t> </a:t>
            </a:r>
            <a:r>
              <a:rPr lang="en-ID" sz="2200" b="1" dirty="0" err="1">
                <a:latin typeface="Montserrat" panose="00000500000000000000" pitchFamily="2" charset="0"/>
              </a:rPr>
              <a:t>dengan</a:t>
            </a:r>
            <a:r>
              <a:rPr lang="en-ID" sz="2200" b="1" dirty="0">
                <a:latin typeface="Montserrat" panose="00000500000000000000" pitchFamily="2" charset="0"/>
              </a:rPr>
              <a:t> </a:t>
            </a:r>
            <a:r>
              <a:rPr lang="en-ID" sz="2200" b="1" dirty="0" err="1">
                <a:latin typeface="Montserrat" panose="00000500000000000000" pitchFamily="2" charset="0"/>
              </a:rPr>
              <a:t>Matang</a:t>
            </a:r>
            <a:endParaRPr lang="en-ID" sz="2200" b="1" dirty="0">
              <a:latin typeface="Montserrat" panose="00000500000000000000" pitchFamily="2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 err="1">
                <a:latin typeface="Montserrat" panose="00000500000000000000" pitchFamily="2" charset="0"/>
              </a:rPr>
              <a:t>Untuk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menyusun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struktur</a:t>
            </a:r>
            <a:r>
              <a:rPr lang="en-ID" sz="1700" dirty="0">
                <a:latin typeface="Montserrat" panose="00000500000000000000" pitchFamily="2" charset="0"/>
              </a:rPr>
              <a:t>  website yang </a:t>
            </a:r>
            <a:r>
              <a:rPr lang="en-ID" sz="1700" dirty="0" err="1">
                <a:latin typeface="Montserrat" panose="00000500000000000000" pitchFamily="2" charset="0"/>
              </a:rPr>
              <a:t>ramah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pengguna</a:t>
            </a:r>
            <a:r>
              <a:rPr lang="en-ID" sz="1700" dirty="0">
                <a:latin typeface="Montserrat" panose="00000500000000000000" pitchFamily="2" charset="0"/>
              </a:rPr>
              <a:t>, Anda </a:t>
            </a:r>
            <a:r>
              <a:rPr lang="en-ID" sz="1700" dirty="0" err="1">
                <a:latin typeface="Montserrat" panose="00000500000000000000" pitchFamily="2" charset="0"/>
              </a:rPr>
              <a:t>perlu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merencanakan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strukturnya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dengan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matang</a:t>
            </a:r>
            <a:r>
              <a:rPr lang="en-ID" sz="1700" dirty="0">
                <a:latin typeface="Montserrat" panose="00000500000000000000" pitchFamily="2" charset="0"/>
              </a:rPr>
              <a:t>. </a:t>
            </a:r>
            <a:r>
              <a:rPr lang="en-ID" sz="1700" dirty="0" err="1">
                <a:latin typeface="Montserrat" panose="00000500000000000000" pitchFamily="2" charset="0"/>
              </a:rPr>
              <a:t>Buatlah</a:t>
            </a:r>
            <a:r>
              <a:rPr lang="en-ID" sz="1700" dirty="0">
                <a:latin typeface="Montserrat" panose="00000500000000000000" pitchFamily="2" charset="0"/>
              </a:rPr>
              <a:t> wireframe </a:t>
            </a:r>
            <a:r>
              <a:rPr lang="en-ID" sz="1700" dirty="0" err="1">
                <a:latin typeface="Montserrat" panose="00000500000000000000" pitchFamily="2" charset="0"/>
              </a:rPr>
              <a:t>secermat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mungkin</a:t>
            </a:r>
            <a:r>
              <a:rPr lang="en-ID" sz="1700" dirty="0">
                <a:latin typeface="Montserrat" panose="00000500000000000000" pitchFamily="2" charset="0"/>
              </a:rPr>
              <a:t>, </a:t>
            </a:r>
            <a:r>
              <a:rPr lang="en-ID" sz="1700" dirty="0" err="1">
                <a:latin typeface="Montserrat" panose="00000500000000000000" pitchFamily="2" charset="0"/>
              </a:rPr>
              <a:t>baik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secara</a:t>
            </a:r>
            <a:r>
              <a:rPr lang="en-ID" sz="1700" dirty="0">
                <a:latin typeface="Montserrat" panose="00000500000000000000" pitchFamily="2" charset="0"/>
              </a:rPr>
              <a:t> manual di </a:t>
            </a:r>
            <a:r>
              <a:rPr lang="en-ID" sz="1700" dirty="0" err="1">
                <a:latin typeface="Montserrat" panose="00000500000000000000" pitchFamily="2" charset="0"/>
              </a:rPr>
              <a:t>kertas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maupun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menggunakan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beragam</a:t>
            </a:r>
            <a:r>
              <a:rPr lang="en-ID" sz="1700" dirty="0">
                <a:latin typeface="Montserrat" panose="00000500000000000000" pitchFamily="2" charset="0"/>
              </a:rPr>
              <a:t> tools wireframe.</a:t>
            </a:r>
          </a:p>
          <a:p>
            <a:pPr marL="0" indent="0">
              <a:lnSpc>
                <a:spcPct val="16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 startAt="2"/>
            </a:pPr>
            <a:r>
              <a:rPr lang="sv-SE" sz="2200" b="1" dirty="0">
                <a:latin typeface="Montserrat" panose="00000500000000000000" pitchFamily="2" charset="0"/>
              </a:rPr>
              <a:t>Ketahui Standar Penggunaan dan Penempatan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 err="1">
                <a:latin typeface="Montserrat" panose="00000500000000000000" pitchFamily="2" charset="0"/>
              </a:rPr>
              <a:t>Gunakan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tanda</a:t>
            </a:r>
            <a:r>
              <a:rPr lang="en-ID" sz="1700" dirty="0">
                <a:latin typeface="Montserrat" panose="00000500000000000000" pitchFamily="2" charset="0"/>
              </a:rPr>
              <a:t> yang </a:t>
            </a:r>
            <a:r>
              <a:rPr lang="en-ID" sz="1700" dirty="0" err="1">
                <a:latin typeface="Montserrat" panose="00000500000000000000" pitchFamily="2" charset="0"/>
              </a:rPr>
              <a:t>standar</a:t>
            </a:r>
            <a:r>
              <a:rPr lang="en-ID" sz="1700" dirty="0">
                <a:latin typeface="Montserrat" panose="00000500000000000000" pitchFamily="2" charset="0"/>
              </a:rPr>
              <a:t> dan familiar agar </a:t>
            </a:r>
            <a:r>
              <a:rPr lang="en-ID" sz="1700" dirty="0" err="1">
                <a:latin typeface="Montserrat" panose="00000500000000000000" pitchFamily="2" charset="0"/>
              </a:rPr>
              <a:t>pengguna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lebih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mudah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mengeksplorasi</a:t>
            </a:r>
            <a:r>
              <a:rPr lang="en-ID" sz="1700" dirty="0">
                <a:latin typeface="Montserrat" panose="00000500000000000000" pitchFamily="2" charset="0"/>
              </a:rPr>
              <a:t> situs Anda, </a:t>
            </a:r>
            <a:r>
              <a:rPr lang="en-ID" sz="1700" dirty="0" err="1">
                <a:latin typeface="Montserrat" panose="00000500000000000000" pitchFamily="2" charset="0"/>
              </a:rPr>
              <a:t>misalnya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tanda</a:t>
            </a:r>
            <a:r>
              <a:rPr lang="en-ID" sz="1700" dirty="0">
                <a:latin typeface="Montserrat" panose="00000500000000000000" pitchFamily="2" charset="0"/>
              </a:rPr>
              <a:t> garis </a:t>
            </a:r>
            <a:r>
              <a:rPr lang="en-ID" sz="1700" dirty="0" err="1">
                <a:latin typeface="Montserrat" panose="00000500000000000000" pitchFamily="2" charset="0"/>
              </a:rPr>
              <a:t>tiga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bertumpuk</a:t>
            </a:r>
            <a:r>
              <a:rPr lang="en-ID" sz="1700" dirty="0">
                <a:latin typeface="Montserrat" panose="00000500000000000000" pitchFamily="2" charset="0"/>
              </a:rPr>
              <a:t>, </a:t>
            </a:r>
            <a:r>
              <a:rPr lang="en-ID" sz="1700" dirty="0" err="1">
                <a:latin typeface="Montserrat" panose="00000500000000000000" pitchFamily="2" charset="0"/>
              </a:rPr>
              <a:t>atau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titik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tiga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berjajar</a:t>
            </a:r>
            <a:r>
              <a:rPr lang="en-ID" sz="1700" dirty="0">
                <a:latin typeface="Montserrat" panose="00000500000000000000" pitchFamily="2" charset="0"/>
              </a:rPr>
              <a:t> horizontal yang </a:t>
            </a:r>
            <a:r>
              <a:rPr lang="en-ID" sz="1700" dirty="0" err="1">
                <a:latin typeface="Montserrat" panose="00000500000000000000" pitchFamily="2" charset="0"/>
              </a:rPr>
              <a:t>menunjukkan</a:t>
            </a:r>
            <a:r>
              <a:rPr lang="en-ID" sz="1700" dirty="0">
                <a:latin typeface="Montserrat" panose="00000500000000000000" pitchFamily="2" charset="0"/>
              </a:rPr>
              <a:t> menu yang </a:t>
            </a:r>
            <a:r>
              <a:rPr lang="en-ID" sz="1700" dirty="0" err="1">
                <a:latin typeface="Montserrat" panose="00000500000000000000" pitchFamily="2" charset="0"/>
              </a:rPr>
              <a:t>dapat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diperluas</a:t>
            </a:r>
            <a:r>
              <a:rPr lang="en-ID" sz="1700" dirty="0">
                <a:latin typeface="Montserrat" panose="00000500000000000000" pitchFamily="2" charset="0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FF14B3-463E-06D2-540A-864D98B8478D}"/>
              </a:ext>
            </a:extLst>
          </p:cNvPr>
          <p:cNvSpPr/>
          <p:nvPr/>
        </p:nvSpPr>
        <p:spPr>
          <a:xfrm rot="18723797">
            <a:off x="-390418" y="137833"/>
            <a:ext cx="1428108" cy="478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4414BB-C7C0-CD21-8174-A383418062F5}"/>
              </a:ext>
            </a:extLst>
          </p:cNvPr>
          <p:cNvSpPr/>
          <p:nvPr/>
        </p:nvSpPr>
        <p:spPr>
          <a:xfrm rot="18723797">
            <a:off x="11104651" y="6253511"/>
            <a:ext cx="1428108" cy="478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8" name="Flowchart: Display 7">
            <a:extLst>
              <a:ext uri="{FF2B5EF4-FFF2-40B4-BE49-F238E27FC236}">
                <a16:creationId xmlns:a16="http://schemas.microsoft.com/office/drawing/2014/main" id="{B3D03649-8FC5-5E35-65F1-E9A32CEA6187}"/>
              </a:ext>
            </a:extLst>
          </p:cNvPr>
          <p:cNvSpPr/>
          <p:nvPr/>
        </p:nvSpPr>
        <p:spPr>
          <a:xfrm rot="19163953">
            <a:off x="-726047" y="4545233"/>
            <a:ext cx="1312174" cy="1181136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426028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E4C8E-7D20-0F52-A278-AE8D260C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Tips </a:t>
            </a:r>
            <a:r>
              <a:rPr lang="en-US" dirty="0" err="1">
                <a:latin typeface="Montserrat" panose="00000500000000000000" pitchFamily="2" charset="0"/>
              </a:rPr>
              <a:t>Membuat</a:t>
            </a:r>
            <a:r>
              <a:rPr lang="en-US" dirty="0">
                <a:latin typeface="Montserrat" panose="00000500000000000000" pitchFamily="2" charset="0"/>
              </a:rPr>
              <a:t> dan </a:t>
            </a:r>
            <a:r>
              <a:rPr lang="en-US" dirty="0" err="1">
                <a:latin typeface="Montserrat" panose="00000500000000000000" pitchFamily="2" charset="0"/>
              </a:rPr>
              <a:t>Memperbaiki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r>
              <a:rPr lang="en-US" dirty="0">
                <a:latin typeface="Montserrat" panose="00000500000000000000" pitchFamily="2" charset="0"/>
              </a:rPr>
              <a:t> Website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E8F62A-E790-B15F-AEC4-EC146C8D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324418" cy="4351338"/>
          </a:xfrm>
        </p:spPr>
        <p:txBody>
          <a:bodyPr>
            <a:normAutofit lnSpcReduction="10000"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3"/>
            </a:pPr>
            <a:r>
              <a:rPr lang="fi-FI" sz="2200" b="1" dirty="0">
                <a:latin typeface="Montserrat" panose="00000500000000000000" pitchFamily="2" charset="0"/>
              </a:rPr>
              <a:t>Gunakan Bahasa yang Digunakan oleh User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 err="1">
                <a:latin typeface="Montserrat" panose="00000500000000000000" pitchFamily="2" charset="0"/>
              </a:rPr>
              <a:t>Gunakan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bahasa</a:t>
            </a:r>
            <a:r>
              <a:rPr lang="en-ID" sz="1700" dirty="0">
                <a:latin typeface="Montserrat" panose="00000500000000000000" pitchFamily="2" charset="0"/>
              </a:rPr>
              <a:t> yang </a:t>
            </a:r>
            <a:r>
              <a:rPr lang="en-ID" sz="1700" dirty="0" err="1">
                <a:latin typeface="Montserrat" panose="00000500000000000000" pitchFamily="2" charset="0"/>
              </a:rPr>
              <a:t>sering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digunakan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atau</a:t>
            </a:r>
            <a:r>
              <a:rPr lang="en-ID" sz="1700" dirty="0">
                <a:latin typeface="Montserrat" panose="00000500000000000000" pitchFamily="2" charset="0"/>
              </a:rPr>
              <a:t>  familiar </a:t>
            </a:r>
            <a:r>
              <a:rPr lang="en-ID" sz="1700" dirty="0" err="1">
                <a:latin typeface="Montserrat" panose="00000500000000000000" pitchFamily="2" charset="0"/>
              </a:rPr>
              <a:t>bagi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pengunjung</a:t>
            </a:r>
            <a:r>
              <a:rPr lang="en-ID" sz="1700" dirty="0">
                <a:latin typeface="Montserrat" panose="00000500000000000000" pitchFamily="2" charset="0"/>
              </a:rPr>
              <a:t> situs Anda. Hal </a:t>
            </a:r>
            <a:r>
              <a:rPr lang="en-ID" sz="1700" dirty="0" err="1">
                <a:latin typeface="Montserrat" panose="00000500000000000000" pitchFamily="2" charset="0"/>
              </a:rPr>
              <a:t>ini</a:t>
            </a:r>
            <a:r>
              <a:rPr lang="en-ID" sz="1700" dirty="0">
                <a:latin typeface="Montserrat" panose="00000500000000000000" pitchFamily="2" charset="0"/>
              </a:rPr>
              <a:t> juga </a:t>
            </a:r>
            <a:r>
              <a:rPr lang="en-ID" sz="1700" dirty="0" err="1">
                <a:latin typeface="Montserrat" panose="00000500000000000000" pitchFamily="2" charset="0"/>
              </a:rPr>
              <a:t>berkaitan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erat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dengan</a:t>
            </a:r>
            <a:r>
              <a:rPr lang="en-ID" sz="1700" dirty="0">
                <a:latin typeface="Montserrat" panose="00000500000000000000" pitchFamily="2" charset="0"/>
              </a:rPr>
              <a:t> On Page Search Engine </a:t>
            </a:r>
            <a:r>
              <a:rPr lang="en-ID" sz="1700" dirty="0" err="1">
                <a:latin typeface="Montserrat" panose="00000500000000000000" pitchFamily="2" charset="0"/>
              </a:rPr>
              <a:t>Optimation</a:t>
            </a:r>
            <a:r>
              <a:rPr lang="en-ID" sz="1700" dirty="0">
                <a:latin typeface="Montserrat" panose="00000500000000000000" pitchFamily="2" charset="0"/>
              </a:rPr>
              <a:t> (SEO) yang </a:t>
            </a:r>
            <a:r>
              <a:rPr lang="en-ID" sz="1700" dirty="0" err="1">
                <a:latin typeface="Montserrat" panose="00000500000000000000" pitchFamily="2" charset="0"/>
              </a:rPr>
              <a:t>menggunakan</a:t>
            </a:r>
            <a:r>
              <a:rPr lang="en-ID" sz="1700" dirty="0">
                <a:latin typeface="Montserrat" panose="00000500000000000000" pitchFamily="2" charset="0"/>
              </a:rPr>
              <a:t> kata </a:t>
            </a:r>
            <a:r>
              <a:rPr lang="en-ID" sz="1700" dirty="0" err="1">
                <a:latin typeface="Montserrat" panose="00000500000000000000" pitchFamily="2" charset="0"/>
              </a:rPr>
              <a:t>kunci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tertentu</a:t>
            </a:r>
            <a:r>
              <a:rPr lang="en-ID" sz="1700" dirty="0">
                <a:latin typeface="Montserrat" panose="00000500000000000000" pitchFamily="2" charset="0"/>
              </a:rPr>
              <a:t> pada website Anda agar website </a:t>
            </a:r>
            <a:r>
              <a:rPr lang="en-ID" sz="1700" dirty="0" err="1">
                <a:latin typeface="Montserrat" panose="00000500000000000000" pitchFamily="2" charset="0"/>
              </a:rPr>
              <a:t>mudah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ditemukan</a:t>
            </a:r>
            <a:r>
              <a:rPr lang="en-ID" sz="1700" dirty="0">
                <a:latin typeface="Montserrat" panose="00000500000000000000" pitchFamily="2" charset="0"/>
              </a:rPr>
              <a:t> pada </a:t>
            </a:r>
            <a:r>
              <a:rPr lang="en-ID" sz="1700" dirty="0" err="1">
                <a:latin typeface="Montserrat" panose="00000500000000000000" pitchFamily="2" charset="0"/>
              </a:rPr>
              <a:t>hasil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pencarian</a:t>
            </a:r>
            <a:r>
              <a:rPr lang="en-ID" sz="1700" dirty="0">
                <a:latin typeface="Montserrat" panose="00000500000000000000" pitchFamily="2" charset="0"/>
              </a:rPr>
              <a:t> di search engine.</a:t>
            </a:r>
          </a:p>
          <a:p>
            <a:pPr marL="0" indent="0">
              <a:lnSpc>
                <a:spcPct val="16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 startAt="4"/>
            </a:pPr>
            <a:r>
              <a:rPr lang="en-ID" sz="2200" b="1" dirty="0" err="1">
                <a:latin typeface="Montserrat" panose="00000500000000000000" pitchFamily="2" charset="0"/>
              </a:rPr>
              <a:t>Gunakan</a:t>
            </a:r>
            <a:r>
              <a:rPr lang="en-ID" sz="2200" b="1" dirty="0">
                <a:latin typeface="Montserrat" panose="00000500000000000000" pitchFamily="2" charset="0"/>
              </a:rPr>
              <a:t> Menu </a:t>
            </a:r>
            <a:r>
              <a:rPr lang="en-ID" sz="2200" b="1" dirty="0" err="1">
                <a:latin typeface="Montserrat" panose="00000500000000000000" pitchFamily="2" charset="0"/>
              </a:rPr>
              <a:t>Responsif</a:t>
            </a:r>
            <a:endParaRPr lang="en-ID" sz="2200" b="1" dirty="0">
              <a:latin typeface="Montserrat" panose="00000500000000000000" pitchFamily="2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 err="1">
                <a:latin typeface="Montserrat" panose="00000500000000000000" pitchFamily="2" charset="0"/>
              </a:rPr>
              <a:t>Gunakan</a:t>
            </a:r>
            <a:r>
              <a:rPr lang="en-ID" sz="1700" dirty="0">
                <a:latin typeface="Montserrat" panose="00000500000000000000" pitchFamily="2" charset="0"/>
              </a:rPr>
              <a:t> menu yang </a:t>
            </a:r>
            <a:r>
              <a:rPr lang="en-ID" sz="1700" dirty="0" err="1">
                <a:latin typeface="Montserrat" panose="00000500000000000000" pitchFamily="2" charset="0"/>
              </a:rPr>
              <a:t>responsif</a:t>
            </a:r>
            <a:r>
              <a:rPr lang="en-ID" sz="1700" dirty="0">
                <a:latin typeface="Montserrat" panose="00000500000000000000" pitchFamily="2" charset="0"/>
              </a:rPr>
              <a:t> agar </a:t>
            </a:r>
            <a:r>
              <a:rPr lang="en-ID" sz="1700" dirty="0" err="1">
                <a:latin typeface="Montserrat" panose="00000500000000000000" pitchFamily="2" charset="0"/>
              </a:rPr>
              <a:t>pengguna</a:t>
            </a:r>
            <a:r>
              <a:rPr lang="en-ID" sz="1700" dirty="0">
                <a:latin typeface="Montserrat" panose="00000500000000000000" pitchFamily="2" charset="0"/>
              </a:rPr>
              <a:t> Anda </a:t>
            </a:r>
            <a:r>
              <a:rPr lang="en-ID" sz="1700" dirty="0" err="1">
                <a:latin typeface="Montserrat" panose="00000500000000000000" pitchFamily="2" charset="0"/>
              </a:rPr>
              <a:t>tidak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kabur</a:t>
            </a:r>
            <a:r>
              <a:rPr lang="en-ID" sz="1700" dirty="0">
                <a:latin typeface="Montserrat" panose="00000500000000000000" pitchFamily="2" charset="0"/>
              </a:rPr>
              <a:t>. Di zaman </a:t>
            </a:r>
            <a:r>
              <a:rPr lang="en-ID" sz="1700" dirty="0" err="1">
                <a:latin typeface="Montserrat" panose="00000500000000000000" pitchFamily="2" charset="0"/>
              </a:rPr>
              <a:t>serba</a:t>
            </a:r>
            <a:r>
              <a:rPr lang="en-ID" sz="1700" dirty="0">
                <a:latin typeface="Montserrat" panose="00000500000000000000" pitchFamily="2" charset="0"/>
              </a:rPr>
              <a:t> digital </a:t>
            </a:r>
            <a:r>
              <a:rPr lang="en-ID" sz="1700" dirty="0" err="1">
                <a:latin typeface="Montserrat" panose="00000500000000000000" pitchFamily="2" charset="0"/>
              </a:rPr>
              <a:t>saat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ini</a:t>
            </a:r>
            <a:r>
              <a:rPr lang="en-ID" sz="1700" dirty="0">
                <a:latin typeface="Montserrat" panose="00000500000000000000" pitchFamily="2" charset="0"/>
              </a:rPr>
              <a:t>, situs dan menu yang </a:t>
            </a:r>
            <a:r>
              <a:rPr lang="en-ID" sz="1700" dirty="0" err="1">
                <a:latin typeface="Montserrat" panose="00000500000000000000" pitchFamily="2" charset="0"/>
              </a:rPr>
              <a:t>kurang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responsif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mudah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ditinggalkan</a:t>
            </a:r>
            <a:r>
              <a:rPr lang="en-ID" sz="1700" dirty="0">
                <a:latin typeface="Montserrat" panose="00000500000000000000" pitchFamily="2" charset="0"/>
              </a:rPr>
              <a:t> oleh </a:t>
            </a:r>
            <a:r>
              <a:rPr lang="en-ID" sz="1700" dirty="0" err="1">
                <a:latin typeface="Montserrat" panose="00000500000000000000" pitchFamily="2" charset="0"/>
              </a:rPr>
              <a:t>pengguna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karena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mereka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sudah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terbiasa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dengan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segala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hal</a:t>
            </a:r>
            <a:r>
              <a:rPr lang="en-ID" sz="1700" dirty="0">
                <a:latin typeface="Montserrat" panose="00000500000000000000" pitchFamily="2" charset="0"/>
              </a:rPr>
              <a:t> yang </a:t>
            </a:r>
            <a:r>
              <a:rPr lang="en-ID" sz="1700" dirty="0" err="1">
                <a:latin typeface="Montserrat" panose="00000500000000000000" pitchFamily="2" charset="0"/>
              </a:rPr>
              <a:t>mudah</a:t>
            </a:r>
            <a:r>
              <a:rPr lang="en-ID" sz="1700" dirty="0">
                <a:latin typeface="Montserrat" panose="00000500000000000000" pitchFamily="2" charset="0"/>
              </a:rPr>
              <a:t>, </a:t>
            </a:r>
            <a:r>
              <a:rPr lang="en-ID" sz="1700" dirty="0" err="1">
                <a:latin typeface="Montserrat" panose="00000500000000000000" pitchFamily="2" charset="0"/>
              </a:rPr>
              <a:t>cepat</a:t>
            </a:r>
            <a:r>
              <a:rPr lang="en-ID" sz="1700" dirty="0">
                <a:latin typeface="Montserrat" panose="00000500000000000000" pitchFamily="2" charset="0"/>
              </a:rPr>
              <a:t>, dan </a:t>
            </a:r>
            <a:r>
              <a:rPr lang="en-ID" sz="1700" dirty="0" err="1">
                <a:latin typeface="Montserrat" panose="00000500000000000000" pitchFamily="2" charset="0"/>
              </a:rPr>
              <a:t>instan</a:t>
            </a:r>
            <a:r>
              <a:rPr lang="en-ID" sz="1700" dirty="0">
                <a:latin typeface="Montserrat" panose="00000500000000000000" pitchFamily="2" charset="0"/>
              </a:rPr>
              <a:t>.</a:t>
            </a:r>
          </a:p>
          <a:p>
            <a:pPr marL="0" indent="0">
              <a:lnSpc>
                <a:spcPct val="16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E9B25F-D391-2230-E357-EA7DE568A73F}"/>
              </a:ext>
            </a:extLst>
          </p:cNvPr>
          <p:cNvSpPr/>
          <p:nvPr/>
        </p:nvSpPr>
        <p:spPr>
          <a:xfrm rot="18723797">
            <a:off x="-390418" y="137833"/>
            <a:ext cx="1428108" cy="478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70239B-897F-7205-4E9A-C448649429E7}"/>
              </a:ext>
            </a:extLst>
          </p:cNvPr>
          <p:cNvSpPr/>
          <p:nvPr/>
        </p:nvSpPr>
        <p:spPr>
          <a:xfrm rot="18723797">
            <a:off x="11104651" y="6253511"/>
            <a:ext cx="1428108" cy="478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Flowchart: Display 5">
            <a:extLst>
              <a:ext uri="{FF2B5EF4-FFF2-40B4-BE49-F238E27FC236}">
                <a16:creationId xmlns:a16="http://schemas.microsoft.com/office/drawing/2014/main" id="{9BE0BF1C-C43D-B865-01C2-B0FEB2374AE0}"/>
              </a:ext>
            </a:extLst>
          </p:cNvPr>
          <p:cNvSpPr/>
          <p:nvPr/>
        </p:nvSpPr>
        <p:spPr>
          <a:xfrm rot="19163953">
            <a:off x="-726047" y="4545233"/>
            <a:ext cx="1312174" cy="1181136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3398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E4C8E-7D20-0F52-A278-AE8D260C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Tips </a:t>
            </a:r>
            <a:r>
              <a:rPr lang="en-US" dirty="0" err="1">
                <a:latin typeface="Montserrat" panose="00000500000000000000" pitchFamily="2" charset="0"/>
              </a:rPr>
              <a:t>Membuat</a:t>
            </a:r>
            <a:r>
              <a:rPr lang="en-US" dirty="0">
                <a:latin typeface="Montserrat" panose="00000500000000000000" pitchFamily="2" charset="0"/>
              </a:rPr>
              <a:t> dan </a:t>
            </a:r>
            <a:r>
              <a:rPr lang="en-US" dirty="0" err="1">
                <a:latin typeface="Montserrat" panose="00000500000000000000" pitchFamily="2" charset="0"/>
              </a:rPr>
              <a:t>Memperbaiki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r>
              <a:rPr lang="en-US" dirty="0">
                <a:latin typeface="Montserrat" panose="00000500000000000000" pitchFamily="2" charset="0"/>
              </a:rPr>
              <a:t> Website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E8F62A-E790-B15F-AEC4-EC146C8D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67900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5"/>
            </a:pPr>
            <a:r>
              <a:rPr lang="en-ID" sz="2200" b="1" dirty="0" err="1">
                <a:latin typeface="Montserrat" panose="00000500000000000000" pitchFamily="2" charset="0"/>
              </a:rPr>
              <a:t>Pemisahan</a:t>
            </a:r>
            <a:r>
              <a:rPr lang="en-ID" sz="2200" b="1" dirty="0">
                <a:latin typeface="Montserrat" panose="00000500000000000000" pitchFamily="2" charset="0"/>
              </a:rPr>
              <a:t> Menu </a:t>
            </a:r>
            <a:r>
              <a:rPr lang="en-ID" sz="2200" b="1" dirty="0" err="1">
                <a:latin typeface="Montserrat" panose="00000500000000000000" pitchFamily="2" charset="0"/>
              </a:rPr>
              <a:t>Navigasi</a:t>
            </a:r>
            <a:r>
              <a:rPr lang="en-ID" sz="2200" b="1" dirty="0">
                <a:latin typeface="Montserrat" panose="00000500000000000000" pitchFamily="2" charset="0"/>
              </a:rPr>
              <a:t> </a:t>
            </a:r>
            <a:r>
              <a:rPr lang="en-ID" sz="2200" b="1" dirty="0" err="1">
                <a:latin typeface="Montserrat" panose="00000500000000000000" pitchFamily="2" charset="0"/>
              </a:rPr>
              <a:t>dengan</a:t>
            </a:r>
            <a:r>
              <a:rPr lang="en-ID" sz="2200" b="1" dirty="0">
                <a:latin typeface="Montserrat" panose="00000500000000000000" pitchFamily="2" charset="0"/>
              </a:rPr>
              <a:t> </a:t>
            </a:r>
            <a:r>
              <a:rPr lang="en-ID" sz="2200" b="1" dirty="0" err="1">
                <a:latin typeface="Montserrat" panose="00000500000000000000" pitchFamily="2" charset="0"/>
              </a:rPr>
              <a:t>Elemen</a:t>
            </a:r>
            <a:r>
              <a:rPr lang="en-ID" sz="2200" b="1" dirty="0">
                <a:latin typeface="Montserrat" panose="00000500000000000000" pitchFamily="2" charset="0"/>
              </a:rPr>
              <a:t> Lain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 err="1">
                <a:latin typeface="Montserrat" panose="00000500000000000000" pitchFamily="2" charset="0"/>
              </a:rPr>
              <a:t>Gunakan</a:t>
            </a:r>
            <a:r>
              <a:rPr lang="en-ID" sz="1700" dirty="0">
                <a:latin typeface="Montserrat" panose="00000500000000000000" pitchFamily="2" charset="0"/>
              </a:rPr>
              <a:t> white space, </a:t>
            </a:r>
            <a:r>
              <a:rPr lang="en-ID" sz="1700" dirty="0" err="1">
                <a:latin typeface="Montserrat" panose="00000500000000000000" pitchFamily="2" charset="0"/>
              </a:rPr>
              <a:t>warna</a:t>
            </a:r>
            <a:r>
              <a:rPr lang="en-ID" sz="1700" dirty="0">
                <a:latin typeface="Montserrat" panose="00000500000000000000" pitchFamily="2" charset="0"/>
              </a:rPr>
              <a:t>, </a:t>
            </a:r>
            <a:r>
              <a:rPr lang="en-ID" sz="1700" dirty="0" err="1">
                <a:latin typeface="Montserrat" panose="00000500000000000000" pitchFamily="2" charset="0"/>
              </a:rPr>
              <a:t>atau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ukuran</a:t>
            </a:r>
            <a:r>
              <a:rPr lang="en-ID" sz="1700" dirty="0">
                <a:latin typeface="Montserrat" panose="00000500000000000000" pitchFamily="2" charset="0"/>
              </a:rPr>
              <a:t> dan </a:t>
            </a:r>
            <a:r>
              <a:rPr lang="en-ID" sz="1700" dirty="0" err="1">
                <a:latin typeface="Montserrat" panose="00000500000000000000" pitchFamily="2" charset="0"/>
              </a:rPr>
              <a:t>jenis</a:t>
            </a:r>
            <a:r>
              <a:rPr lang="en-ID" sz="1700" dirty="0">
                <a:latin typeface="Montserrat" panose="00000500000000000000" pitchFamily="2" charset="0"/>
              </a:rPr>
              <a:t> font yang </a:t>
            </a:r>
            <a:r>
              <a:rPr lang="en-ID" sz="1700" dirty="0" err="1">
                <a:latin typeface="Montserrat" panose="00000500000000000000" pitchFamily="2" charset="0"/>
              </a:rPr>
              <a:t>berbeda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untuk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membedakan</a:t>
            </a:r>
            <a:r>
              <a:rPr lang="en-ID" sz="1700" dirty="0">
                <a:latin typeface="Montserrat" panose="00000500000000000000" pitchFamily="2" charset="0"/>
              </a:rPr>
              <a:t> menu </a:t>
            </a:r>
            <a:r>
              <a:rPr lang="en-ID" sz="1700" dirty="0" err="1">
                <a:latin typeface="Montserrat" panose="00000500000000000000" pitchFamily="2" charset="0"/>
              </a:rPr>
              <a:t>dengan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konten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utama</a:t>
            </a:r>
            <a:r>
              <a:rPr lang="en-ID" sz="1700" dirty="0">
                <a:latin typeface="Montserrat" panose="00000500000000000000" pitchFamily="2" charset="0"/>
              </a:rPr>
              <a:t> dan sidebar.</a:t>
            </a:r>
          </a:p>
          <a:p>
            <a:pPr marL="0" indent="0">
              <a:lnSpc>
                <a:spcPct val="16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  <a:p>
            <a:pPr marL="342900" indent="-342900">
              <a:lnSpc>
                <a:spcPct val="100000"/>
              </a:lnSpc>
              <a:buFont typeface="+mj-lt"/>
              <a:buAutoNum type="arabicPeriod" startAt="6"/>
            </a:pPr>
            <a:r>
              <a:rPr lang="en-ID" sz="2200" b="1" dirty="0">
                <a:latin typeface="Montserrat" panose="00000500000000000000" pitchFamily="2" charset="0"/>
              </a:rPr>
              <a:t>Buat </a:t>
            </a:r>
            <a:r>
              <a:rPr lang="en-ID" sz="2200" b="1" dirty="0" err="1">
                <a:latin typeface="Montserrat" panose="00000500000000000000" pitchFamily="2" charset="0"/>
              </a:rPr>
              <a:t>Struktur</a:t>
            </a:r>
            <a:r>
              <a:rPr lang="en-ID" sz="2200" b="1" dirty="0">
                <a:latin typeface="Montserrat" panose="00000500000000000000" pitchFamily="2" charset="0"/>
              </a:rPr>
              <a:t> yang </a:t>
            </a:r>
            <a:r>
              <a:rPr lang="en-ID" sz="2200" b="1" dirty="0" err="1">
                <a:latin typeface="Montserrat" panose="00000500000000000000" pitchFamily="2" charset="0"/>
              </a:rPr>
              <a:t>Melebar</a:t>
            </a:r>
            <a:endParaRPr lang="en-ID" sz="2200" b="1" dirty="0">
              <a:latin typeface="Montserrat" panose="00000500000000000000" pitchFamily="2" charset="0"/>
            </a:endParaRP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>
                <a:latin typeface="Montserrat" panose="00000500000000000000" pitchFamily="2" charset="0"/>
              </a:rPr>
              <a:t>Jika Anda </a:t>
            </a:r>
            <a:r>
              <a:rPr lang="en-ID" sz="1700" dirty="0" err="1">
                <a:latin typeface="Montserrat" panose="00000500000000000000" pitchFamily="2" charset="0"/>
              </a:rPr>
              <a:t>ingin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membuat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pelanggan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menjangkau</a:t>
            </a:r>
            <a:r>
              <a:rPr lang="en-ID" sz="1700" dirty="0">
                <a:latin typeface="Montserrat" panose="00000500000000000000" pitchFamily="2" charset="0"/>
              </a:rPr>
              <a:t> dan </a:t>
            </a:r>
            <a:r>
              <a:rPr lang="en-ID" sz="1700" dirty="0" err="1">
                <a:latin typeface="Montserrat" panose="00000500000000000000" pitchFamily="2" charset="0"/>
              </a:rPr>
              <a:t>mengeksplorasi</a:t>
            </a:r>
            <a:r>
              <a:rPr lang="en-ID" sz="1700" dirty="0">
                <a:latin typeface="Montserrat" panose="00000500000000000000" pitchFamily="2" charset="0"/>
              </a:rPr>
              <a:t> situs Anda </a:t>
            </a:r>
            <a:r>
              <a:rPr lang="en-ID" sz="1700" dirty="0" err="1">
                <a:latin typeface="Montserrat" panose="00000500000000000000" pitchFamily="2" charset="0"/>
              </a:rPr>
              <a:t>dengan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mudah</a:t>
            </a:r>
            <a:r>
              <a:rPr lang="en-ID" sz="1700" dirty="0">
                <a:latin typeface="Montserrat" panose="00000500000000000000" pitchFamily="2" charset="0"/>
              </a:rPr>
              <a:t>, buat </a:t>
            </a:r>
            <a:r>
              <a:rPr lang="en-ID" sz="1700" dirty="0" err="1">
                <a:latin typeface="Montserrat" panose="00000500000000000000" pitchFamily="2" charset="0"/>
              </a:rPr>
              <a:t>struktur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navigasi</a:t>
            </a:r>
            <a:r>
              <a:rPr lang="en-ID" sz="1700" dirty="0">
                <a:latin typeface="Montserrat" panose="00000500000000000000" pitchFamily="2" charset="0"/>
              </a:rPr>
              <a:t> website </a:t>
            </a:r>
            <a:r>
              <a:rPr lang="en-ID" sz="1700" dirty="0" err="1">
                <a:latin typeface="Montserrat" panose="00000500000000000000" pitchFamily="2" charset="0"/>
              </a:rPr>
              <a:t>sedatar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mungkin</a:t>
            </a:r>
            <a:r>
              <a:rPr lang="en-ID" sz="1700" dirty="0">
                <a:latin typeface="Montserrat" panose="00000500000000000000" pitchFamily="2" charset="0"/>
              </a:rPr>
              <a:t>. Buat </a:t>
            </a:r>
            <a:r>
              <a:rPr lang="en-ID" sz="1700" dirty="0" err="1">
                <a:latin typeface="Montserrat" panose="00000500000000000000" pitchFamily="2" charset="0"/>
              </a:rPr>
              <a:t>halaman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sesederhana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mungkin</a:t>
            </a:r>
            <a:r>
              <a:rPr lang="en-ID" sz="1700" dirty="0">
                <a:latin typeface="Montserrat" panose="00000500000000000000" pitchFamily="2" charset="0"/>
              </a:rPr>
              <a:t> dan </a:t>
            </a:r>
            <a:r>
              <a:rPr lang="en-ID" sz="1700" dirty="0" err="1">
                <a:latin typeface="Montserrat" panose="00000500000000000000" pitchFamily="2" charset="0"/>
              </a:rPr>
              <a:t>tautkan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subkategori</a:t>
            </a:r>
            <a:r>
              <a:rPr lang="en-ID" sz="1700" dirty="0">
                <a:latin typeface="Montserrat" panose="00000500000000000000" pitchFamily="2" charset="0"/>
              </a:rPr>
              <a:t> yang </a:t>
            </a:r>
            <a:r>
              <a:rPr lang="en-ID" sz="1700" dirty="0" err="1">
                <a:latin typeface="Montserrat" panose="00000500000000000000" pitchFamily="2" charset="0"/>
              </a:rPr>
              <a:t>relevan</a:t>
            </a:r>
            <a:endParaRPr lang="en-ID" sz="1700" dirty="0">
              <a:latin typeface="Montserrat" panose="00000500000000000000" pitchFamily="2" charset="0"/>
            </a:endParaRPr>
          </a:p>
          <a:p>
            <a:pPr marL="0" indent="0">
              <a:lnSpc>
                <a:spcPct val="160000"/>
              </a:lnSpc>
              <a:buNone/>
            </a:pPr>
            <a:endParaRPr lang="en-ID" sz="1700" dirty="0">
              <a:latin typeface="Montserrat" panose="00000500000000000000" pitchFamily="2" charset="0"/>
            </a:endParaRPr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E5FA2ABA-DF06-DE21-4471-A7268696CB55}"/>
              </a:ext>
            </a:extLst>
          </p:cNvPr>
          <p:cNvSpPr/>
          <p:nvPr/>
        </p:nvSpPr>
        <p:spPr>
          <a:xfrm>
            <a:off x="-1123950" y="-242888"/>
            <a:ext cx="2247900" cy="102552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1B03CD10-856E-B9DD-BA7B-666977A2E1B2}"/>
              </a:ext>
            </a:extLst>
          </p:cNvPr>
          <p:cNvSpPr/>
          <p:nvPr/>
        </p:nvSpPr>
        <p:spPr>
          <a:xfrm>
            <a:off x="11163300" y="1274762"/>
            <a:ext cx="2152650" cy="83185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99103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E4C8E-7D20-0F52-A278-AE8D260C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Tips </a:t>
            </a:r>
            <a:r>
              <a:rPr lang="en-US" dirty="0" err="1">
                <a:latin typeface="Montserrat" panose="00000500000000000000" pitchFamily="2" charset="0"/>
              </a:rPr>
              <a:t>Membuat</a:t>
            </a:r>
            <a:r>
              <a:rPr lang="en-US" dirty="0">
                <a:latin typeface="Montserrat" panose="00000500000000000000" pitchFamily="2" charset="0"/>
              </a:rPr>
              <a:t> dan </a:t>
            </a:r>
            <a:r>
              <a:rPr lang="en-US" dirty="0" err="1">
                <a:latin typeface="Montserrat" panose="00000500000000000000" pitchFamily="2" charset="0"/>
              </a:rPr>
              <a:t>Memperbaiki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Struktur</a:t>
            </a:r>
            <a:r>
              <a:rPr lang="en-US" dirty="0">
                <a:latin typeface="Montserrat" panose="00000500000000000000" pitchFamily="2" charset="0"/>
              </a:rPr>
              <a:t> </a:t>
            </a:r>
            <a:r>
              <a:rPr lang="en-US" dirty="0" err="1">
                <a:latin typeface="Montserrat" panose="00000500000000000000" pitchFamily="2" charset="0"/>
              </a:rPr>
              <a:t>Navigasi</a:t>
            </a:r>
            <a:r>
              <a:rPr lang="en-US" dirty="0">
                <a:latin typeface="Montserrat" panose="00000500000000000000" pitchFamily="2" charset="0"/>
              </a:rPr>
              <a:t> Website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E8F62A-E790-B15F-AEC4-EC146C8D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039350" cy="43513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buFont typeface="+mj-lt"/>
              <a:buAutoNum type="arabicPeriod" startAt="7"/>
            </a:pPr>
            <a:r>
              <a:rPr lang="en-ID" sz="2200" b="1" dirty="0" err="1">
                <a:latin typeface="Montserrat" panose="00000500000000000000" pitchFamily="2" charset="0"/>
              </a:rPr>
              <a:t>Hindari</a:t>
            </a:r>
            <a:r>
              <a:rPr lang="en-ID" sz="2200" b="1" dirty="0">
                <a:latin typeface="Montserrat" panose="00000500000000000000" pitchFamily="2" charset="0"/>
              </a:rPr>
              <a:t> Dropdown Menu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>
                <a:latin typeface="Montserrat" panose="00000500000000000000" pitchFamily="2" charset="0"/>
              </a:rPr>
              <a:t>Menu dropdown </a:t>
            </a:r>
            <a:r>
              <a:rPr lang="en-ID" sz="1700" dirty="0" err="1">
                <a:latin typeface="Montserrat" panose="00000500000000000000" pitchFamily="2" charset="0"/>
              </a:rPr>
              <a:t>bisa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jadi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tidak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berguna</a:t>
            </a:r>
            <a:r>
              <a:rPr lang="en-ID" sz="1700" dirty="0">
                <a:latin typeface="Montserrat" panose="00000500000000000000" pitchFamily="2" charset="0"/>
              </a:rPr>
              <a:t> di </a:t>
            </a:r>
            <a:r>
              <a:rPr lang="en-ID" sz="1700" dirty="0" err="1">
                <a:latin typeface="Montserrat" panose="00000500000000000000" pitchFamily="2" charset="0"/>
              </a:rPr>
              <a:t>sebagian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besar</a:t>
            </a:r>
            <a:r>
              <a:rPr lang="en-ID" sz="1700" dirty="0">
                <a:latin typeface="Montserrat" panose="00000500000000000000" pitchFamily="2" charset="0"/>
              </a:rPr>
              <a:t> website. </a:t>
            </a:r>
            <a:r>
              <a:rPr lang="en-ID" sz="1700" dirty="0" err="1">
                <a:latin typeface="Montserrat" panose="00000500000000000000" pitchFamily="2" charset="0"/>
              </a:rPr>
              <a:t>Memiliki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terlalu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banyak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tautan</a:t>
            </a:r>
            <a:r>
              <a:rPr lang="en-ID" sz="1700" dirty="0">
                <a:latin typeface="Montserrat" panose="00000500000000000000" pitchFamily="2" charset="0"/>
              </a:rPr>
              <a:t> di menu </a:t>
            </a:r>
            <a:r>
              <a:rPr lang="en-ID" sz="1700" dirty="0" err="1">
                <a:latin typeface="Montserrat" panose="00000500000000000000" pitchFamily="2" charset="0"/>
              </a:rPr>
              <a:t>utama</a:t>
            </a:r>
            <a:r>
              <a:rPr lang="en-ID" sz="1700" dirty="0">
                <a:latin typeface="Montserrat" panose="00000500000000000000" pitchFamily="2" charset="0"/>
              </a:rPr>
              <a:t> juga </a:t>
            </a:r>
            <a:r>
              <a:rPr lang="en-ID" sz="1700" dirty="0" err="1">
                <a:latin typeface="Montserrat" panose="00000500000000000000" pitchFamily="2" charset="0"/>
              </a:rPr>
              <a:t>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membingungkan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pengguna</a:t>
            </a:r>
            <a:r>
              <a:rPr lang="en-ID" sz="1700" dirty="0">
                <a:latin typeface="Montserrat" panose="00000500000000000000" pitchFamily="2" charset="0"/>
              </a:rPr>
              <a:t>. </a:t>
            </a:r>
            <a:r>
              <a:rPr lang="en-ID" sz="1700" dirty="0" err="1">
                <a:latin typeface="Montserrat" panose="00000500000000000000" pitchFamily="2" charset="0"/>
              </a:rPr>
              <a:t>Sebaiknya</a:t>
            </a:r>
            <a:r>
              <a:rPr lang="en-ID" sz="1700" dirty="0">
                <a:latin typeface="Montserrat" panose="00000500000000000000" pitchFamily="2" charset="0"/>
              </a:rPr>
              <a:t> Anda </a:t>
            </a:r>
            <a:r>
              <a:rPr lang="en-ID" sz="1700" dirty="0" err="1">
                <a:latin typeface="Montserrat" panose="00000500000000000000" pitchFamily="2" charset="0"/>
              </a:rPr>
              <a:t>menggunakan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struktur</a:t>
            </a:r>
            <a:r>
              <a:rPr lang="en-ID" sz="1700" dirty="0">
                <a:latin typeface="Montserrat" panose="00000500000000000000" pitchFamily="2" charset="0"/>
              </a:rPr>
              <a:t> website </a:t>
            </a:r>
            <a:r>
              <a:rPr lang="en-ID" sz="1700" dirty="0" err="1">
                <a:latin typeface="Montserrat" panose="00000500000000000000" pitchFamily="2" charset="0"/>
              </a:rPr>
              <a:t>hirarki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atau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lokal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sebagai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pengganti</a:t>
            </a:r>
            <a:r>
              <a:rPr lang="en-ID" sz="1700" dirty="0">
                <a:latin typeface="Montserrat" panose="00000500000000000000" pitchFamily="2" charset="0"/>
              </a:rPr>
              <a:t> menu drop down.</a:t>
            </a:r>
          </a:p>
        </p:txBody>
      </p:sp>
      <p:sp>
        <p:nvSpPr>
          <p:cNvPr id="2" name="Flowchart: Decision 1">
            <a:extLst>
              <a:ext uri="{FF2B5EF4-FFF2-40B4-BE49-F238E27FC236}">
                <a16:creationId xmlns:a16="http://schemas.microsoft.com/office/drawing/2014/main" id="{632D74DA-38EE-D206-1913-C190FAD51C01}"/>
              </a:ext>
            </a:extLst>
          </p:cNvPr>
          <p:cNvSpPr/>
          <p:nvPr/>
        </p:nvSpPr>
        <p:spPr>
          <a:xfrm>
            <a:off x="-1123950" y="-242888"/>
            <a:ext cx="2247900" cy="1025525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2F641B48-5442-2A90-780F-BEE25BCA5C59}"/>
              </a:ext>
            </a:extLst>
          </p:cNvPr>
          <p:cNvSpPr/>
          <p:nvPr/>
        </p:nvSpPr>
        <p:spPr>
          <a:xfrm>
            <a:off x="11163300" y="1274762"/>
            <a:ext cx="2152650" cy="831851"/>
          </a:xfrm>
          <a:prstGeom prst="flowChartDecis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743501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E4C8E-7D20-0F52-A278-AE8D260C8D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46113"/>
            <a:ext cx="9144000" cy="2387600"/>
          </a:xfrm>
        </p:spPr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Kesimpulan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E8F62A-E790-B15F-AEC4-EC146C8D6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25788"/>
            <a:ext cx="9144000" cy="1655762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D" sz="1700" dirty="0" err="1">
                <a:latin typeface="Montserrat" panose="00000500000000000000" pitchFamily="2" charset="0"/>
              </a:rPr>
              <a:t>Struktur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navigasi</a:t>
            </a:r>
            <a:r>
              <a:rPr lang="en-ID" sz="1700" dirty="0">
                <a:latin typeface="Montserrat" panose="00000500000000000000" pitchFamily="2" charset="0"/>
              </a:rPr>
              <a:t> website yang </a:t>
            </a:r>
            <a:r>
              <a:rPr lang="en-ID" sz="1700" dirty="0" err="1">
                <a:latin typeface="Montserrat" panose="00000500000000000000" pitchFamily="2" charset="0"/>
              </a:rPr>
              <a:t>ramah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pengguna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dapat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membuat</a:t>
            </a:r>
            <a:r>
              <a:rPr lang="en-ID" sz="1700" dirty="0">
                <a:latin typeface="Montserrat" panose="00000500000000000000" pitchFamily="2" charset="0"/>
              </a:rPr>
              <a:t> audience </a:t>
            </a:r>
            <a:r>
              <a:rPr lang="en-ID" sz="1700" dirty="0" err="1">
                <a:latin typeface="Montserrat" panose="00000500000000000000" pitchFamily="2" charset="0"/>
              </a:rPr>
              <a:t>betah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berada</a:t>
            </a:r>
            <a:r>
              <a:rPr lang="en-ID" sz="1700" dirty="0">
                <a:latin typeface="Montserrat" panose="00000500000000000000" pitchFamily="2" charset="0"/>
              </a:rPr>
              <a:t> di situs Anda dan juga </a:t>
            </a:r>
            <a:r>
              <a:rPr lang="en-ID" sz="1700" dirty="0" err="1">
                <a:latin typeface="Montserrat" panose="00000500000000000000" pitchFamily="2" charset="0"/>
              </a:rPr>
              <a:t>memudahkan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mereka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menemukan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apa</a:t>
            </a:r>
            <a:r>
              <a:rPr lang="en-ID" sz="1700" dirty="0">
                <a:latin typeface="Montserrat" panose="00000500000000000000" pitchFamily="2" charset="0"/>
              </a:rPr>
              <a:t> yang </a:t>
            </a:r>
            <a:r>
              <a:rPr lang="en-ID" sz="1700" dirty="0" err="1">
                <a:latin typeface="Montserrat" panose="00000500000000000000" pitchFamily="2" charset="0"/>
              </a:rPr>
              <a:t>mereka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cari</a:t>
            </a:r>
            <a:r>
              <a:rPr lang="en-ID" sz="1700" dirty="0">
                <a:latin typeface="Montserrat" panose="00000500000000000000" pitchFamily="2" charset="0"/>
              </a:rPr>
              <a:t>. </a:t>
            </a:r>
            <a:r>
              <a:rPr lang="en-ID" sz="1700" dirty="0" err="1">
                <a:latin typeface="Montserrat" panose="00000500000000000000" pitchFamily="2" charset="0"/>
              </a:rPr>
              <a:t>Untuk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mewujudkan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hal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ini</a:t>
            </a:r>
            <a:r>
              <a:rPr lang="en-ID" sz="1700" dirty="0">
                <a:latin typeface="Montserrat" panose="00000500000000000000" pitchFamily="2" charset="0"/>
              </a:rPr>
              <a:t>, Anda </a:t>
            </a:r>
            <a:r>
              <a:rPr lang="en-ID" sz="1700" dirty="0" err="1">
                <a:latin typeface="Montserrat" panose="00000500000000000000" pitchFamily="2" charset="0"/>
              </a:rPr>
              <a:t>perlu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menyusun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struktur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  <a:r>
              <a:rPr lang="en-ID" sz="1700" dirty="0" err="1">
                <a:latin typeface="Montserrat" panose="00000500000000000000" pitchFamily="2" charset="0"/>
              </a:rPr>
              <a:t>navigasi</a:t>
            </a:r>
            <a:r>
              <a:rPr lang="en-ID" sz="1700" dirty="0">
                <a:latin typeface="Montserrat" panose="00000500000000000000" pitchFamily="2" charset="0"/>
              </a:rPr>
              <a:t> website yang </a:t>
            </a:r>
            <a:r>
              <a:rPr lang="en-ID" sz="1700" dirty="0" err="1">
                <a:latin typeface="Montserrat" panose="00000500000000000000" pitchFamily="2" charset="0"/>
              </a:rPr>
              <a:t>bagus</a:t>
            </a:r>
            <a:r>
              <a:rPr lang="en-ID" sz="17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6CA4CD31-EDD4-63B8-FC2B-5DD60FDB77B6}"/>
              </a:ext>
            </a:extLst>
          </p:cNvPr>
          <p:cNvSpPr/>
          <p:nvPr/>
        </p:nvSpPr>
        <p:spPr>
          <a:xfrm>
            <a:off x="-19050" y="4667250"/>
            <a:ext cx="3562350" cy="2171700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4DC1195-A5DD-5E7C-CD66-0F820500EE06}"/>
              </a:ext>
            </a:extLst>
          </p:cNvPr>
          <p:cNvSpPr/>
          <p:nvPr/>
        </p:nvSpPr>
        <p:spPr>
          <a:xfrm rot="10800000" flipH="1">
            <a:off x="0" y="0"/>
            <a:ext cx="3543300" cy="2346927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E09069-2BEC-AF46-B551-7D7A7A4E1340}"/>
              </a:ext>
            </a:extLst>
          </p:cNvPr>
          <p:cNvSpPr/>
          <p:nvPr/>
        </p:nvSpPr>
        <p:spPr>
          <a:xfrm rot="358227" flipH="1">
            <a:off x="9142955" y="4566821"/>
            <a:ext cx="2958333" cy="2490014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BDE71B9C-66F6-A543-B946-B44C1F0228F7}"/>
              </a:ext>
            </a:extLst>
          </p:cNvPr>
          <p:cNvSpPr/>
          <p:nvPr/>
        </p:nvSpPr>
        <p:spPr>
          <a:xfrm rot="10800000">
            <a:off x="9163050" y="-1"/>
            <a:ext cx="3181350" cy="2480597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14391339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21E4C8E-7D20-0F52-A278-AE8D260C8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latin typeface="Montserrat" panose="00000500000000000000" pitchFamily="2" charset="0"/>
              </a:rPr>
              <a:t>Referensi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9E8F62A-E790-B15F-AEC4-EC146C8D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5022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60000"/>
              </a:lnSpc>
              <a:buNone/>
            </a:pPr>
            <a:r>
              <a:rPr lang="en-ID" sz="1700" dirty="0">
                <a:latin typeface="Montserrat" panose="00000500000000000000" pitchFamily="2" charset="0"/>
                <a:hlinkClick r:id="rId2"/>
              </a:rPr>
              <a:t>https://meson-digital.com/blog/struktur-navigasi-website/ 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D" sz="1700" dirty="0">
                <a:latin typeface="Montserrat" panose="00000500000000000000" pitchFamily="2" charset="0"/>
                <a:hlinkClick r:id="rId2"/>
              </a:rPr>
              <a:t>https://repository.unikom.ac.id/45892/1/Menu%20dan%20Skema%20navigasi.pdf</a:t>
            </a:r>
            <a:r>
              <a:rPr lang="en-ID" sz="1700" dirty="0">
                <a:latin typeface="Montserrat" panose="00000500000000000000" pitchFamily="2" charset="0"/>
              </a:rPr>
              <a:t>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ACF21EF-71A8-1E36-4C79-78CE37B4C450}"/>
              </a:ext>
            </a:extLst>
          </p:cNvPr>
          <p:cNvSpPr/>
          <p:nvPr/>
        </p:nvSpPr>
        <p:spPr>
          <a:xfrm rot="18723797">
            <a:off x="-390418" y="137833"/>
            <a:ext cx="1428108" cy="478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411821B-79B9-2049-798D-94EA55C9B61E}"/>
              </a:ext>
            </a:extLst>
          </p:cNvPr>
          <p:cNvSpPr/>
          <p:nvPr/>
        </p:nvSpPr>
        <p:spPr>
          <a:xfrm rot="18723797">
            <a:off x="11104651" y="6253511"/>
            <a:ext cx="1428108" cy="478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Flowchart: Display 5">
            <a:extLst>
              <a:ext uri="{FF2B5EF4-FFF2-40B4-BE49-F238E27FC236}">
                <a16:creationId xmlns:a16="http://schemas.microsoft.com/office/drawing/2014/main" id="{6FACE6CF-C811-9AD2-2DA6-B29F0EAD622A}"/>
              </a:ext>
            </a:extLst>
          </p:cNvPr>
          <p:cNvSpPr/>
          <p:nvPr/>
        </p:nvSpPr>
        <p:spPr>
          <a:xfrm rot="19163953">
            <a:off x="-726047" y="4545233"/>
            <a:ext cx="1312174" cy="1181136"/>
          </a:xfrm>
          <a:prstGeom prst="flowChartDisplay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40924820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10C2A-197A-C209-16F9-EFD219B0241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latin typeface="Montserrat" panose="00000500000000000000" pitchFamily="2" charset="0"/>
              </a:rPr>
              <a:t>Syukron </a:t>
            </a:r>
            <a:r>
              <a:rPr lang="en-US" dirty="0">
                <a:latin typeface="Montserrat" panose="00000500000000000000" pitchFamily="2" charset="0"/>
                <a:sym typeface="Wingdings" panose="05000000000000000000" pitchFamily="2" charset="2"/>
              </a:rPr>
              <a:t></a:t>
            </a:r>
            <a:endParaRPr lang="en-ID" dirty="0">
              <a:latin typeface="Montserrat" panose="00000500000000000000" pitchFamily="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336215-23E8-B6A3-35CD-B0D6A34563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0A65BDD-154B-D3B1-920F-8EA265D516E1}"/>
              </a:ext>
            </a:extLst>
          </p:cNvPr>
          <p:cNvSpPr/>
          <p:nvPr/>
        </p:nvSpPr>
        <p:spPr>
          <a:xfrm>
            <a:off x="-19050" y="4667250"/>
            <a:ext cx="3562350" cy="2171700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9BCF205-863D-8CA0-A998-85726B825202}"/>
              </a:ext>
            </a:extLst>
          </p:cNvPr>
          <p:cNvSpPr/>
          <p:nvPr/>
        </p:nvSpPr>
        <p:spPr>
          <a:xfrm rot="10800000" flipH="1">
            <a:off x="0" y="0"/>
            <a:ext cx="3543300" cy="2346927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DFA85D1-1B7C-8CA4-65D3-7F1F4D512517}"/>
              </a:ext>
            </a:extLst>
          </p:cNvPr>
          <p:cNvSpPr/>
          <p:nvPr/>
        </p:nvSpPr>
        <p:spPr>
          <a:xfrm rot="358227" flipH="1">
            <a:off x="9142955" y="4566821"/>
            <a:ext cx="2958333" cy="2490014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CF518FC-67AD-2AD1-585D-7145ACB24A7D}"/>
              </a:ext>
            </a:extLst>
          </p:cNvPr>
          <p:cNvSpPr/>
          <p:nvPr/>
        </p:nvSpPr>
        <p:spPr>
          <a:xfrm rot="10800000">
            <a:off x="9163050" y="-1"/>
            <a:ext cx="3181350" cy="2480597"/>
          </a:xfrm>
          <a:custGeom>
            <a:avLst/>
            <a:gdLst>
              <a:gd name="connsiteX0" fmla="*/ 0 w 3562350"/>
              <a:gd name="connsiteY0" fmla="*/ 0 h 2171700"/>
              <a:gd name="connsiteX1" fmla="*/ 2247900 w 3562350"/>
              <a:gd name="connsiteY1" fmla="*/ 857250 h 2171700"/>
              <a:gd name="connsiteX2" fmla="*/ 2686050 w 3562350"/>
              <a:gd name="connsiteY2" fmla="*/ 1943100 h 2171700"/>
              <a:gd name="connsiteX3" fmla="*/ 3562350 w 3562350"/>
              <a:gd name="connsiteY3" fmla="*/ 2171700 h 2171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2350" h="2171700">
                <a:moveTo>
                  <a:pt x="0" y="0"/>
                </a:moveTo>
                <a:cubicBezTo>
                  <a:pt x="900112" y="266700"/>
                  <a:pt x="1800225" y="533400"/>
                  <a:pt x="2247900" y="857250"/>
                </a:cubicBezTo>
                <a:cubicBezTo>
                  <a:pt x="2695575" y="1181100"/>
                  <a:pt x="2466975" y="1724025"/>
                  <a:pt x="2686050" y="1943100"/>
                </a:cubicBezTo>
                <a:cubicBezTo>
                  <a:pt x="2905125" y="2162175"/>
                  <a:pt x="3233737" y="2166937"/>
                  <a:pt x="3562350" y="2171700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6931031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620</Words>
  <Application>Microsoft Office PowerPoint</Application>
  <PresentationFormat>Widescreen</PresentationFormat>
  <Paragraphs>46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Montserrat</vt:lpstr>
      <vt:lpstr>Office Theme</vt:lpstr>
      <vt:lpstr>Skema/Struktur Navigasi </vt:lpstr>
      <vt:lpstr>Pengertian Navigasi </vt:lpstr>
      <vt:lpstr>Macam-Macam Struktur Navigasi</vt:lpstr>
      <vt:lpstr>PowerPoint Presentation</vt:lpstr>
      <vt:lpstr>Macam-Macam Struktur Navigasi</vt:lpstr>
      <vt:lpstr>Tips Membuat dan Memperbaiki Struktur Navigasi Website</vt:lpstr>
      <vt:lpstr>Tips Membuat dan Memperbaiki Struktur Navigasi Website</vt:lpstr>
      <vt:lpstr>Tips Membuat dan Memperbaiki Struktur Navigasi Website</vt:lpstr>
      <vt:lpstr>Tips Membuat dan Memperbaiki Struktur Navigasi Website</vt:lpstr>
      <vt:lpstr>Kesimpulan</vt:lpstr>
      <vt:lpstr>Referensi</vt:lpstr>
      <vt:lpstr>Syukron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Skema Navigasi </dc:title>
  <dc:creator>Alamanda Ardana</dc:creator>
  <cp:lastModifiedBy>Alamanda Ardana</cp:lastModifiedBy>
  <cp:revision>2</cp:revision>
  <dcterms:created xsi:type="dcterms:W3CDTF">2023-01-16T02:00:37Z</dcterms:created>
  <dcterms:modified xsi:type="dcterms:W3CDTF">2023-01-16T02:58:40Z</dcterms:modified>
</cp:coreProperties>
</file>