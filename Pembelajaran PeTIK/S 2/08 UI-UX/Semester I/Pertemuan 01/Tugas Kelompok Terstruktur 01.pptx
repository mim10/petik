
<file path=[Content_Types].xml><?xml version="1.0" encoding="utf-8"?>
<Types xmlns="http://schemas.openxmlformats.org/package/2006/content-types">
  <Default Extension="fntdata" ContentType="application/x-fontdata"/>
  <Default Extension="jpeg" ContentType="image/jpeg"/>
  <Default Extension="jpg"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68" r:id="rId2"/>
    <p:sldId id="262" r:id="rId3"/>
    <p:sldId id="266" r:id="rId4"/>
    <p:sldId id="256" r:id="rId5"/>
    <p:sldId id="263" r:id="rId6"/>
    <p:sldId id="265" r:id="rId7"/>
    <p:sldId id="264" r:id="rId8"/>
    <p:sldId id="261" r:id="rId9"/>
    <p:sldId id="258" r:id="rId10"/>
    <p:sldId id="259" r:id="rId11"/>
    <p:sldId id="270" r:id="rId12"/>
    <p:sldId id="271" r:id="rId13"/>
    <p:sldId id="272" r:id="rId14"/>
    <p:sldId id="273" r:id="rId15"/>
    <p:sldId id="274" r:id="rId16"/>
    <p:sldId id="275" r:id="rId17"/>
    <p:sldId id="269" r:id="rId18"/>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Calibri Light" panose="020F0302020204030204" pitchFamily="34" charset="0"/>
      <p:regular r:id="rId24"/>
      <p:italic r:id="rId25"/>
    </p:embeddedFont>
    <p:embeddedFont>
      <p:font typeface="Poppins" panose="00000500000000000000" pitchFamily="2"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8D0"/>
    <a:srgbClr val="FFFFFF"/>
    <a:srgbClr val="3883CE"/>
    <a:srgbClr val="FAC950"/>
    <a:srgbClr val="777B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34" autoAdjust="0"/>
    <p:restoredTop sz="84355" autoAdjust="0"/>
  </p:normalViewPr>
  <p:slideViewPr>
    <p:cSldViewPr snapToGrid="0">
      <p:cViewPr varScale="1">
        <p:scale>
          <a:sx n="84" d="100"/>
          <a:sy n="84" d="100"/>
        </p:scale>
        <p:origin x="90" y="420"/>
      </p:cViewPr>
      <p:guideLst/>
    </p:cSldViewPr>
  </p:slideViewPr>
  <p:notesTextViewPr>
    <p:cViewPr>
      <p:scale>
        <a:sx n="75" d="100"/>
        <a:sy n="75" d="100"/>
      </p:scale>
      <p:origin x="0" y="0"/>
    </p:cViewPr>
  </p:notesTextViewPr>
  <p:sorterViewPr>
    <p:cViewPr>
      <p:scale>
        <a:sx n="100" d="100"/>
        <a:sy n="100" d="100"/>
      </p:scale>
      <p:origin x="0" y="-386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46B23-06C0-46E8-9E0C-6824B31AAAB9}" type="datetimeFigureOut">
              <a:rPr lang="en-ID" smtClean="0"/>
              <a:t>04/01/2023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31B680-4E8F-475E-A693-FB2CFF52D86A}" type="slidenum">
              <a:rPr lang="en-ID" smtClean="0"/>
              <a:t>‹#›</a:t>
            </a:fld>
            <a:endParaRPr lang="en-ID"/>
          </a:p>
        </p:txBody>
      </p:sp>
    </p:spTree>
    <p:extLst>
      <p:ext uri="{BB962C8B-B14F-4D97-AF65-F5344CB8AC3E}">
        <p14:creationId xmlns:p14="http://schemas.microsoft.com/office/powerpoint/2010/main" val="1217819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a:t>
            </a:fld>
            <a:endParaRPr lang="en-ID"/>
          </a:p>
        </p:txBody>
      </p:sp>
    </p:spTree>
    <p:extLst>
      <p:ext uri="{BB962C8B-B14F-4D97-AF65-F5344CB8AC3E}">
        <p14:creationId xmlns:p14="http://schemas.microsoft.com/office/powerpoint/2010/main" val="454083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2</a:t>
            </a:fld>
            <a:endParaRPr lang="en-ID"/>
          </a:p>
        </p:txBody>
      </p:sp>
    </p:spTree>
    <p:extLst>
      <p:ext uri="{BB962C8B-B14F-4D97-AF65-F5344CB8AC3E}">
        <p14:creationId xmlns:p14="http://schemas.microsoft.com/office/powerpoint/2010/main" val="731041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4</a:t>
            </a:fld>
            <a:endParaRPr lang="en-ID"/>
          </a:p>
        </p:txBody>
      </p:sp>
    </p:spTree>
    <p:extLst>
      <p:ext uri="{BB962C8B-B14F-4D97-AF65-F5344CB8AC3E}">
        <p14:creationId xmlns:p14="http://schemas.microsoft.com/office/powerpoint/2010/main" val="488046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5</a:t>
            </a:fld>
            <a:endParaRPr lang="en-ID"/>
          </a:p>
        </p:txBody>
      </p:sp>
    </p:spTree>
    <p:extLst>
      <p:ext uri="{BB962C8B-B14F-4D97-AF65-F5344CB8AC3E}">
        <p14:creationId xmlns:p14="http://schemas.microsoft.com/office/powerpoint/2010/main" val="1370852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6</a:t>
            </a:fld>
            <a:endParaRPr lang="en-ID"/>
          </a:p>
        </p:txBody>
      </p:sp>
    </p:spTree>
    <p:extLst>
      <p:ext uri="{BB962C8B-B14F-4D97-AF65-F5344CB8AC3E}">
        <p14:creationId xmlns:p14="http://schemas.microsoft.com/office/powerpoint/2010/main" val="2658890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7</a:t>
            </a:fld>
            <a:endParaRPr lang="en-ID"/>
          </a:p>
        </p:txBody>
      </p:sp>
    </p:spTree>
    <p:extLst>
      <p:ext uri="{BB962C8B-B14F-4D97-AF65-F5344CB8AC3E}">
        <p14:creationId xmlns:p14="http://schemas.microsoft.com/office/powerpoint/2010/main" val="2806230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B331B680-4E8F-475E-A693-FB2CFF52D86A}" type="slidenum">
              <a:rPr lang="en-ID" smtClean="0"/>
              <a:t>8</a:t>
            </a:fld>
            <a:endParaRPr lang="en-ID"/>
          </a:p>
        </p:txBody>
      </p:sp>
    </p:spTree>
    <p:extLst>
      <p:ext uri="{BB962C8B-B14F-4D97-AF65-F5344CB8AC3E}">
        <p14:creationId xmlns:p14="http://schemas.microsoft.com/office/powerpoint/2010/main" val="3990402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9</a:t>
            </a:fld>
            <a:endParaRPr lang="en-ID"/>
          </a:p>
        </p:txBody>
      </p:sp>
    </p:spTree>
    <p:extLst>
      <p:ext uri="{BB962C8B-B14F-4D97-AF65-F5344CB8AC3E}">
        <p14:creationId xmlns:p14="http://schemas.microsoft.com/office/powerpoint/2010/main" val="3207401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10</a:t>
            </a:fld>
            <a:endParaRPr lang="en-ID"/>
          </a:p>
        </p:txBody>
      </p:sp>
    </p:spTree>
    <p:extLst>
      <p:ext uri="{BB962C8B-B14F-4D97-AF65-F5344CB8AC3E}">
        <p14:creationId xmlns:p14="http://schemas.microsoft.com/office/powerpoint/2010/main" val="1207848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11</a:t>
            </a:fld>
            <a:endParaRPr lang="en-ID"/>
          </a:p>
        </p:txBody>
      </p:sp>
    </p:spTree>
    <p:extLst>
      <p:ext uri="{BB962C8B-B14F-4D97-AF65-F5344CB8AC3E}">
        <p14:creationId xmlns:p14="http://schemas.microsoft.com/office/powerpoint/2010/main" val="505154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12</a:t>
            </a:fld>
            <a:endParaRPr lang="en-ID"/>
          </a:p>
        </p:txBody>
      </p:sp>
    </p:spTree>
    <p:extLst>
      <p:ext uri="{BB962C8B-B14F-4D97-AF65-F5344CB8AC3E}">
        <p14:creationId xmlns:p14="http://schemas.microsoft.com/office/powerpoint/2010/main" val="3523442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13</a:t>
            </a:fld>
            <a:endParaRPr lang="en-ID"/>
          </a:p>
        </p:txBody>
      </p:sp>
    </p:spTree>
    <p:extLst>
      <p:ext uri="{BB962C8B-B14F-4D97-AF65-F5344CB8AC3E}">
        <p14:creationId xmlns:p14="http://schemas.microsoft.com/office/powerpoint/2010/main" val="2836506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14</a:t>
            </a:fld>
            <a:endParaRPr lang="en-ID"/>
          </a:p>
        </p:txBody>
      </p:sp>
    </p:spTree>
    <p:extLst>
      <p:ext uri="{BB962C8B-B14F-4D97-AF65-F5344CB8AC3E}">
        <p14:creationId xmlns:p14="http://schemas.microsoft.com/office/powerpoint/2010/main" val="3749712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331B680-4E8F-475E-A693-FB2CFF52D86A}" type="slidenum">
              <a:rPr lang="en-ID" smtClean="0"/>
              <a:t>15</a:t>
            </a:fld>
            <a:endParaRPr lang="en-ID"/>
          </a:p>
        </p:txBody>
      </p:sp>
    </p:spTree>
    <p:extLst>
      <p:ext uri="{BB962C8B-B14F-4D97-AF65-F5344CB8AC3E}">
        <p14:creationId xmlns:p14="http://schemas.microsoft.com/office/powerpoint/2010/main" val="2310495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9288D-44E3-30F6-D15D-2C3272099D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8E4350E9-26C7-4C37-6248-F6A3E8BFEE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62F76335-AC50-889C-8D45-C3DACA6CFA55}"/>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5" name="Footer Placeholder 4">
            <a:extLst>
              <a:ext uri="{FF2B5EF4-FFF2-40B4-BE49-F238E27FC236}">
                <a16:creationId xmlns:a16="http://schemas.microsoft.com/office/drawing/2014/main" id="{BEFE0796-9521-7350-416D-907687B9772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9CF6F1F-69B2-457C-9988-7CC169B876E9}"/>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3353428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39005-25FF-6330-E1EF-BBC9A758A1E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7FA9EAC-0C9B-7092-59D4-6CCB83DAA2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D613FF4-5E85-5851-E642-7C62AE6B5B71}"/>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5" name="Footer Placeholder 4">
            <a:extLst>
              <a:ext uri="{FF2B5EF4-FFF2-40B4-BE49-F238E27FC236}">
                <a16:creationId xmlns:a16="http://schemas.microsoft.com/office/drawing/2014/main" id="{63677A17-CE70-A07B-8C79-BD86BF32F34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6E5B369-396C-A2E3-5ADE-3B3255AF6527}"/>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222731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FF3DB-5754-8B6A-2667-406F283BD3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DF71D6C9-E62F-5D46-BA9D-10374A9D6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915887-475F-215E-525C-F2A52B0097E7}"/>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5" name="Footer Placeholder 4">
            <a:extLst>
              <a:ext uri="{FF2B5EF4-FFF2-40B4-BE49-F238E27FC236}">
                <a16:creationId xmlns:a16="http://schemas.microsoft.com/office/drawing/2014/main" id="{000C6155-C474-AF1F-B0DC-F0511617B73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21B1CF9-9ACE-BFFA-2EB9-6B42F3EC5517}"/>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101842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E593-7E61-7A24-1487-AA8E4907641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814571D0-657B-B36D-7C2D-1C8B39096A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7ECEDC42-580E-7254-43C3-8B261B76AE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60E4924A-3EB2-C7E9-2F91-D2576B05A83A}"/>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6" name="Footer Placeholder 5">
            <a:extLst>
              <a:ext uri="{FF2B5EF4-FFF2-40B4-BE49-F238E27FC236}">
                <a16:creationId xmlns:a16="http://schemas.microsoft.com/office/drawing/2014/main" id="{6269644D-7B69-4061-9182-7F257CD7C997}"/>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DE41FCAB-1C9D-8681-A872-577E3E1D80B2}"/>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3292967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E9AB1-B092-0395-7475-872BCC557520}"/>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DB9B2CB-9ED3-F4D3-4F94-BC6F3CE48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8279B0-9BD3-B1C5-05A1-72C1EEDB9E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3E238B0E-A9A0-7268-BA63-03AA58670C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CA46D0-4F4F-05CC-50E2-38C28EBE9C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B9F24BFE-BB96-D7C3-2063-AD8A3687606B}"/>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8" name="Footer Placeholder 7">
            <a:extLst>
              <a:ext uri="{FF2B5EF4-FFF2-40B4-BE49-F238E27FC236}">
                <a16:creationId xmlns:a16="http://schemas.microsoft.com/office/drawing/2014/main" id="{17831330-DF16-D01A-A4C7-6283E774FB70}"/>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7E7DE1D7-BF98-F331-8288-3FA9EB31304D}"/>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418959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6D0C-B45B-101E-E0EB-F042BF6638D6}"/>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3DEC3679-867B-A78B-BCF4-EE1149D39427}"/>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4" name="Footer Placeholder 3">
            <a:extLst>
              <a:ext uri="{FF2B5EF4-FFF2-40B4-BE49-F238E27FC236}">
                <a16:creationId xmlns:a16="http://schemas.microsoft.com/office/drawing/2014/main" id="{FADA4D0A-0F38-E5B8-0F80-9EE48745858C}"/>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4E600BB9-B850-0DAC-3E88-3ACC87CEB8D3}"/>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483503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1878CB-0D42-22E7-5661-699DB8CA36DF}"/>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3" name="Footer Placeholder 2">
            <a:extLst>
              <a:ext uri="{FF2B5EF4-FFF2-40B4-BE49-F238E27FC236}">
                <a16:creationId xmlns:a16="http://schemas.microsoft.com/office/drawing/2014/main" id="{A4A6A651-172A-41C3-87F6-A3E33A20C8F8}"/>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08DBCC50-9306-3E94-B749-F0E22334A738}"/>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2455133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4928-CD8B-D59C-3771-D97869F1C2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52140047-953E-1847-35C2-BA3B57A208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41A0D0EE-EDA9-E8A2-31BD-662BFDDBD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19927E-30C8-907E-2902-D9D8D5E35707}"/>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6" name="Footer Placeholder 5">
            <a:extLst>
              <a:ext uri="{FF2B5EF4-FFF2-40B4-BE49-F238E27FC236}">
                <a16:creationId xmlns:a16="http://schemas.microsoft.com/office/drawing/2014/main" id="{8BB6596E-900E-FE07-F9FC-BE111C5DE87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3DA4D1DA-8C64-EFA9-9BA5-A45866DC2517}"/>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95296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0CB3-9637-DB89-E577-73CA5619E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E57D0FEC-981B-439C-9B1C-CAE2108D3B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AEF5C393-50A2-E346-CE67-86AFC0E70A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35EB63-3068-3231-DA8A-666538E71ECA}"/>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6" name="Footer Placeholder 5">
            <a:extLst>
              <a:ext uri="{FF2B5EF4-FFF2-40B4-BE49-F238E27FC236}">
                <a16:creationId xmlns:a16="http://schemas.microsoft.com/office/drawing/2014/main" id="{718FAF3D-6B37-3B34-4DBD-809EB044E77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CB42451A-DFDD-8C7C-09E4-01EAC94B554C}"/>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827078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E9B5D-0A10-90EF-2E33-6B9E310D7FE9}"/>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98A115FD-BE38-39B9-6E1E-FBCA28A2C8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90F2BC2-7803-CA2E-5071-5A585664ADC3}"/>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5" name="Footer Placeholder 4">
            <a:extLst>
              <a:ext uri="{FF2B5EF4-FFF2-40B4-BE49-F238E27FC236}">
                <a16:creationId xmlns:a16="http://schemas.microsoft.com/office/drawing/2014/main" id="{BAA96D82-7C99-8AA2-30CF-4F7031BE675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6BAABA4-2EE0-2ACB-578D-18B0695AA8D3}"/>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1055945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C81DE-B5BE-7615-527A-645FCE7891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6AAB505A-2038-F9D6-24A1-B4968655D5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5DE6A27-E0A1-32FA-72B9-5DB6FC1C4C58}"/>
              </a:ext>
            </a:extLst>
          </p:cNvPr>
          <p:cNvSpPr>
            <a:spLocks noGrp="1"/>
          </p:cNvSpPr>
          <p:nvPr>
            <p:ph type="dt" sz="half" idx="10"/>
          </p:nvPr>
        </p:nvSpPr>
        <p:spPr/>
        <p:txBody>
          <a:bodyPr/>
          <a:lstStyle/>
          <a:p>
            <a:fld id="{CE58D1AE-8D02-478F-A6E4-6F4FFC3F1E2B}" type="datetimeFigureOut">
              <a:rPr lang="en-ID" smtClean="0"/>
              <a:t>04/01/2023</a:t>
            </a:fld>
            <a:endParaRPr lang="en-ID"/>
          </a:p>
        </p:txBody>
      </p:sp>
      <p:sp>
        <p:nvSpPr>
          <p:cNvPr id="5" name="Footer Placeholder 4">
            <a:extLst>
              <a:ext uri="{FF2B5EF4-FFF2-40B4-BE49-F238E27FC236}">
                <a16:creationId xmlns:a16="http://schemas.microsoft.com/office/drawing/2014/main" id="{80123933-88D2-6FCE-7C5C-E80E51F31B2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D780B584-384F-23E4-3E9F-1EB27041313A}"/>
              </a:ext>
            </a:extLst>
          </p:cNvPr>
          <p:cNvSpPr>
            <a:spLocks noGrp="1"/>
          </p:cNvSpPr>
          <p:nvPr>
            <p:ph type="sldNum" sz="quarter" idx="12"/>
          </p:nvPr>
        </p:nvSpPr>
        <p:spPr/>
        <p:txBody>
          <a:bodyPr/>
          <a:lstStyle/>
          <a:p>
            <a:fld id="{292E92AC-773B-4641-B893-F80DEA07B9A2}" type="slidenum">
              <a:rPr lang="en-ID" smtClean="0"/>
              <a:t>‹#›</a:t>
            </a:fld>
            <a:endParaRPr lang="en-ID"/>
          </a:p>
        </p:txBody>
      </p:sp>
    </p:spTree>
    <p:extLst>
      <p:ext uri="{BB962C8B-B14F-4D97-AF65-F5344CB8AC3E}">
        <p14:creationId xmlns:p14="http://schemas.microsoft.com/office/powerpoint/2010/main" val="227052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FBC88B-1B4E-6584-0613-EF7C6CDC78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60E8804-BD31-7EE6-2BE0-DDFC8EB8C8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9701A26-9B7E-A7D4-6FB6-58BEBC01E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58D1AE-8D02-478F-A6E4-6F4FFC3F1E2B}" type="datetimeFigureOut">
              <a:rPr lang="en-ID" smtClean="0"/>
              <a:t>04/01/2023</a:t>
            </a:fld>
            <a:endParaRPr lang="en-ID"/>
          </a:p>
        </p:txBody>
      </p:sp>
      <p:sp>
        <p:nvSpPr>
          <p:cNvPr id="5" name="Footer Placeholder 4">
            <a:extLst>
              <a:ext uri="{FF2B5EF4-FFF2-40B4-BE49-F238E27FC236}">
                <a16:creationId xmlns:a16="http://schemas.microsoft.com/office/drawing/2014/main" id="{ED42588E-DD48-591E-66C0-CCE3133D9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F07BC0A6-E6AC-AD1B-82FD-4D5C9F1246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2E92AC-773B-4641-B893-F80DEA07B9A2}" type="slidenum">
              <a:rPr lang="en-ID" smtClean="0"/>
              <a:t>‹#›</a:t>
            </a:fld>
            <a:endParaRPr lang="en-ID"/>
          </a:p>
        </p:txBody>
      </p:sp>
    </p:spTree>
    <p:extLst>
      <p:ext uri="{BB962C8B-B14F-4D97-AF65-F5344CB8AC3E}">
        <p14:creationId xmlns:p14="http://schemas.microsoft.com/office/powerpoint/2010/main" val="3008565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tenia.dosen.ittelkom-pwt.ac.id/2019/09/29/perbedaan-ui-ux-dan-usability/" TargetMode="External"/><Relationship Id="rId2" Type="http://schemas.openxmlformats.org/officeDocument/2006/relationships/hyperlink" Target="https://www.sekawanmedia.co.id/blog/desain-ui-ux/"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D2248B-59EB-9F00-EC89-123F188FBA8B}"/>
              </a:ext>
            </a:extLst>
          </p:cNvPr>
          <p:cNvSpPr txBox="1"/>
          <p:nvPr/>
        </p:nvSpPr>
        <p:spPr>
          <a:xfrm>
            <a:off x="2311774" y="2782669"/>
            <a:ext cx="4680856" cy="646331"/>
          </a:xfrm>
          <a:prstGeom prst="rect">
            <a:avLst/>
          </a:prstGeom>
          <a:noFill/>
        </p:spPr>
        <p:txBody>
          <a:bodyPr wrap="square" rtlCol="0">
            <a:spAutoFit/>
          </a:bodyPr>
          <a:lstStyle/>
          <a:p>
            <a:pPr algn="r"/>
            <a:r>
              <a:rPr lang="en-US" sz="3600" dirty="0">
                <a:latin typeface="Poppins" panose="00000500000000000000" pitchFamily="2" charset="0"/>
                <a:cs typeface="Poppins" panose="00000500000000000000" pitchFamily="2" charset="0"/>
              </a:rPr>
              <a:t>UI / UX</a:t>
            </a:r>
            <a:endParaRPr lang="en-ID" sz="3600" dirty="0">
              <a:latin typeface="Poppins" panose="00000500000000000000" pitchFamily="2" charset="0"/>
              <a:cs typeface="Poppins" panose="00000500000000000000" pitchFamily="2" charset="0"/>
            </a:endParaRPr>
          </a:p>
        </p:txBody>
      </p:sp>
      <p:pic>
        <p:nvPicPr>
          <p:cNvPr id="4" name="Picture 3">
            <a:extLst>
              <a:ext uri="{FF2B5EF4-FFF2-40B4-BE49-F238E27FC236}">
                <a16:creationId xmlns:a16="http://schemas.microsoft.com/office/drawing/2014/main" id="{B2D8F035-778A-E096-E119-EB09154AA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6939" y="1603512"/>
            <a:ext cx="1578115" cy="602657"/>
          </a:xfrm>
          <a:prstGeom prst="rect">
            <a:avLst/>
          </a:prstGeom>
        </p:spPr>
      </p:pic>
      <p:sp>
        <p:nvSpPr>
          <p:cNvPr id="5" name="TextBox 4">
            <a:extLst>
              <a:ext uri="{FF2B5EF4-FFF2-40B4-BE49-F238E27FC236}">
                <a16:creationId xmlns:a16="http://schemas.microsoft.com/office/drawing/2014/main" id="{DF81C323-21C8-A159-414D-A38C3501054B}"/>
              </a:ext>
            </a:extLst>
          </p:cNvPr>
          <p:cNvSpPr txBox="1"/>
          <p:nvPr/>
        </p:nvSpPr>
        <p:spPr>
          <a:xfrm>
            <a:off x="3691212" y="5834946"/>
            <a:ext cx="4809568" cy="369332"/>
          </a:xfrm>
          <a:prstGeom prst="rect">
            <a:avLst/>
          </a:prstGeom>
          <a:noFill/>
        </p:spPr>
        <p:txBody>
          <a:bodyPr wrap="square" rtlCol="0">
            <a:spAutoFit/>
          </a:bodyPr>
          <a:lstStyle/>
          <a:p>
            <a:pPr algn="ctr"/>
            <a:r>
              <a:rPr lang="en-US" dirty="0">
                <a:solidFill>
                  <a:schemeClr val="tx1">
                    <a:lumMod val="65000"/>
                    <a:lumOff val="35000"/>
                  </a:schemeClr>
                </a:solidFill>
                <a:latin typeface="Poppins" panose="00000500000000000000" pitchFamily="2" charset="0"/>
                <a:cs typeface="Poppins" panose="00000500000000000000" pitchFamily="2" charset="0"/>
              </a:rPr>
              <a:t>Adam – </a:t>
            </a:r>
            <a:r>
              <a:rPr lang="en-US" dirty="0" err="1">
                <a:solidFill>
                  <a:schemeClr val="tx1">
                    <a:lumMod val="65000"/>
                    <a:lumOff val="35000"/>
                  </a:schemeClr>
                </a:solidFill>
                <a:latin typeface="Poppins" panose="00000500000000000000" pitchFamily="2" charset="0"/>
                <a:cs typeface="Poppins" panose="00000500000000000000" pitchFamily="2" charset="0"/>
              </a:rPr>
              <a:t>Mu’aadz</a:t>
            </a:r>
            <a:r>
              <a:rPr lang="en-US" dirty="0">
                <a:solidFill>
                  <a:schemeClr val="tx1">
                    <a:lumMod val="65000"/>
                    <a:lumOff val="35000"/>
                  </a:schemeClr>
                </a:solidFill>
                <a:latin typeface="Poppins" panose="00000500000000000000" pitchFamily="2" charset="0"/>
                <a:cs typeface="Poppins" panose="00000500000000000000" pitchFamily="2" charset="0"/>
              </a:rPr>
              <a:t> – Qadri - Maul</a:t>
            </a:r>
            <a:endParaRPr lang="en-ID" dirty="0">
              <a:solidFill>
                <a:schemeClr val="tx1">
                  <a:lumMod val="65000"/>
                  <a:lumOff val="3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85186002"/>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amond 8">
            <a:extLst>
              <a:ext uri="{FF2B5EF4-FFF2-40B4-BE49-F238E27FC236}">
                <a16:creationId xmlns:a16="http://schemas.microsoft.com/office/drawing/2014/main" id="{93269790-3C66-69D7-3210-9F168CC16F21}"/>
              </a:ext>
            </a:extLst>
          </p:cNvPr>
          <p:cNvSpPr/>
          <p:nvPr/>
        </p:nvSpPr>
        <p:spPr>
          <a:xfrm>
            <a:off x="-914600" y="1881886"/>
            <a:ext cx="3094228" cy="3094228"/>
          </a:xfrm>
          <a:prstGeom prst="diamond">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9A00A02D-0ED4-4F08-D1C6-CE5A3489E044}"/>
              </a:ext>
            </a:extLst>
          </p:cNvPr>
          <p:cNvSpPr txBox="1"/>
          <p:nvPr/>
        </p:nvSpPr>
        <p:spPr>
          <a:xfrm>
            <a:off x="1533930" y="2705725"/>
            <a:ext cx="10156045" cy="2677656"/>
          </a:xfrm>
          <a:prstGeom prst="rect">
            <a:avLst/>
          </a:prstGeom>
          <a:noFill/>
        </p:spPr>
        <p:txBody>
          <a:bodyPr wrap="square">
            <a:spAutoFit/>
          </a:bodyPr>
          <a:lstStyle/>
          <a:p>
            <a:r>
              <a:rPr lang="en-ID" sz="2400" dirty="0" err="1">
                <a:latin typeface="Arial" panose="020B0604020202020204" pitchFamily="34" charset="0"/>
                <a:cs typeface="Arial" panose="020B0604020202020204" pitchFamily="34" charset="0"/>
              </a:rPr>
              <a:t>Interaksi</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manusia</a:t>
            </a:r>
            <a:r>
              <a:rPr lang="en-ID" sz="2400" dirty="0">
                <a:latin typeface="Arial" panose="020B0604020202020204" pitchFamily="34" charset="0"/>
                <a:cs typeface="Arial" panose="020B0604020202020204" pitchFamily="34" charset="0"/>
              </a:rPr>
              <a:t> dan </a:t>
            </a:r>
            <a:r>
              <a:rPr lang="en-ID" sz="2400" dirty="0" err="1">
                <a:latin typeface="Arial" panose="020B0604020202020204" pitchFamily="34" charset="0"/>
                <a:cs typeface="Arial" panose="020B0604020202020204" pitchFamily="34" charset="0"/>
              </a:rPr>
              <a:t>komputer</a:t>
            </a:r>
            <a:r>
              <a:rPr lang="en-ID" sz="2400" dirty="0">
                <a:latin typeface="Arial" panose="020B0604020202020204" pitchFamily="34" charset="0"/>
                <a:cs typeface="Arial" panose="020B0604020202020204" pitchFamily="34" charset="0"/>
              </a:rPr>
              <a:t> (human–computer interaction (HCI)) </a:t>
            </a:r>
            <a:r>
              <a:rPr lang="en-ID" sz="2400" dirty="0" err="1">
                <a:latin typeface="Arial" panose="020B0604020202020204" pitchFamily="34" charset="0"/>
                <a:cs typeface="Arial" panose="020B0604020202020204" pitchFamily="34" charset="0"/>
              </a:rPr>
              <a:t>adalah</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disiplin</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ilmu</a:t>
            </a:r>
            <a:r>
              <a:rPr lang="en-ID" sz="2400" dirty="0">
                <a:latin typeface="Arial" panose="020B0604020202020204" pitchFamily="34" charset="0"/>
                <a:cs typeface="Arial" panose="020B0604020202020204" pitchFamily="34" charset="0"/>
              </a:rPr>
              <a:t> yang </a:t>
            </a:r>
            <a:r>
              <a:rPr lang="en-ID" sz="2400" dirty="0" err="1">
                <a:latin typeface="Arial" panose="020B0604020202020204" pitchFamily="34" charset="0"/>
                <a:cs typeface="Arial" panose="020B0604020202020204" pitchFamily="34" charset="0"/>
              </a:rPr>
              <a:t>mempelajari</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hubungan</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antara</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manusia</a:t>
            </a:r>
            <a:r>
              <a:rPr lang="en-ID" sz="2400" dirty="0">
                <a:latin typeface="Arial" panose="020B0604020202020204" pitchFamily="34" charset="0"/>
                <a:cs typeface="Arial" panose="020B0604020202020204" pitchFamily="34" charset="0"/>
              </a:rPr>
              <a:t> dan </a:t>
            </a:r>
            <a:r>
              <a:rPr lang="en-ID" sz="2400" dirty="0" err="1">
                <a:latin typeface="Arial" panose="020B0604020202020204" pitchFamily="34" charset="0"/>
                <a:cs typeface="Arial" panose="020B0604020202020204" pitchFamily="34" charset="0"/>
              </a:rPr>
              <a:t>komputer</a:t>
            </a:r>
            <a:r>
              <a:rPr lang="en-ID" sz="2400" dirty="0">
                <a:latin typeface="Arial" panose="020B0604020202020204" pitchFamily="34" charset="0"/>
                <a:cs typeface="Arial" panose="020B0604020202020204" pitchFamily="34" charset="0"/>
              </a:rPr>
              <a:t> yang </a:t>
            </a:r>
            <a:r>
              <a:rPr lang="en-ID" sz="2400" dirty="0" err="1">
                <a:latin typeface="Arial" panose="020B0604020202020204" pitchFamily="34" charset="0"/>
                <a:cs typeface="Arial" panose="020B0604020202020204" pitchFamily="34" charset="0"/>
              </a:rPr>
              <a:t>meliputi</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perancangan</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evaluasi</a:t>
            </a:r>
            <a:r>
              <a:rPr lang="en-ID" sz="2400" dirty="0">
                <a:latin typeface="Arial" panose="020B0604020202020204" pitchFamily="34" charset="0"/>
                <a:cs typeface="Arial" panose="020B0604020202020204" pitchFamily="34" charset="0"/>
              </a:rPr>
              <a:t>, dan </a:t>
            </a:r>
            <a:r>
              <a:rPr lang="en-ID" sz="2400" dirty="0" err="1">
                <a:latin typeface="Arial" panose="020B0604020202020204" pitchFamily="34" charset="0"/>
                <a:cs typeface="Arial" panose="020B0604020202020204" pitchFamily="34" charset="0"/>
              </a:rPr>
              <a:t>implementasi</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antarmuka</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pengguna</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komputer</a:t>
            </a:r>
            <a:r>
              <a:rPr lang="en-ID" sz="2400" dirty="0">
                <a:latin typeface="Arial" panose="020B0604020202020204" pitchFamily="34" charset="0"/>
                <a:cs typeface="Arial" panose="020B0604020202020204" pitchFamily="34" charset="0"/>
              </a:rPr>
              <a:t> agar </a:t>
            </a:r>
            <a:r>
              <a:rPr lang="en-ID" sz="2400" dirty="0" err="1">
                <a:latin typeface="Arial" panose="020B0604020202020204" pitchFamily="34" charset="0"/>
                <a:cs typeface="Arial" panose="020B0604020202020204" pitchFamily="34" charset="0"/>
              </a:rPr>
              <a:t>mudah</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digunakan</a:t>
            </a:r>
            <a:r>
              <a:rPr lang="en-ID" sz="2400" dirty="0">
                <a:latin typeface="Arial" panose="020B0604020202020204" pitchFamily="34" charset="0"/>
                <a:cs typeface="Arial" panose="020B0604020202020204" pitchFamily="34" charset="0"/>
              </a:rPr>
              <a:t> oleh </a:t>
            </a:r>
            <a:r>
              <a:rPr lang="en-ID" sz="2400" dirty="0" err="1">
                <a:latin typeface="Arial" panose="020B0604020202020204" pitchFamily="34" charset="0"/>
                <a:cs typeface="Arial" panose="020B0604020202020204" pitchFamily="34" charset="0"/>
              </a:rPr>
              <a:t>manusia</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Ilmu</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ini</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berusaha</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menemukan</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cara</a:t>
            </a:r>
            <a:r>
              <a:rPr lang="en-ID" sz="2400" dirty="0">
                <a:latin typeface="Arial" panose="020B0604020202020204" pitchFamily="34" charset="0"/>
                <a:cs typeface="Arial" panose="020B0604020202020204" pitchFamily="34" charset="0"/>
              </a:rPr>
              <a:t> yang paling </a:t>
            </a:r>
            <a:r>
              <a:rPr lang="en-ID" sz="2400" dirty="0" err="1">
                <a:latin typeface="Arial" panose="020B0604020202020204" pitchFamily="34" charset="0"/>
                <a:cs typeface="Arial" panose="020B0604020202020204" pitchFamily="34" charset="0"/>
              </a:rPr>
              <a:t>efisien</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untuk</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merancang</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pesan</a:t>
            </a:r>
            <a:r>
              <a:rPr lang="en-ID" sz="2400" dirty="0">
                <a:latin typeface="Arial" panose="020B0604020202020204" pitchFamily="34" charset="0"/>
                <a:cs typeface="Arial" panose="020B0604020202020204" pitchFamily="34" charset="0"/>
              </a:rPr>
              <a:t> </a:t>
            </a:r>
            <a:r>
              <a:rPr lang="en-ID" sz="2400" dirty="0" err="1">
                <a:latin typeface="Arial" panose="020B0604020202020204" pitchFamily="34" charset="0"/>
                <a:cs typeface="Arial" panose="020B0604020202020204" pitchFamily="34" charset="0"/>
              </a:rPr>
              <a:t>elektronik</a:t>
            </a:r>
            <a:r>
              <a:rPr lang="en-ID" sz="2400" dirty="0">
                <a:latin typeface="Arial" panose="020B0604020202020204" pitchFamily="34" charset="0"/>
                <a:cs typeface="Arial" panose="020B0604020202020204" pitchFamily="34" charset="0"/>
              </a:rPr>
              <a:t>.</a:t>
            </a:r>
          </a:p>
          <a:p>
            <a:endParaRPr lang="en-ID" sz="24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DB713DA9-A739-1671-6729-2754F8B568B3}"/>
              </a:ext>
            </a:extLst>
          </p:cNvPr>
          <p:cNvSpPr txBox="1"/>
          <p:nvPr/>
        </p:nvSpPr>
        <p:spPr>
          <a:xfrm>
            <a:off x="1533931" y="1233246"/>
            <a:ext cx="10532563" cy="1754326"/>
          </a:xfrm>
          <a:prstGeom prst="rect">
            <a:avLst/>
          </a:prstGeom>
          <a:noFill/>
        </p:spPr>
        <p:txBody>
          <a:bodyPr wrap="square" rtlCol="0">
            <a:spAutoFit/>
          </a:bodyPr>
          <a:lstStyle/>
          <a:p>
            <a:r>
              <a:rPr lang="en-US" sz="3600" dirty="0" err="1">
                <a:solidFill>
                  <a:schemeClr val="tx1">
                    <a:lumMod val="75000"/>
                    <a:lumOff val="25000"/>
                  </a:schemeClr>
                </a:solidFill>
                <a:latin typeface="Poppins" panose="00000500000000000000" pitchFamily="2" charset="0"/>
                <a:cs typeface="Poppins" panose="00000500000000000000" pitchFamily="2" charset="0"/>
              </a:rPr>
              <a:t>Definisi</a:t>
            </a:r>
            <a:r>
              <a:rPr lang="en-US" sz="3600" dirty="0">
                <a:solidFill>
                  <a:schemeClr val="tx1">
                    <a:lumMod val="75000"/>
                    <a:lumOff val="25000"/>
                  </a:schemeClr>
                </a:solidFill>
                <a:latin typeface="Poppins" panose="00000500000000000000" pitchFamily="2" charset="0"/>
                <a:cs typeface="Poppins" panose="00000500000000000000" pitchFamily="2" charset="0"/>
              </a:rPr>
              <a:t> HCI (Human Computer Interaction)</a:t>
            </a:r>
          </a:p>
          <a:p>
            <a:endParaRPr lang="en-US" sz="3600" dirty="0">
              <a:solidFill>
                <a:schemeClr val="tx1">
                  <a:lumMod val="75000"/>
                  <a:lumOff val="25000"/>
                </a:schemeClr>
              </a:solidFill>
              <a:latin typeface="Poppins" panose="00000500000000000000" pitchFamily="2" charset="0"/>
              <a:cs typeface="Poppins" panose="00000500000000000000" pitchFamily="2" charset="0"/>
            </a:endParaRPr>
          </a:p>
          <a:p>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90906134"/>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00A02D-0ED4-4F08-D1C6-CE5A3489E044}"/>
              </a:ext>
            </a:extLst>
          </p:cNvPr>
          <p:cNvSpPr txBox="1"/>
          <p:nvPr/>
        </p:nvSpPr>
        <p:spPr>
          <a:xfrm>
            <a:off x="914400" y="2090318"/>
            <a:ext cx="10148047" cy="3816429"/>
          </a:xfrm>
          <a:prstGeom prst="rect">
            <a:avLst/>
          </a:prstGeom>
          <a:noFill/>
        </p:spPr>
        <p:txBody>
          <a:bodyPr wrap="square">
            <a:spAutoFit/>
          </a:bodyPr>
          <a:lstStyle/>
          <a:p>
            <a:r>
              <a:rPr lang="en-ID" sz="2200" dirty="0" err="1">
                <a:solidFill>
                  <a:schemeClr val="tx1">
                    <a:lumMod val="75000"/>
                    <a:lumOff val="25000"/>
                  </a:schemeClr>
                </a:solidFill>
                <a:latin typeface="Poppins" panose="00000500000000000000" pitchFamily="2" charset="0"/>
                <a:cs typeface="Poppins" panose="00000500000000000000" pitchFamily="2" charset="0"/>
              </a:rPr>
              <a:t>Secara</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urutan</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sejarah</a:t>
            </a:r>
            <a:r>
              <a:rPr lang="en-ID" sz="2200" dirty="0">
                <a:solidFill>
                  <a:schemeClr val="tx1">
                    <a:lumMod val="75000"/>
                    <a:lumOff val="25000"/>
                  </a:schemeClr>
                </a:solidFill>
                <a:latin typeface="Poppins" panose="00000500000000000000" pitchFamily="2" charset="0"/>
                <a:cs typeface="Poppins" panose="00000500000000000000" pitchFamily="2" charset="0"/>
              </a:rPr>
              <a:t> HCI </a:t>
            </a:r>
            <a:r>
              <a:rPr lang="en-ID" sz="2200" dirty="0" err="1">
                <a:solidFill>
                  <a:schemeClr val="tx1">
                    <a:lumMod val="75000"/>
                    <a:lumOff val="25000"/>
                  </a:schemeClr>
                </a:solidFill>
                <a:latin typeface="Poppins" panose="00000500000000000000" pitchFamily="2" charset="0"/>
                <a:cs typeface="Poppins" panose="00000500000000000000" pitchFamily="2" charset="0"/>
              </a:rPr>
              <a:t>dari</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tahun</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ke</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tahun</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dapat</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dilihat</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sebagai</a:t>
            </a:r>
            <a:r>
              <a:rPr lang="en-ID" sz="2200" dirty="0">
                <a:solidFill>
                  <a:schemeClr val="tx1">
                    <a:lumMod val="75000"/>
                    <a:lumOff val="25000"/>
                  </a:schemeClr>
                </a:solidFill>
                <a:latin typeface="Poppins" panose="00000500000000000000" pitchFamily="2" charset="0"/>
                <a:cs typeface="Poppins" panose="00000500000000000000" pitchFamily="2" charset="0"/>
              </a:rPr>
              <a:t> </a:t>
            </a:r>
            <a:r>
              <a:rPr lang="en-ID" sz="2200" dirty="0" err="1">
                <a:solidFill>
                  <a:schemeClr val="tx1">
                    <a:lumMod val="75000"/>
                    <a:lumOff val="25000"/>
                  </a:schemeClr>
                </a:solidFill>
                <a:latin typeface="Poppins" panose="00000500000000000000" pitchFamily="2" charset="0"/>
                <a:cs typeface="Poppins" panose="00000500000000000000" pitchFamily="2" charset="0"/>
              </a:rPr>
              <a:t>berikut</a:t>
            </a:r>
            <a:r>
              <a:rPr lang="en-ID" sz="2200" dirty="0">
                <a:solidFill>
                  <a:schemeClr val="tx1">
                    <a:lumMod val="75000"/>
                    <a:lumOff val="25000"/>
                  </a:schemeClr>
                </a:solidFill>
                <a:latin typeface="Poppins" panose="00000500000000000000" pitchFamily="2" charset="0"/>
                <a:cs typeface="Poppins" panose="00000500000000000000" pitchFamily="2" charset="0"/>
              </a:rPr>
              <a:t> :</a:t>
            </a:r>
          </a:p>
          <a:p>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1945 – </a:t>
            </a:r>
            <a:r>
              <a:rPr lang="en-ID" sz="2200" dirty="0" err="1">
                <a:solidFill>
                  <a:schemeClr val="tx1">
                    <a:lumMod val="75000"/>
                    <a:lumOff val="25000"/>
                  </a:schemeClr>
                </a:solidFill>
                <a:latin typeface="Poppins" panose="00000500000000000000" pitchFamily="2" charset="0"/>
                <a:cs typeface="Poppins" panose="00000500000000000000" pitchFamily="2" charset="0"/>
              </a:rPr>
              <a:t>Memex</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1969 – Flex</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1973 – Alto</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1974 – Bravo</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1974 – IBM Portable Computer</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1983 – Apple Lisa</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1984 – Apple Macintosh</a:t>
            </a:r>
            <a:br>
              <a:rPr lang="en-ID" sz="2200" dirty="0">
                <a:solidFill>
                  <a:schemeClr val="tx1">
                    <a:lumMod val="75000"/>
                    <a:lumOff val="25000"/>
                  </a:schemeClr>
                </a:solidFill>
                <a:latin typeface="Poppins" panose="00000500000000000000" pitchFamily="2" charset="0"/>
                <a:cs typeface="Poppins" panose="00000500000000000000" pitchFamily="2" charset="0"/>
              </a:rPr>
            </a:br>
            <a:r>
              <a:rPr lang="en-ID" sz="2200" dirty="0">
                <a:solidFill>
                  <a:schemeClr val="tx1">
                    <a:lumMod val="75000"/>
                    <a:lumOff val="25000"/>
                  </a:schemeClr>
                </a:solidFill>
                <a:latin typeface="Poppins" panose="00000500000000000000" pitchFamily="2" charset="0"/>
                <a:cs typeface="Poppins" panose="00000500000000000000" pitchFamily="2" charset="0"/>
              </a:rPr>
              <a:t>1987 – Microsoft Windows</a:t>
            </a:r>
          </a:p>
        </p:txBody>
      </p:sp>
      <p:sp>
        <p:nvSpPr>
          <p:cNvPr id="14" name="TextBox 13">
            <a:extLst>
              <a:ext uri="{FF2B5EF4-FFF2-40B4-BE49-F238E27FC236}">
                <a16:creationId xmlns:a16="http://schemas.microsoft.com/office/drawing/2014/main" id="{DB713DA9-A739-1671-6729-2754F8B568B3}"/>
              </a:ext>
            </a:extLst>
          </p:cNvPr>
          <p:cNvSpPr txBox="1"/>
          <p:nvPr/>
        </p:nvSpPr>
        <p:spPr>
          <a:xfrm>
            <a:off x="1533931" y="899417"/>
            <a:ext cx="10407057" cy="646331"/>
          </a:xfrm>
          <a:prstGeom prst="rect">
            <a:avLst/>
          </a:prstGeom>
          <a:solidFill>
            <a:schemeClr val="accent3">
              <a:lumMod val="40000"/>
              <a:lumOff val="60000"/>
            </a:schemeClr>
          </a:solidFill>
        </p:spPr>
        <p:txBody>
          <a:bodyPr wrap="square" rtlCol="0">
            <a:spAutoFit/>
          </a:bodyPr>
          <a:lstStyle/>
          <a:p>
            <a:r>
              <a:rPr lang="en-US" sz="3600" dirty="0">
                <a:solidFill>
                  <a:schemeClr val="tx1">
                    <a:lumMod val="75000"/>
                    <a:lumOff val="25000"/>
                  </a:schemeClr>
                </a:solidFill>
                <a:latin typeface="Poppins" panose="00000500000000000000" pitchFamily="2" charset="0"/>
                <a:cs typeface="Poppins" panose="00000500000000000000" pitchFamily="2" charset="0"/>
              </a:rPr>
              <a:t>Sejarah HCI (Human Computer Interaction)</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cxnSp>
        <p:nvCxnSpPr>
          <p:cNvPr id="16" name="Straight Arrow Connector 15">
            <a:extLst>
              <a:ext uri="{FF2B5EF4-FFF2-40B4-BE49-F238E27FC236}">
                <a16:creationId xmlns:a16="http://schemas.microsoft.com/office/drawing/2014/main" id="{A4CAD38A-0415-DCD0-039B-63986ACE8933}"/>
              </a:ext>
            </a:extLst>
          </p:cNvPr>
          <p:cNvCxnSpPr>
            <a:cxnSpLocks/>
          </p:cNvCxnSpPr>
          <p:nvPr/>
        </p:nvCxnSpPr>
        <p:spPr>
          <a:xfrm>
            <a:off x="11062447" y="3829255"/>
            <a:ext cx="699247" cy="0"/>
          </a:xfrm>
          <a:prstGeom prst="straightConnector1">
            <a:avLst/>
          </a:prstGeom>
          <a:ln w="7620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9107387"/>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A4CAD38A-0415-DCD0-039B-63986ACE8933}"/>
              </a:ext>
            </a:extLst>
          </p:cNvPr>
          <p:cNvCxnSpPr>
            <a:cxnSpLocks/>
          </p:cNvCxnSpPr>
          <p:nvPr/>
        </p:nvCxnSpPr>
        <p:spPr>
          <a:xfrm>
            <a:off x="10976315" y="3795501"/>
            <a:ext cx="695732" cy="0"/>
          </a:xfrm>
          <a:prstGeom prst="straightConnector1">
            <a:avLst/>
          </a:prstGeom>
          <a:ln w="7620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D16AF4B-DDA9-9111-A159-FB4846C2CDE1}"/>
              </a:ext>
            </a:extLst>
          </p:cNvPr>
          <p:cNvSpPr txBox="1"/>
          <p:nvPr/>
        </p:nvSpPr>
        <p:spPr>
          <a:xfrm>
            <a:off x="1234440" y="627830"/>
            <a:ext cx="10437607" cy="646331"/>
          </a:xfrm>
          <a:prstGeom prst="rect">
            <a:avLst/>
          </a:prstGeom>
          <a:noFill/>
        </p:spPr>
        <p:txBody>
          <a:bodyPr wrap="square">
            <a:spAutoFit/>
          </a:bodyPr>
          <a:lstStyle/>
          <a:p>
            <a:r>
              <a:rPr lang="en-ID" dirty="0">
                <a:latin typeface="Poppins" panose="00000500000000000000" pitchFamily="2" charset="0"/>
                <a:cs typeface="Poppins" panose="00000500000000000000" pitchFamily="2" charset="0"/>
              </a:rPr>
              <a:t>Ide </a:t>
            </a:r>
            <a:r>
              <a:rPr lang="en-ID" dirty="0" err="1">
                <a:latin typeface="Poppins" panose="00000500000000000000" pitchFamily="2" charset="0"/>
                <a:cs typeface="Poppins" panose="00000500000000000000" pitchFamily="2" charset="0"/>
              </a:rPr>
              <a:t>komputer</a:t>
            </a:r>
            <a:r>
              <a:rPr lang="en-ID" dirty="0">
                <a:latin typeface="Poppins" panose="00000500000000000000" pitchFamily="2" charset="0"/>
                <a:cs typeface="Poppins" panose="00000500000000000000" pitchFamily="2" charset="0"/>
              </a:rPr>
              <a:t> digital </a:t>
            </a:r>
            <a:r>
              <a:rPr lang="en-ID" dirty="0" err="1">
                <a:latin typeface="Poppins" panose="00000500000000000000" pitchFamily="2" charset="0"/>
                <a:cs typeface="Poppins" panose="00000500000000000000" pitchFamily="2" charset="0"/>
              </a:rPr>
              <a:t>sebenarnya</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berawal</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dari</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tahun</a:t>
            </a:r>
            <a:r>
              <a:rPr lang="en-ID" dirty="0">
                <a:latin typeface="Poppins" panose="00000500000000000000" pitchFamily="2" charset="0"/>
                <a:cs typeface="Poppins" panose="00000500000000000000" pitchFamily="2" charset="0"/>
              </a:rPr>
              <a:t> 1700-an dan 1800-an </a:t>
            </a:r>
            <a:r>
              <a:rPr lang="en-ID" dirty="0" err="1">
                <a:latin typeface="Poppins" panose="00000500000000000000" pitchFamily="2" charset="0"/>
                <a:cs typeface="Poppins" panose="00000500000000000000" pitchFamily="2" charset="0"/>
              </a:rPr>
              <a:t>namun</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teknologinya</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baru</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mulai</a:t>
            </a:r>
            <a:r>
              <a:rPr lang="en-ID" dirty="0">
                <a:latin typeface="Poppins" panose="00000500000000000000" pitchFamily="2" charset="0"/>
                <a:cs typeface="Poppins" panose="00000500000000000000" pitchFamily="2" charset="0"/>
              </a:rPr>
              <a:t> </a:t>
            </a:r>
            <a:r>
              <a:rPr lang="en-ID" dirty="0" err="1">
                <a:latin typeface="Poppins" panose="00000500000000000000" pitchFamily="2" charset="0"/>
                <a:cs typeface="Poppins" panose="00000500000000000000" pitchFamily="2" charset="0"/>
              </a:rPr>
              <a:t>tersedia</a:t>
            </a:r>
            <a:r>
              <a:rPr lang="en-ID" dirty="0">
                <a:latin typeface="Poppins" panose="00000500000000000000" pitchFamily="2" charset="0"/>
                <a:cs typeface="Poppins" panose="00000500000000000000" pitchFamily="2" charset="0"/>
              </a:rPr>
              <a:t> pada </a:t>
            </a:r>
            <a:r>
              <a:rPr lang="en-ID" dirty="0" err="1">
                <a:latin typeface="Poppins" panose="00000500000000000000" pitchFamily="2" charset="0"/>
                <a:cs typeface="Poppins" panose="00000500000000000000" pitchFamily="2" charset="0"/>
              </a:rPr>
              <a:t>tahun</a:t>
            </a:r>
            <a:r>
              <a:rPr lang="en-ID" dirty="0">
                <a:latin typeface="Poppins" panose="00000500000000000000" pitchFamily="2" charset="0"/>
                <a:cs typeface="Poppins" panose="00000500000000000000" pitchFamily="2" charset="0"/>
              </a:rPr>
              <a:t> 1940-an dan 1950-an.</a:t>
            </a:r>
          </a:p>
        </p:txBody>
      </p:sp>
      <p:sp>
        <p:nvSpPr>
          <p:cNvPr id="8" name="TextBox 7">
            <a:extLst>
              <a:ext uri="{FF2B5EF4-FFF2-40B4-BE49-F238E27FC236}">
                <a16:creationId xmlns:a16="http://schemas.microsoft.com/office/drawing/2014/main" id="{C7EB0B75-63EA-5BD9-21E0-893C03F3BCBE}"/>
              </a:ext>
            </a:extLst>
          </p:cNvPr>
          <p:cNvSpPr txBox="1"/>
          <p:nvPr/>
        </p:nvSpPr>
        <p:spPr>
          <a:xfrm>
            <a:off x="1234440" y="1364035"/>
            <a:ext cx="6726218" cy="369332"/>
          </a:xfrm>
          <a:prstGeom prst="rect">
            <a:avLst/>
          </a:prstGeom>
          <a:noFill/>
        </p:spPr>
        <p:txBody>
          <a:bodyPr wrap="square">
            <a:spAutoFit/>
          </a:bodyPr>
          <a:lstStyle/>
          <a:p>
            <a:r>
              <a:rPr lang="en-ID" sz="1800" b="1" dirty="0" err="1">
                <a:latin typeface="Poppins" panose="00000500000000000000" pitchFamily="2" charset="0"/>
                <a:cs typeface="Poppins" panose="00000500000000000000" pitchFamily="2" charset="0"/>
              </a:rPr>
              <a:t>Vannevar</a:t>
            </a:r>
            <a:r>
              <a:rPr lang="en-ID" sz="1800" b="1" dirty="0">
                <a:latin typeface="Poppins" panose="00000500000000000000" pitchFamily="2" charset="0"/>
                <a:cs typeface="Poppins" panose="00000500000000000000" pitchFamily="2" charset="0"/>
              </a:rPr>
              <a:t> Bush (1890 - 1974</a:t>
            </a:r>
            <a:r>
              <a:rPr lang="en-ID" b="1" dirty="0">
                <a:latin typeface="Poppins" panose="00000500000000000000" pitchFamily="2" charset="0"/>
                <a:cs typeface="Poppins" panose="00000500000000000000" pitchFamily="2" charset="0"/>
              </a:rPr>
              <a:t>)</a:t>
            </a:r>
          </a:p>
        </p:txBody>
      </p:sp>
      <p:sp>
        <p:nvSpPr>
          <p:cNvPr id="10" name="TextBox 9">
            <a:extLst>
              <a:ext uri="{FF2B5EF4-FFF2-40B4-BE49-F238E27FC236}">
                <a16:creationId xmlns:a16="http://schemas.microsoft.com/office/drawing/2014/main" id="{6F48BF84-FBE2-568E-699A-1C0945ED0EFA}"/>
              </a:ext>
            </a:extLst>
          </p:cNvPr>
          <p:cNvSpPr txBox="1"/>
          <p:nvPr/>
        </p:nvSpPr>
        <p:spPr>
          <a:xfrm>
            <a:off x="1234440" y="1810416"/>
            <a:ext cx="9200477" cy="923330"/>
          </a:xfrm>
          <a:prstGeom prst="rect">
            <a:avLst/>
          </a:prstGeom>
          <a:noFill/>
        </p:spPr>
        <p:txBody>
          <a:bodyPr wrap="square">
            <a:spAutoFit/>
          </a:bodyPr>
          <a:lstStyle/>
          <a:p>
            <a:r>
              <a:rPr lang="en-ID" sz="1800" dirty="0">
                <a:latin typeface="Poppins" panose="00000500000000000000" pitchFamily="2" charset="0"/>
                <a:cs typeface="Poppins" panose="00000500000000000000" pitchFamily="2" charset="0"/>
              </a:rPr>
              <a:t>Bush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mengidentifikasi</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permasalahan</a:t>
            </a:r>
            <a:r>
              <a:rPr lang="en-ID" sz="1800" dirty="0">
                <a:latin typeface="Poppins" panose="00000500000000000000" pitchFamily="2" charset="0"/>
                <a:cs typeface="Poppins" panose="00000500000000000000" pitchFamily="2" charset="0"/>
              </a:rPr>
              <a:t> information storage and retrieval problem, </a:t>
            </a:r>
            <a:r>
              <a:rPr lang="en-ID" sz="1800" dirty="0" err="1">
                <a:latin typeface="Poppins" panose="00000500000000000000" pitchFamily="2" charset="0"/>
                <a:cs typeface="Poppins" panose="00000500000000000000" pitchFamily="2" charset="0"/>
              </a:rPr>
              <a:t>dimana</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pengetahuan</a:t>
            </a:r>
            <a:r>
              <a:rPr lang="en-ID" sz="1800" dirty="0">
                <a:latin typeface="Poppins" panose="00000500000000000000" pitchFamily="2" charset="0"/>
                <a:cs typeface="Poppins" panose="00000500000000000000" pitchFamily="2" charset="0"/>
              </a:rPr>
              <a:t> yang </a:t>
            </a:r>
            <a:r>
              <a:rPr lang="en-ID" sz="1800" dirty="0" err="1">
                <a:latin typeface="Poppins" panose="00000500000000000000" pitchFamily="2" charset="0"/>
                <a:cs typeface="Poppins" panose="00000500000000000000" pitchFamily="2" charset="0"/>
              </a:rPr>
              <a:t>baru</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tidak</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menjangkau</a:t>
            </a:r>
            <a:r>
              <a:rPr lang="en-ID" sz="1800" dirty="0">
                <a:latin typeface="Poppins" panose="00000500000000000000" pitchFamily="2" charset="0"/>
                <a:cs typeface="Poppins" panose="00000500000000000000" pitchFamily="2" charset="0"/>
              </a:rPr>
              <a:t> orang – orang yang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memanfaatkannya</a:t>
            </a:r>
            <a:endParaRPr lang="en-ID" dirty="0">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DC99E9CC-88B8-7CA1-3D0D-8B1B1D97BB30}"/>
              </a:ext>
            </a:extLst>
          </p:cNvPr>
          <p:cNvSpPr txBox="1"/>
          <p:nvPr/>
        </p:nvSpPr>
        <p:spPr>
          <a:xfrm>
            <a:off x="1234440" y="2900669"/>
            <a:ext cx="6726218" cy="369332"/>
          </a:xfrm>
          <a:prstGeom prst="rect">
            <a:avLst/>
          </a:prstGeom>
          <a:noFill/>
        </p:spPr>
        <p:txBody>
          <a:bodyPr wrap="square">
            <a:spAutoFit/>
          </a:bodyPr>
          <a:lstStyle/>
          <a:p>
            <a:r>
              <a:rPr lang="en-ID" sz="1800" b="1" dirty="0">
                <a:latin typeface="Poppins" panose="00000500000000000000" pitchFamily="2" charset="0"/>
                <a:cs typeface="Poppins" panose="00000500000000000000" pitchFamily="2" charset="0"/>
              </a:rPr>
              <a:t>Bush’s</a:t>
            </a:r>
          </a:p>
        </p:txBody>
      </p:sp>
      <p:sp>
        <p:nvSpPr>
          <p:cNvPr id="14" name="TextBox 13">
            <a:extLst>
              <a:ext uri="{FF2B5EF4-FFF2-40B4-BE49-F238E27FC236}">
                <a16:creationId xmlns:a16="http://schemas.microsoft.com/office/drawing/2014/main" id="{9BE5872C-E068-F5E4-5904-E0618BEA8B07}"/>
              </a:ext>
            </a:extLst>
          </p:cNvPr>
          <p:cNvSpPr txBox="1"/>
          <p:nvPr/>
        </p:nvSpPr>
        <p:spPr>
          <a:xfrm>
            <a:off x="1234440" y="3270001"/>
            <a:ext cx="9594925" cy="3377078"/>
          </a:xfrm>
          <a:prstGeom prst="rect">
            <a:avLst/>
          </a:prstGeom>
          <a:noFill/>
        </p:spPr>
        <p:txBody>
          <a:bodyPr wrap="square">
            <a:spAutoFit/>
          </a:bodyPr>
          <a:lstStyle/>
          <a:p>
            <a:pPr>
              <a:lnSpc>
                <a:spcPct val="150000"/>
              </a:lnSpc>
            </a:pPr>
            <a:r>
              <a:rPr lang="en-ID" sz="1800" dirty="0">
                <a:latin typeface="Poppins" panose="00000500000000000000" pitchFamily="2" charset="0"/>
                <a:cs typeface="Poppins" panose="00000500000000000000" pitchFamily="2" charset="0"/>
              </a:rPr>
              <a:t>Menyusun Hypertext </a:t>
            </a:r>
            <a:r>
              <a:rPr lang="en-ID" sz="1800" dirty="0" err="1">
                <a:latin typeface="Poppins" panose="00000500000000000000" pitchFamily="2" charset="0"/>
                <a:cs typeface="Poppins" panose="00000500000000000000" pitchFamily="2" charset="0"/>
              </a:rPr>
              <a:t>dengan</a:t>
            </a:r>
            <a:r>
              <a:rPr lang="en-ID" sz="1800" dirty="0">
                <a:latin typeface="Poppins" panose="00000500000000000000" pitchFamily="2" charset="0"/>
                <a:cs typeface="Poppins" panose="00000500000000000000" pitchFamily="2" charset="0"/>
              </a:rPr>
              <a:t> World Wide Web (WWW)</a:t>
            </a:r>
          </a:p>
          <a:p>
            <a:pPr>
              <a:lnSpc>
                <a:spcPct val="150000"/>
              </a:lnSpc>
            </a:pP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Sebuah</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alat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dimana</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individu</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menyimpan</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semua</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buku</a:t>
            </a:r>
            <a:r>
              <a:rPr lang="en-ID" sz="1800" dirty="0">
                <a:latin typeface="Poppins" panose="00000500000000000000" pitchFamily="2" charset="0"/>
                <a:cs typeface="Poppins" panose="00000500000000000000" pitchFamily="2" charset="0"/>
              </a:rPr>
              <a:t> – </a:t>
            </a:r>
            <a:r>
              <a:rPr lang="en-ID" sz="1800" dirty="0" err="1">
                <a:latin typeface="Poppins" panose="00000500000000000000" pitchFamily="2" charset="0"/>
                <a:cs typeface="Poppins" panose="00000500000000000000" pitchFamily="2" charset="0"/>
              </a:rPr>
              <a:t>buuku</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pribadi</a:t>
            </a:r>
            <a:r>
              <a:rPr lang="en-ID" sz="1800" dirty="0">
                <a:latin typeface="Poppins" panose="00000500000000000000" pitchFamily="2" charset="0"/>
                <a:cs typeface="Poppins" panose="00000500000000000000" pitchFamily="2" charset="0"/>
              </a:rPr>
              <a:t> , record, </a:t>
            </a:r>
            <a:r>
              <a:rPr lang="en-ID" sz="1800" dirty="0" err="1">
                <a:latin typeface="Poppins" panose="00000500000000000000" pitchFamily="2" charset="0"/>
                <a:cs typeface="Poppins" panose="00000500000000000000" pitchFamily="2" charset="0"/>
              </a:rPr>
              <a:t>komunikasi</a:t>
            </a:r>
            <a:r>
              <a:rPr lang="en-ID" sz="1800" dirty="0">
                <a:latin typeface="Poppins" panose="00000500000000000000" pitchFamily="2" charset="0"/>
                <a:cs typeface="Poppins" panose="00000500000000000000" pitchFamily="2" charset="0"/>
              </a:rPr>
              <a:t> dan lain – lain.</a:t>
            </a:r>
          </a:p>
          <a:p>
            <a:pPr>
              <a:lnSpc>
                <a:spcPct val="150000"/>
              </a:lnSpc>
            </a:pPr>
            <a:r>
              <a:rPr lang="en-ID" sz="1800" dirty="0">
                <a:latin typeface="Poppins" panose="00000500000000000000" pitchFamily="2" charset="0"/>
                <a:cs typeface="Poppins" panose="00000500000000000000" pitchFamily="2" charset="0"/>
              </a:rPr>
              <a:t>• Item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diambil</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secara</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cepat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melalui</a:t>
            </a:r>
            <a:r>
              <a:rPr lang="en-ID" sz="1800" dirty="0">
                <a:latin typeface="Poppins" panose="00000500000000000000" pitchFamily="2" charset="0"/>
                <a:cs typeface="Poppins" panose="00000500000000000000" pitchFamily="2" charset="0"/>
              </a:rPr>
              <a:t> indexing, kata </a:t>
            </a:r>
            <a:r>
              <a:rPr lang="en-ID" sz="1800" dirty="0" err="1">
                <a:latin typeface="Poppins" panose="00000500000000000000" pitchFamily="2" charset="0"/>
                <a:cs typeface="Poppins" panose="00000500000000000000" pitchFamily="2" charset="0"/>
              </a:rPr>
              <a:t>kunci</a:t>
            </a:r>
            <a:r>
              <a:rPr lang="en-ID" sz="1800" dirty="0">
                <a:latin typeface="Poppins" panose="00000500000000000000" pitchFamily="2" charset="0"/>
                <a:cs typeface="Poppins" panose="00000500000000000000" pitchFamily="2" charset="0"/>
              </a:rPr>
              <a:t>, dan </a:t>
            </a:r>
            <a:r>
              <a:rPr lang="en-ID" sz="1800" dirty="0" err="1">
                <a:latin typeface="Poppins" panose="00000500000000000000" pitchFamily="2" charset="0"/>
                <a:cs typeface="Poppins" panose="00000500000000000000" pitchFamily="2" charset="0"/>
              </a:rPr>
              <a:t>referensi</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silang</a:t>
            </a:r>
            <a:r>
              <a:rPr lang="en-ID" sz="1800" dirty="0">
                <a:latin typeface="Poppins" panose="00000500000000000000" pitchFamily="2" charset="0"/>
                <a:cs typeface="Poppins" panose="00000500000000000000" pitchFamily="2" charset="0"/>
              </a:rPr>
              <a:t>.</a:t>
            </a:r>
          </a:p>
          <a:p>
            <a:pPr>
              <a:lnSpc>
                <a:spcPct val="150000"/>
              </a:lnSpc>
            </a:pP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menganotasi</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teks</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dengan</a:t>
            </a:r>
            <a:r>
              <a:rPr lang="en-ID" sz="1800" dirty="0">
                <a:latin typeface="Poppins" panose="00000500000000000000" pitchFamily="2" charset="0"/>
                <a:cs typeface="Poppins" panose="00000500000000000000" pitchFamily="2" charset="0"/>
              </a:rPr>
              <a:t> margin notes, comments,...</a:t>
            </a:r>
          </a:p>
          <a:p>
            <a:pPr>
              <a:lnSpc>
                <a:spcPct val="150000"/>
              </a:lnSpc>
            </a:pP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Dapat</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membentuk</a:t>
            </a:r>
            <a:r>
              <a:rPr lang="en-ID" sz="1800" dirty="0">
                <a:latin typeface="Poppins" panose="00000500000000000000" pitchFamily="2" charset="0"/>
                <a:cs typeface="Poppins" panose="00000500000000000000" pitchFamily="2" charset="0"/>
              </a:rPr>
              <a:t> dan </a:t>
            </a:r>
            <a:r>
              <a:rPr lang="en-ID" sz="1800" dirty="0" err="1">
                <a:latin typeface="Poppins" panose="00000500000000000000" pitchFamily="2" charset="0"/>
                <a:cs typeface="Poppins" panose="00000500000000000000" pitchFamily="2" charset="0"/>
              </a:rPr>
              <a:t>menyimpan</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jejak</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melalui</a:t>
            </a:r>
            <a:r>
              <a:rPr lang="en-ID" sz="1800" dirty="0">
                <a:latin typeface="Poppins" panose="00000500000000000000" pitchFamily="2" charset="0"/>
                <a:cs typeface="Poppins" panose="00000500000000000000" pitchFamily="2" charset="0"/>
              </a:rPr>
              <a:t> material</a:t>
            </a:r>
          </a:p>
          <a:p>
            <a:pPr>
              <a:lnSpc>
                <a:spcPct val="150000"/>
              </a:lnSpc>
            </a:pP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Berlaku</a:t>
            </a:r>
            <a:r>
              <a:rPr lang="en-ID" sz="1800" dirty="0">
                <a:latin typeface="Poppins" panose="00000500000000000000" pitchFamily="2" charset="0"/>
                <a:cs typeface="Poppins" panose="00000500000000000000" pitchFamily="2" charset="0"/>
              </a:rPr>
              <a:t> </a:t>
            </a:r>
            <a:r>
              <a:rPr lang="en-ID" sz="1800" dirty="0" err="1">
                <a:latin typeface="Poppins" panose="00000500000000000000" pitchFamily="2" charset="0"/>
                <a:cs typeface="Poppins" panose="00000500000000000000" pitchFamily="2" charset="0"/>
              </a:rPr>
              <a:t>sebagai</a:t>
            </a:r>
            <a:r>
              <a:rPr lang="en-ID" sz="1800" dirty="0">
                <a:latin typeface="Poppins" panose="00000500000000000000" pitchFamily="2" charset="0"/>
                <a:cs typeface="Poppins" panose="00000500000000000000" pitchFamily="2" charset="0"/>
              </a:rPr>
              <a:t> external memory</a:t>
            </a:r>
            <a:r>
              <a:rPr lang="en-ID"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256053760"/>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00A02D-0ED4-4F08-D1C6-CE5A3489E044}"/>
              </a:ext>
            </a:extLst>
          </p:cNvPr>
          <p:cNvSpPr txBox="1"/>
          <p:nvPr/>
        </p:nvSpPr>
        <p:spPr>
          <a:xfrm>
            <a:off x="888472" y="571521"/>
            <a:ext cx="9761598" cy="5324535"/>
          </a:xfrm>
          <a:prstGeom prst="rect">
            <a:avLst/>
          </a:prstGeom>
          <a:noFill/>
        </p:spPr>
        <p:txBody>
          <a:bodyPr wrap="square">
            <a:spAutoFit/>
          </a:bodyPr>
          <a:lstStyle/>
          <a:p>
            <a:r>
              <a:rPr lang="en-ID" sz="2000" b="1" dirty="0">
                <a:solidFill>
                  <a:schemeClr val="tx1">
                    <a:lumMod val="75000"/>
                    <a:lumOff val="25000"/>
                  </a:schemeClr>
                </a:solidFill>
                <a:latin typeface="Poppins" panose="00000500000000000000" pitchFamily="2" charset="0"/>
                <a:cs typeface="Poppins" panose="00000500000000000000" pitchFamily="2" charset="0"/>
              </a:rPr>
              <a:t>MIT Architectural Machine Group</a:t>
            </a:r>
          </a:p>
          <a:p>
            <a:r>
              <a:rPr lang="en-ID" sz="2000" dirty="0">
                <a:solidFill>
                  <a:schemeClr val="tx1">
                    <a:lumMod val="75000"/>
                    <a:lumOff val="25000"/>
                  </a:schemeClr>
                </a:solidFill>
                <a:latin typeface="Poppins" panose="00000500000000000000" pitchFamily="2" charset="0"/>
                <a:cs typeface="Poppins" panose="00000500000000000000" pitchFamily="2" charset="0"/>
              </a:rPr>
              <a:t>- Nicholas Negroponte (1969 – 1980+)</a:t>
            </a:r>
          </a:p>
          <a:p>
            <a:r>
              <a:rPr lang="en-ID" sz="2000" dirty="0">
                <a:solidFill>
                  <a:schemeClr val="tx1">
                    <a:lumMod val="75000"/>
                    <a:lumOff val="25000"/>
                  </a:schemeClr>
                </a:solidFill>
                <a:latin typeface="Poppins" panose="00000500000000000000" pitchFamily="2" charset="0"/>
                <a:cs typeface="Poppins" panose="00000500000000000000" pitchFamily="2" charset="0"/>
              </a:rPr>
              <a:t>- Banyak </a:t>
            </a:r>
            <a:r>
              <a:rPr lang="en-ID" sz="2000" dirty="0" err="1">
                <a:solidFill>
                  <a:schemeClr val="tx1">
                    <a:lumMod val="75000"/>
                    <a:lumOff val="25000"/>
                  </a:schemeClr>
                </a:solidFill>
                <a:latin typeface="Poppins" panose="00000500000000000000" pitchFamily="2" charset="0"/>
                <a:cs typeface="Poppins" panose="00000500000000000000" pitchFamily="2" charset="0"/>
              </a:rPr>
              <a:t>penemuan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penting</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diantaranya</a:t>
            </a:r>
            <a:r>
              <a:rPr lang="en-ID" sz="2000" dirty="0">
                <a:solidFill>
                  <a:schemeClr val="tx1">
                    <a:lumMod val="75000"/>
                    <a:lumOff val="25000"/>
                  </a:schemeClr>
                </a:solidFill>
                <a:latin typeface="Poppins" panose="00000500000000000000" pitchFamily="2" charset="0"/>
                <a:cs typeface="Poppins" panose="00000500000000000000" pitchFamily="2" charset="0"/>
              </a:rPr>
              <a:t> :</a:t>
            </a:r>
          </a:p>
          <a:p>
            <a:r>
              <a:rPr lang="en-ID" sz="2000" dirty="0">
                <a:solidFill>
                  <a:schemeClr val="tx1">
                    <a:lumMod val="75000"/>
                    <a:lumOff val="25000"/>
                  </a:schemeClr>
                </a:solidFill>
                <a:latin typeface="Poppins" panose="00000500000000000000" pitchFamily="2" charset="0"/>
                <a:cs typeface="Poppins" panose="00000500000000000000" pitchFamily="2" charset="0"/>
              </a:rPr>
              <a:t>1. Display </a:t>
            </a:r>
            <a:r>
              <a:rPr lang="en-ID" sz="2000" dirty="0" err="1">
                <a:solidFill>
                  <a:schemeClr val="tx1">
                    <a:lumMod val="75000"/>
                    <a:lumOff val="25000"/>
                  </a:schemeClr>
                </a:solidFill>
                <a:latin typeface="Poppins" panose="00000500000000000000" pitchFamily="2" charset="0"/>
                <a:cs typeface="Poppins" panose="00000500000000000000" pitchFamily="2" charset="0"/>
              </a:rPr>
              <a:t>seukuran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dinding</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a:p>
            <a:r>
              <a:rPr lang="en-ID" sz="2000" dirty="0">
                <a:solidFill>
                  <a:schemeClr val="tx1">
                    <a:lumMod val="75000"/>
                    <a:lumOff val="25000"/>
                  </a:schemeClr>
                </a:solidFill>
                <a:latin typeface="Poppins" panose="00000500000000000000" pitchFamily="2" charset="0"/>
                <a:cs typeface="Poppins" panose="00000500000000000000" pitchFamily="2" charset="0"/>
              </a:rPr>
              <a:t>2. </a:t>
            </a:r>
            <a:r>
              <a:rPr lang="en-ID" sz="2000" dirty="0" err="1">
                <a:solidFill>
                  <a:schemeClr val="tx1">
                    <a:lumMod val="75000"/>
                    <a:lumOff val="25000"/>
                  </a:schemeClr>
                </a:solidFill>
                <a:latin typeface="Poppins" panose="00000500000000000000" pitchFamily="2" charset="0"/>
                <a:cs typeface="Poppins" panose="00000500000000000000" pitchFamily="2" charset="0"/>
              </a:rPr>
              <a:t>Penggunaan</a:t>
            </a:r>
            <a:r>
              <a:rPr lang="en-ID" sz="2000" dirty="0">
                <a:solidFill>
                  <a:schemeClr val="tx1">
                    <a:lumMod val="75000"/>
                    <a:lumOff val="25000"/>
                  </a:schemeClr>
                </a:solidFill>
                <a:latin typeface="Poppins" panose="00000500000000000000" pitchFamily="2" charset="0"/>
                <a:cs typeface="Poppins" panose="00000500000000000000" pitchFamily="2" charset="0"/>
              </a:rPr>
              <a:t> video disk</a:t>
            </a:r>
          </a:p>
          <a:p>
            <a:r>
              <a:rPr lang="en-ID" sz="2000" dirty="0">
                <a:solidFill>
                  <a:schemeClr val="tx1">
                    <a:lumMod val="75000"/>
                    <a:lumOff val="25000"/>
                  </a:schemeClr>
                </a:solidFill>
                <a:latin typeface="Poppins" panose="00000500000000000000" pitchFamily="2" charset="0"/>
                <a:cs typeface="Poppins" panose="00000500000000000000" pitchFamily="2" charset="0"/>
              </a:rPr>
              <a:t>3. </a:t>
            </a:r>
            <a:r>
              <a:rPr lang="en-ID" sz="2000" dirty="0" err="1">
                <a:solidFill>
                  <a:schemeClr val="tx1">
                    <a:lumMod val="75000"/>
                    <a:lumOff val="25000"/>
                  </a:schemeClr>
                </a:solidFill>
                <a:latin typeface="Poppins" panose="00000500000000000000" pitchFamily="2" charset="0"/>
                <a:cs typeface="Poppins" panose="00000500000000000000" pitchFamily="2" charset="0"/>
              </a:rPr>
              <a:t>Penggunaan</a:t>
            </a:r>
            <a:r>
              <a:rPr lang="en-ID" sz="2000" dirty="0">
                <a:solidFill>
                  <a:schemeClr val="tx1">
                    <a:lumMod val="75000"/>
                    <a:lumOff val="25000"/>
                  </a:schemeClr>
                </a:solidFill>
                <a:latin typeface="Poppins" panose="00000500000000000000" pitchFamily="2" charset="0"/>
                <a:cs typeface="Poppins" panose="00000500000000000000" pitchFamily="2" charset="0"/>
              </a:rPr>
              <a:t> AI pada user interface</a:t>
            </a:r>
          </a:p>
          <a:p>
            <a:r>
              <a:rPr lang="en-ID" sz="2000" dirty="0">
                <a:solidFill>
                  <a:schemeClr val="tx1">
                    <a:lumMod val="75000"/>
                    <a:lumOff val="25000"/>
                  </a:schemeClr>
                </a:solidFill>
                <a:latin typeface="Poppins" panose="00000500000000000000" pitchFamily="2" charset="0"/>
                <a:cs typeface="Poppins" panose="00000500000000000000" pitchFamily="2" charset="0"/>
              </a:rPr>
              <a:t>4. Speech recognition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tergabung</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000" dirty="0">
                <a:solidFill>
                  <a:schemeClr val="tx1">
                    <a:lumMod val="75000"/>
                    <a:lumOff val="25000"/>
                  </a:schemeClr>
                </a:solidFill>
                <a:latin typeface="Poppins" panose="00000500000000000000" pitchFamily="2" charset="0"/>
                <a:cs typeface="Poppins" panose="00000500000000000000" pitchFamily="2" charset="0"/>
              </a:rPr>
              <a:t> pointing</a:t>
            </a:r>
          </a:p>
          <a:p>
            <a:r>
              <a:rPr lang="en-ID" sz="2000" dirty="0">
                <a:solidFill>
                  <a:schemeClr val="tx1">
                    <a:lumMod val="75000"/>
                    <a:lumOff val="25000"/>
                  </a:schemeClr>
                </a:solidFill>
                <a:latin typeface="Poppins" panose="00000500000000000000" pitchFamily="2" charset="0"/>
                <a:cs typeface="Poppins" panose="00000500000000000000" pitchFamily="2" charset="0"/>
              </a:rPr>
              <a:t>5. </a:t>
            </a:r>
            <a:r>
              <a:rPr lang="en-ID" sz="2000" dirty="0" err="1">
                <a:solidFill>
                  <a:schemeClr val="tx1">
                    <a:lumMod val="75000"/>
                    <a:lumOff val="25000"/>
                  </a:schemeClr>
                </a:solidFill>
                <a:latin typeface="Poppins" panose="00000500000000000000" pitchFamily="2" charset="0"/>
                <a:cs typeface="Poppins" panose="00000500000000000000" pitchFamily="2" charset="0"/>
              </a:rPr>
              <a:t>Produksi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suara</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a:p>
            <a:r>
              <a:rPr lang="en-ID" sz="2000" dirty="0">
                <a:solidFill>
                  <a:schemeClr val="tx1">
                    <a:lumMod val="75000"/>
                    <a:lumOff val="25000"/>
                  </a:schemeClr>
                </a:solidFill>
                <a:latin typeface="Poppins" panose="00000500000000000000" pitchFamily="2" charset="0"/>
                <a:cs typeface="Poppins" panose="00000500000000000000" pitchFamily="2" charset="0"/>
              </a:rPr>
              <a:t>6. Hypertext multimedia</a:t>
            </a:r>
          </a:p>
          <a:p>
            <a:endParaRPr lang="en-ID" sz="2000" dirty="0">
              <a:solidFill>
                <a:schemeClr val="tx1">
                  <a:lumMod val="75000"/>
                  <a:lumOff val="25000"/>
                </a:schemeClr>
              </a:solidFill>
              <a:latin typeface="Poppins" panose="00000500000000000000" pitchFamily="2" charset="0"/>
              <a:cs typeface="Poppins" panose="00000500000000000000" pitchFamily="2" charset="0"/>
            </a:endParaRPr>
          </a:p>
          <a:p>
            <a:r>
              <a:rPr lang="en-ID" sz="2000" b="1" dirty="0">
                <a:solidFill>
                  <a:schemeClr val="tx1">
                    <a:lumMod val="75000"/>
                    <a:lumOff val="25000"/>
                  </a:schemeClr>
                </a:solidFill>
                <a:latin typeface="Poppins" panose="00000500000000000000" pitchFamily="2" charset="0"/>
                <a:cs typeface="Poppins" panose="00000500000000000000" pitchFamily="2" charset="0"/>
              </a:rPr>
              <a:t>CSCW</a:t>
            </a:r>
          </a:p>
          <a:p>
            <a:r>
              <a:rPr lang="en-ID" sz="2000" dirty="0">
                <a:solidFill>
                  <a:schemeClr val="tx1">
                    <a:lumMod val="75000"/>
                    <a:lumOff val="25000"/>
                  </a:schemeClr>
                </a:solidFill>
                <a:latin typeface="Poppins" panose="00000500000000000000" pitchFamily="2" charset="0"/>
                <a:cs typeface="Poppins" panose="00000500000000000000" pitchFamily="2" charset="0"/>
              </a:rPr>
              <a:t>• Computer Support Cooperative Work</a:t>
            </a:r>
          </a:p>
          <a:p>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Sistem</a:t>
            </a:r>
            <a:r>
              <a:rPr lang="en-ID" sz="2000" dirty="0">
                <a:solidFill>
                  <a:schemeClr val="tx1">
                    <a:lumMod val="75000"/>
                    <a:lumOff val="25000"/>
                  </a:schemeClr>
                </a:solidFill>
                <a:latin typeface="Poppins" panose="00000500000000000000" pitchFamily="2" charset="0"/>
                <a:cs typeface="Poppins" panose="00000500000000000000" pitchFamily="2" charset="0"/>
              </a:rPr>
              <a:t>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tidak</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lagi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satu</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pengguna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atau</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satu</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sistem</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a:p>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Aspek</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mikro</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sosial</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menentukan</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a:p>
            <a:r>
              <a:rPr lang="en-ID" sz="2000" dirty="0">
                <a:solidFill>
                  <a:schemeClr val="tx1">
                    <a:lumMod val="75000"/>
                    <a:lumOff val="25000"/>
                  </a:schemeClr>
                </a:solidFill>
                <a:latin typeface="Poppins" panose="00000500000000000000" pitchFamily="2" charset="0"/>
                <a:cs typeface="Poppins" panose="00000500000000000000" pitchFamily="2" charset="0"/>
              </a:rPr>
              <a:t>• Email </a:t>
            </a:r>
            <a:r>
              <a:rPr lang="en-ID" sz="2000" dirty="0" err="1">
                <a:solidFill>
                  <a:schemeClr val="tx1">
                    <a:lumMod val="75000"/>
                    <a:lumOff val="25000"/>
                  </a:schemeClr>
                </a:solidFill>
                <a:latin typeface="Poppins" panose="00000500000000000000" pitchFamily="2" charset="0"/>
                <a:cs typeface="Poppins" panose="00000500000000000000" pitchFamily="2" charset="0"/>
              </a:rPr>
              <a:t>sebagai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kesuksesan</a:t>
            </a:r>
            <a:r>
              <a:rPr lang="en-ID" sz="2000" dirty="0">
                <a:solidFill>
                  <a:schemeClr val="tx1">
                    <a:lumMod val="75000"/>
                    <a:lumOff val="25000"/>
                  </a:schemeClr>
                </a:solidFill>
                <a:latin typeface="Poppins" panose="00000500000000000000" pitchFamily="2" charset="0"/>
                <a:cs typeface="Poppins" panose="00000500000000000000" pitchFamily="2" charset="0"/>
              </a:rPr>
              <a:t>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menonjol</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tapi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000" dirty="0">
                <a:solidFill>
                  <a:schemeClr val="tx1">
                    <a:lumMod val="75000"/>
                    <a:lumOff val="25000"/>
                  </a:schemeClr>
                </a:solidFill>
                <a:latin typeface="Poppins" panose="00000500000000000000" pitchFamily="2" charset="0"/>
                <a:cs typeface="Poppins" panose="00000500000000000000" pitchFamily="2" charset="0"/>
              </a:rPr>
              <a:t> – </a:t>
            </a:r>
            <a:r>
              <a:rPr lang="en-ID" sz="20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000" dirty="0">
                <a:solidFill>
                  <a:schemeClr val="tx1">
                    <a:lumMod val="75000"/>
                    <a:lumOff val="25000"/>
                  </a:schemeClr>
                </a:solidFill>
                <a:latin typeface="Poppins" panose="00000500000000000000" pitchFamily="2" charset="0"/>
                <a:cs typeface="Poppins" panose="00000500000000000000" pitchFamily="2" charset="0"/>
              </a:rPr>
              <a:t> lain </a:t>
            </a:r>
            <a:r>
              <a:rPr lang="en-ID" sz="2000" dirty="0" err="1">
                <a:solidFill>
                  <a:schemeClr val="tx1">
                    <a:lumMod val="75000"/>
                    <a:lumOff val="25000"/>
                  </a:schemeClr>
                </a:solidFill>
                <a:latin typeface="Poppins" panose="00000500000000000000" pitchFamily="2" charset="0"/>
                <a:cs typeface="Poppins" panose="00000500000000000000" pitchFamily="2" charset="0"/>
              </a:rPr>
              <a:t>masih</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belum</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digunakan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secara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luas</a:t>
            </a:r>
            <a:endParaRPr lang="en-ID" sz="2000" dirty="0">
              <a:solidFill>
                <a:schemeClr val="tx1">
                  <a:lumMod val="75000"/>
                  <a:lumOff val="25000"/>
                </a:schemeClr>
              </a:solidFill>
              <a:latin typeface="Poppins" panose="00000500000000000000" pitchFamily="2" charset="0"/>
              <a:cs typeface="Poppins" panose="00000500000000000000" pitchFamily="2" charset="0"/>
            </a:endParaRPr>
          </a:p>
          <a:p>
            <a:r>
              <a:rPr lang="en-ID" sz="2000" dirty="0">
                <a:solidFill>
                  <a:schemeClr val="tx1">
                    <a:lumMod val="75000"/>
                    <a:lumOff val="25000"/>
                  </a:schemeClr>
                </a:solidFill>
                <a:latin typeface="Poppins" panose="00000500000000000000" pitchFamily="2" charset="0"/>
                <a:cs typeface="Poppins" panose="00000500000000000000" pitchFamily="2" charset="0"/>
              </a:rPr>
              <a:t> </a:t>
            </a:r>
          </a:p>
        </p:txBody>
      </p:sp>
      <p:cxnSp>
        <p:nvCxnSpPr>
          <p:cNvPr id="16" name="Straight Arrow Connector 15">
            <a:extLst>
              <a:ext uri="{FF2B5EF4-FFF2-40B4-BE49-F238E27FC236}">
                <a16:creationId xmlns:a16="http://schemas.microsoft.com/office/drawing/2014/main" id="{A4CAD38A-0415-DCD0-039B-63986ACE8933}"/>
              </a:ext>
            </a:extLst>
          </p:cNvPr>
          <p:cNvCxnSpPr>
            <a:cxnSpLocks/>
          </p:cNvCxnSpPr>
          <p:nvPr/>
        </p:nvCxnSpPr>
        <p:spPr>
          <a:xfrm>
            <a:off x="10927008" y="3495399"/>
            <a:ext cx="695732" cy="0"/>
          </a:xfrm>
          <a:prstGeom prst="straightConnector1">
            <a:avLst/>
          </a:prstGeom>
          <a:ln w="7620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826000"/>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00A02D-0ED4-4F08-D1C6-CE5A3489E044}"/>
              </a:ext>
            </a:extLst>
          </p:cNvPr>
          <p:cNvSpPr txBox="1"/>
          <p:nvPr/>
        </p:nvSpPr>
        <p:spPr>
          <a:xfrm>
            <a:off x="1132182" y="2228731"/>
            <a:ext cx="10719157" cy="3416320"/>
          </a:xfrm>
          <a:prstGeom prst="rect">
            <a:avLst/>
          </a:prstGeom>
          <a:noFill/>
        </p:spPr>
        <p:txBody>
          <a:bodyPr wrap="square">
            <a:spAutoFit/>
          </a:bodyPr>
          <a:lstStyle/>
          <a:p>
            <a:pPr algn="just"/>
            <a:r>
              <a:rPr lang="en-ID" sz="2400" dirty="0" err="1">
                <a:solidFill>
                  <a:schemeClr val="tx1">
                    <a:lumMod val="75000"/>
                    <a:lumOff val="25000"/>
                  </a:schemeClr>
                </a:solidFill>
                <a:latin typeface="Poppins" panose="00000500000000000000" pitchFamily="2" charset="0"/>
                <a:cs typeface="Poppins" panose="00000500000000000000" pitchFamily="2" charset="0"/>
              </a:rPr>
              <a:t>Untuk</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menghasilkan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sebuah</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sistem</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berguna</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aman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produktif</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efektif</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efisien</a:t>
            </a:r>
            <a:r>
              <a:rPr lang="en-ID" sz="2400" dirty="0">
                <a:solidFill>
                  <a:schemeClr val="tx1">
                    <a:lumMod val="75000"/>
                    <a:lumOff val="25000"/>
                  </a:schemeClr>
                </a:solidFill>
                <a:latin typeface="Poppins" panose="00000500000000000000" pitchFamily="2" charset="0"/>
                <a:cs typeface="Poppins" panose="00000500000000000000" pitchFamily="2" charset="0"/>
              </a:rPr>
              <a: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fungsional</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membutuhkan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hubungan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antara</a:t>
            </a:r>
            <a:r>
              <a:rPr lang="en-ID" sz="2400" dirty="0">
                <a:solidFill>
                  <a:schemeClr val="tx1">
                    <a:lumMod val="75000"/>
                    <a:lumOff val="25000"/>
                  </a:schemeClr>
                </a:solidFill>
                <a:latin typeface="Poppins" panose="00000500000000000000" pitchFamily="2" charset="0"/>
                <a:cs typeface="Poppins" panose="00000500000000000000" pitchFamily="2" charset="0"/>
              </a:rPr>
              <a:t> HCI dan </a:t>
            </a:r>
            <a:r>
              <a:rPr lang="en-ID" sz="2400" b="1" dirty="0">
                <a:solidFill>
                  <a:schemeClr val="tx1">
                    <a:lumMod val="75000"/>
                    <a:lumOff val="25000"/>
                  </a:schemeClr>
                </a:solidFill>
                <a:latin typeface="Poppins" panose="00000500000000000000" pitchFamily="2" charset="0"/>
                <a:cs typeface="Poppins" panose="00000500000000000000" pitchFamily="2" charset="0"/>
              </a:rPr>
              <a:t>User Interface (UI) </a:t>
            </a:r>
            <a:r>
              <a:rPr lang="en-ID" sz="2400" dirty="0" err="1">
                <a:solidFill>
                  <a:schemeClr val="tx1">
                    <a:lumMod val="75000"/>
                    <a:lumOff val="25000"/>
                  </a:schemeClr>
                </a:solidFill>
                <a:latin typeface="Poppins" panose="00000500000000000000" pitchFamily="2" charset="0"/>
                <a:cs typeface="Poppins" panose="00000500000000000000" pitchFamily="2" charset="0"/>
              </a:rPr>
              <a:t>sebagai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jembatan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komunikasi</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menjembatani</a:t>
            </a:r>
            <a:r>
              <a:rPr lang="en-ID" sz="2400" dirty="0">
                <a:solidFill>
                  <a:schemeClr val="tx1">
                    <a:lumMod val="75000"/>
                    <a:lumOff val="25000"/>
                  </a:schemeClr>
                </a:solidFill>
                <a:latin typeface="Poppins" panose="00000500000000000000" pitchFamily="2" charset="0"/>
                <a:cs typeface="Poppins" panose="00000500000000000000" pitchFamily="2" charset="0"/>
              </a:rPr>
              <a:t> user </a:t>
            </a:r>
            <a:r>
              <a:rPr lang="en-ID" sz="24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400" dirty="0">
                <a:solidFill>
                  <a:schemeClr val="tx1">
                    <a:lumMod val="75000"/>
                    <a:lumOff val="25000"/>
                  </a:schemeClr>
                </a:solidFill>
                <a:latin typeface="Poppins" panose="00000500000000000000" pitchFamily="2" charset="0"/>
                <a:cs typeface="Poppins" panose="00000500000000000000" pitchFamily="2" charset="0"/>
              </a:rPr>
              <a:t> computer. Serta </a:t>
            </a:r>
            <a:r>
              <a:rPr lang="en-ID" sz="2400" b="1" dirty="0">
                <a:solidFill>
                  <a:schemeClr val="tx1">
                    <a:lumMod val="75000"/>
                    <a:lumOff val="25000"/>
                  </a:schemeClr>
                </a:solidFill>
                <a:latin typeface="Poppins" panose="00000500000000000000" pitchFamily="2" charset="0"/>
                <a:cs typeface="Poppins" panose="00000500000000000000" pitchFamily="2" charset="0"/>
              </a:rPr>
              <a:t>User Experience (UX) </a:t>
            </a:r>
            <a:r>
              <a:rPr lang="en-ID" sz="2400" dirty="0">
                <a:solidFill>
                  <a:schemeClr val="tx1">
                    <a:lumMod val="75000"/>
                    <a:lumOff val="25000"/>
                  </a:schemeClr>
                </a:solidFill>
                <a:latin typeface="Poppins" panose="00000500000000000000" pitchFamily="2" charset="0"/>
                <a:cs typeface="Poppins" panose="00000500000000000000" pitchFamily="2" charset="0"/>
              </a:rPr>
              <a:t>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akan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memberikan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kemudahan</a:t>
            </a:r>
            <a:r>
              <a:rPr lang="en-ID" sz="2400" dirty="0">
                <a:solidFill>
                  <a:schemeClr val="tx1">
                    <a:lumMod val="75000"/>
                    <a:lumOff val="25000"/>
                  </a:schemeClr>
                </a:solidFill>
                <a:latin typeface="Poppins" panose="00000500000000000000" pitchFamily="2" charset="0"/>
                <a:cs typeface="Poppins" panose="00000500000000000000" pitchFamily="2" charset="0"/>
              </a:rPr>
              <a:t> dan </a:t>
            </a:r>
            <a:r>
              <a:rPr lang="en-ID" sz="2400" dirty="0" err="1">
                <a:solidFill>
                  <a:schemeClr val="tx1">
                    <a:lumMod val="75000"/>
                    <a:lumOff val="25000"/>
                  </a:schemeClr>
                </a:solidFill>
                <a:latin typeface="Poppins" panose="00000500000000000000" pitchFamily="2" charset="0"/>
                <a:cs typeface="Poppins" panose="00000500000000000000" pitchFamily="2" charset="0"/>
              </a:rPr>
              <a:t>pengalaman</a:t>
            </a:r>
            <a:r>
              <a:rPr lang="en-ID" sz="2400" dirty="0">
                <a:solidFill>
                  <a:schemeClr val="tx1">
                    <a:lumMod val="75000"/>
                    <a:lumOff val="25000"/>
                  </a:schemeClr>
                </a:solidFill>
                <a:latin typeface="Poppins" panose="00000500000000000000" pitchFamily="2" charset="0"/>
                <a:cs typeface="Poppins" panose="00000500000000000000" pitchFamily="2" charset="0"/>
              </a:rPr>
              <a:t> yang </a:t>
            </a:r>
            <a:r>
              <a:rPr lang="en-ID" sz="2400" dirty="0" err="1">
                <a:solidFill>
                  <a:schemeClr val="tx1">
                    <a:lumMod val="75000"/>
                    <a:lumOff val="25000"/>
                  </a:schemeClr>
                </a:solidFill>
                <a:latin typeface="Poppins" panose="00000500000000000000" pitchFamily="2" charset="0"/>
                <a:cs typeface="Poppins" panose="00000500000000000000" pitchFamily="2" charset="0"/>
              </a:rPr>
              <a:t>menyenangkan</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kepada</a:t>
            </a:r>
            <a:r>
              <a:rPr lang="en-ID" sz="2400" dirty="0">
                <a:solidFill>
                  <a:schemeClr val="tx1">
                    <a:lumMod val="75000"/>
                    <a:lumOff val="25000"/>
                  </a:schemeClr>
                </a:solidFill>
                <a:latin typeface="Poppins" panose="00000500000000000000" pitchFamily="2" charset="0"/>
                <a:cs typeface="Poppins" panose="00000500000000000000" pitchFamily="2" charset="0"/>
              </a:rPr>
              <a:t> user </a:t>
            </a:r>
            <a:r>
              <a:rPr lang="en-ID" sz="2400" dirty="0" err="1">
                <a:solidFill>
                  <a:schemeClr val="tx1">
                    <a:lumMod val="75000"/>
                    <a:lumOff val="25000"/>
                  </a:schemeClr>
                </a:solidFill>
                <a:latin typeface="Poppins" panose="00000500000000000000" pitchFamily="2" charset="0"/>
                <a:cs typeface="Poppins" panose="00000500000000000000" pitchFamily="2" charset="0"/>
              </a:rPr>
              <a:t>dalam</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menggunakan</a:t>
            </a:r>
            <a:r>
              <a:rPr lang="en-ID" sz="2400" dirty="0">
                <a:solidFill>
                  <a:schemeClr val="tx1">
                    <a:lumMod val="75000"/>
                    <a:lumOff val="25000"/>
                  </a:schemeClr>
                </a:solidFill>
                <a:latin typeface="Poppins" panose="00000500000000000000" pitchFamily="2" charset="0"/>
                <a:cs typeface="Poppins" panose="00000500000000000000" pitchFamily="2" charset="0"/>
              </a:rPr>
              <a:t> situs </a:t>
            </a:r>
            <a:r>
              <a:rPr lang="en-ID" sz="2400" dirty="0" err="1">
                <a:solidFill>
                  <a:schemeClr val="tx1">
                    <a:lumMod val="75000"/>
                    <a:lumOff val="25000"/>
                  </a:schemeClr>
                </a:solidFill>
                <a:latin typeface="Poppins" panose="00000500000000000000" pitchFamily="2" charset="0"/>
                <a:cs typeface="Poppins" panose="00000500000000000000" pitchFamily="2" charset="0"/>
              </a:rPr>
              <a:t>atau</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aplikasi</a:t>
            </a:r>
            <a:r>
              <a:rPr lang="en-ID" sz="2400" dirty="0">
                <a:solidFill>
                  <a:schemeClr val="tx1">
                    <a:lumMod val="75000"/>
                    <a:lumOff val="25000"/>
                  </a:schemeClr>
                </a:solidFill>
                <a:latin typeface="Poppins" panose="00000500000000000000" pitchFamily="2" charset="0"/>
                <a:cs typeface="Poppins" panose="00000500000000000000" pitchFamily="2" charset="0"/>
              </a:rPr>
              <a:t> </a:t>
            </a:r>
            <a:r>
              <a:rPr lang="en-ID" sz="2400" dirty="0" err="1">
                <a:solidFill>
                  <a:schemeClr val="tx1">
                    <a:lumMod val="75000"/>
                    <a:lumOff val="25000"/>
                  </a:schemeClr>
                </a:solidFill>
                <a:latin typeface="Poppins" panose="00000500000000000000" pitchFamily="2" charset="0"/>
                <a:cs typeface="Poppins" panose="00000500000000000000" pitchFamily="2" charset="0"/>
              </a:rPr>
              <a:t>tersebut</a:t>
            </a:r>
            <a:r>
              <a:rPr lang="en-ID" sz="2400" dirty="0">
                <a:solidFill>
                  <a:schemeClr val="tx1">
                    <a:lumMod val="75000"/>
                    <a:lumOff val="25000"/>
                  </a:schemeClr>
                </a:solidFill>
                <a:latin typeface="Poppins" panose="00000500000000000000" pitchFamily="2" charset="0"/>
                <a:cs typeface="Poppins" panose="00000500000000000000" pitchFamily="2" charset="0"/>
              </a:rPr>
              <a:t>.</a:t>
            </a:r>
          </a:p>
          <a:p>
            <a:pPr marL="342900" indent="-342900">
              <a:buFont typeface="Arial" panose="020B0604020202020204" pitchFamily="34" charset="0"/>
              <a:buChar char="•"/>
            </a:pPr>
            <a:endParaRPr lang="en-ID" sz="2400" dirty="0">
              <a:solidFill>
                <a:schemeClr val="tx1">
                  <a:lumMod val="75000"/>
                  <a:lumOff val="25000"/>
                </a:schemeClr>
              </a:solidFill>
              <a:latin typeface="Poppins" panose="00000500000000000000" pitchFamily="2" charset="0"/>
              <a:cs typeface="Poppins" panose="00000500000000000000" pitchFamily="2" charset="0"/>
            </a:endParaRPr>
          </a:p>
          <a:p>
            <a:endParaRPr lang="en-ID" sz="24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14" name="TextBox 13">
            <a:extLst>
              <a:ext uri="{FF2B5EF4-FFF2-40B4-BE49-F238E27FC236}">
                <a16:creationId xmlns:a16="http://schemas.microsoft.com/office/drawing/2014/main" id="{DB713DA9-A739-1671-6729-2754F8B568B3}"/>
              </a:ext>
            </a:extLst>
          </p:cNvPr>
          <p:cNvSpPr txBox="1"/>
          <p:nvPr/>
        </p:nvSpPr>
        <p:spPr>
          <a:xfrm>
            <a:off x="1303020" y="810869"/>
            <a:ext cx="7563521" cy="1200329"/>
          </a:xfrm>
          <a:prstGeom prst="rect">
            <a:avLst/>
          </a:prstGeom>
          <a:noFill/>
        </p:spPr>
        <p:txBody>
          <a:bodyPr wrap="square" rtlCol="0">
            <a:spAutoFit/>
          </a:bodyPr>
          <a:lstStyle/>
          <a:p>
            <a:r>
              <a:rPr lang="sv-SE" sz="3600" dirty="0">
                <a:solidFill>
                  <a:schemeClr val="tx1">
                    <a:lumMod val="75000"/>
                    <a:lumOff val="25000"/>
                  </a:schemeClr>
                </a:solidFill>
                <a:latin typeface="Poppins" panose="00000500000000000000" pitchFamily="2" charset="0"/>
                <a:cs typeface="Poppins" panose="00000500000000000000" pitchFamily="2" charset="0"/>
              </a:rPr>
              <a:t>Apa Hubungan HCI dan UI/UX ?</a:t>
            </a:r>
          </a:p>
          <a:p>
            <a:r>
              <a:rPr lang="en-US" sz="3600" dirty="0">
                <a:solidFill>
                  <a:schemeClr val="tx1">
                    <a:lumMod val="75000"/>
                    <a:lumOff val="25000"/>
                  </a:schemeClr>
                </a:solidFill>
                <a:latin typeface="Poppins" panose="00000500000000000000" pitchFamily="2" charset="0"/>
                <a:cs typeface="Poppins" panose="00000500000000000000" pitchFamily="2" charset="0"/>
              </a:rPr>
              <a:t> </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Rectangle 3">
            <a:extLst>
              <a:ext uri="{FF2B5EF4-FFF2-40B4-BE49-F238E27FC236}">
                <a16:creationId xmlns:a16="http://schemas.microsoft.com/office/drawing/2014/main" id="{4858BE3D-82DB-CB07-9815-1A0D87F6FEF1}"/>
              </a:ext>
            </a:extLst>
          </p:cNvPr>
          <p:cNvSpPr/>
          <p:nvPr/>
        </p:nvSpPr>
        <p:spPr>
          <a:xfrm rot="1900959">
            <a:off x="-205740" y="5645051"/>
            <a:ext cx="1508760" cy="1508760"/>
          </a:xfrm>
          <a:prstGeom prst="rect">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468954800"/>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00A02D-0ED4-4F08-D1C6-CE5A3489E044}"/>
              </a:ext>
            </a:extLst>
          </p:cNvPr>
          <p:cNvSpPr txBox="1"/>
          <p:nvPr/>
        </p:nvSpPr>
        <p:spPr>
          <a:xfrm>
            <a:off x="1717698" y="3022645"/>
            <a:ext cx="9788502" cy="1384995"/>
          </a:xfrm>
          <a:prstGeom prst="rect">
            <a:avLst/>
          </a:prstGeom>
          <a:noFill/>
        </p:spPr>
        <p:txBody>
          <a:bodyPr wrap="square">
            <a:spAutoFit/>
          </a:bodyPr>
          <a:lstStyle/>
          <a:p>
            <a:r>
              <a:rPr lang="en-ID" sz="2800" dirty="0" err="1">
                <a:latin typeface="Poppins" panose="00000500000000000000" pitchFamily="2" charset="0"/>
                <a:cs typeface="Poppins" panose="00000500000000000000" pitchFamily="2" charset="0"/>
              </a:rPr>
              <a:t>Dilansir</a:t>
            </a:r>
            <a:r>
              <a:rPr lang="en-ID" sz="2800" dirty="0">
                <a:latin typeface="Poppins" panose="00000500000000000000" pitchFamily="2" charset="0"/>
                <a:cs typeface="Poppins" panose="00000500000000000000" pitchFamily="2" charset="0"/>
              </a:rPr>
              <a:t> </a:t>
            </a:r>
            <a:r>
              <a:rPr lang="en-ID" sz="2800" dirty="0" err="1">
                <a:latin typeface="Poppins" panose="00000500000000000000" pitchFamily="2" charset="0"/>
                <a:cs typeface="Poppins" panose="00000500000000000000" pitchFamily="2" charset="0"/>
              </a:rPr>
              <a:t>dari</a:t>
            </a:r>
            <a:r>
              <a:rPr lang="en-ID" sz="2800" dirty="0">
                <a:latin typeface="Poppins" panose="00000500000000000000" pitchFamily="2" charset="0"/>
                <a:cs typeface="Poppins" panose="00000500000000000000" pitchFamily="2" charset="0"/>
              </a:rPr>
              <a:t> </a:t>
            </a:r>
            <a:r>
              <a:rPr lang="en-ID" sz="2800" u="sng" dirty="0">
                <a:latin typeface="Poppins" panose="00000500000000000000" pitchFamily="2" charset="0"/>
                <a:cs typeface="Poppins" panose="00000500000000000000" pitchFamily="2" charset="0"/>
              </a:rPr>
              <a:t>Interaction Design Foundation</a:t>
            </a:r>
            <a:r>
              <a:rPr lang="en-ID" sz="2800" dirty="0">
                <a:latin typeface="Poppins" panose="00000500000000000000" pitchFamily="2" charset="0"/>
                <a:cs typeface="Poppins" panose="00000500000000000000" pitchFamily="2" charset="0"/>
              </a:rPr>
              <a:t>, interaction design </a:t>
            </a:r>
            <a:r>
              <a:rPr lang="en-ID" sz="2800" dirty="0" err="1">
                <a:latin typeface="Poppins" panose="00000500000000000000" pitchFamily="2" charset="0"/>
                <a:cs typeface="Poppins" panose="00000500000000000000" pitchFamily="2" charset="0"/>
              </a:rPr>
              <a:t>adalah</a:t>
            </a:r>
            <a:r>
              <a:rPr lang="en-ID" sz="2800" dirty="0">
                <a:latin typeface="Poppins" panose="00000500000000000000" pitchFamily="2" charset="0"/>
                <a:cs typeface="Poppins" panose="00000500000000000000" pitchFamily="2" charset="0"/>
              </a:rPr>
              <a:t> </a:t>
            </a:r>
            <a:r>
              <a:rPr lang="en-ID" sz="2800" dirty="0" err="1">
                <a:latin typeface="Poppins" panose="00000500000000000000" pitchFamily="2" charset="0"/>
                <a:cs typeface="Poppins" panose="00000500000000000000" pitchFamily="2" charset="0"/>
              </a:rPr>
              <a:t>interaksi</a:t>
            </a:r>
            <a:r>
              <a:rPr lang="en-ID" sz="2800" dirty="0">
                <a:latin typeface="Poppins" panose="00000500000000000000" pitchFamily="2" charset="0"/>
                <a:cs typeface="Poppins" panose="00000500000000000000" pitchFamily="2" charset="0"/>
              </a:rPr>
              <a:t> </a:t>
            </a:r>
            <a:r>
              <a:rPr lang="en-ID" sz="2800" dirty="0" err="1">
                <a:latin typeface="Poppins" panose="00000500000000000000" pitchFamily="2" charset="0"/>
                <a:cs typeface="Poppins" panose="00000500000000000000" pitchFamily="2" charset="0"/>
              </a:rPr>
              <a:t>antara</a:t>
            </a:r>
            <a:r>
              <a:rPr lang="en-ID" sz="2800" dirty="0">
                <a:latin typeface="Poppins" panose="00000500000000000000" pitchFamily="2" charset="0"/>
                <a:cs typeface="Poppins" panose="00000500000000000000" pitchFamily="2" charset="0"/>
              </a:rPr>
              <a:t> </a:t>
            </a:r>
            <a:r>
              <a:rPr lang="en-ID" sz="2800" dirty="0" err="1">
                <a:latin typeface="Poppins" panose="00000500000000000000" pitchFamily="2" charset="0"/>
                <a:cs typeface="Poppins" panose="00000500000000000000" pitchFamily="2" charset="0"/>
              </a:rPr>
              <a:t>pengguna</a:t>
            </a:r>
            <a:r>
              <a:rPr lang="en-ID" sz="2800" dirty="0">
                <a:latin typeface="Poppins" panose="00000500000000000000" pitchFamily="2" charset="0"/>
                <a:cs typeface="Poppins" panose="00000500000000000000" pitchFamily="2" charset="0"/>
              </a:rPr>
              <a:t> dan </a:t>
            </a:r>
            <a:r>
              <a:rPr lang="en-ID" sz="2800" dirty="0" err="1">
                <a:latin typeface="Poppins" panose="00000500000000000000" pitchFamily="2" charset="0"/>
                <a:cs typeface="Poppins" panose="00000500000000000000" pitchFamily="2" charset="0"/>
              </a:rPr>
              <a:t>produk</a:t>
            </a:r>
            <a:r>
              <a:rPr lang="en-ID" sz="2800" dirty="0">
                <a:latin typeface="Poppins" panose="00000500000000000000" pitchFamily="2" charset="0"/>
                <a:cs typeface="Poppins" panose="00000500000000000000" pitchFamily="2" charset="0"/>
              </a:rPr>
              <a:t>.</a:t>
            </a:r>
          </a:p>
        </p:txBody>
      </p:sp>
      <p:sp>
        <p:nvSpPr>
          <p:cNvPr id="14" name="TextBox 13">
            <a:extLst>
              <a:ext uri="{FF2B5EF4-FFF2-40B4-BE49-F238E27FC236}">
                <a16:creationId xmlns:a16="http://schemas.microsoft.com/office/drawing/2014/main" id="{DB713DA9-A739-1671-6729-2754F8B568B3}"/>
              </a:ext>
            </a:extLst>
          </p:cNvPr>
          <p:cNvSpPr txBox="1"/>
          <p:nvPr/>
        </p:nvSpPr>
        <p:spPr>
          <a:xfrm>
            <a:off x="1454972" y="1042571"/>
            <a:ext cx="7569737" cy="646331"/>
          </a:xfrm>
          <a:prstGeom prst="rect">
            <a:avLst/>
          </a:prstGeom>
          <a:noFill/>
        </p:spPr>
        <p:txBody>
          <a:bodyPr wrap="square" rtlCol="0">
            <a:spAutoFit/>
          </a:bodyPr>
          <a:lstStyle/>
          <a:p>
            <a:r>
              <a:rPr lang="en-US" sz="3600" dirty="0" err="1">
                <a:solidFill>
                  <a:schemeClr val="tx1">
                    <a:lumMod val="75000"/>
                    <a:lumOff val="25000"/>
                  </a:schemeClr>
                </a:solidFill>
                <a:highlight>
                  <a:srgbClr val="C0C0C0"/>
                </a:highlight>
                <a:latin typeface="Poppins" panose="00000500000000000000" pitchFamily="2" charset="0"/>
                <a:cs typeface="Poppins" panose="00000500000000000000" pitchFamily="2" charset="0"/>
              </a:rPr>
              <a:t>Pengertian</a:t>
            </a:r>
            <a:r>
              <a:rPr lang="en-US" sz="3600" dirty="0">
                <a:solidFill>
                  <a:schemeClr val="tx1">
                    <a:lumMod val="75000"/>
                    <a:lumOff val="25000"/>
                  </a:schemeClr>
                </a:solidFill>
                <a:highlight>
                  <a:srgbClr val="C0C0C0"/>
                </a:highlight>
                <a:latin typeface="Poppins" panose="00000500000000000000" pitchFamily="2" charset="0"/>
                <a:cs typeface="Poppins" panose="00000500000000000000" pitchFamily="2" charset="0"/>
              </a:rPr>
              <a:t> Desain </a:t>
            </a:r>
            <a:r>
              <a:rPr lang="en-US" sz="3600" dirty="0" err="1">
                <a:solidFill>
                  <a:schemeClr val="tx1">
                    <a:lumMod val="75000"/>
                    <a:lumOff val="25000"/>
                  </a:schemeClr>
                </a:solidFill>
                <a:highlight>
                  <a:srgbClr val="C0C0C0"/>
                </a:highlight>
                <a:latin typeface="Poppins" panose="00000500000000000000" pitchFamily="2" charset="0"/>
                <a:cs typeface="Poppins" panose="00000500000000000000" pitchFamily="2" charset="0"/>
              </a:rPr>
              <a:t>interaksi</a:t>
            </a:r>
            <a:endParaRPr lang="en-ID" sz="3600" dirty="0">
              <a:solidFill>
                <a:schemeClr val="tx1">
                  <a:lumMod val="75000"/>
                  <a:lumOff val="25000"/>
                </a:schemeClr>
              </a:solidFill>
              <a:highlight>
                <a:srgbClr val="C0C0C0"/>
              </a:highlight>
              <a:latin typeface="Poppins" panose="00000500000000000000" pitchFamily="2" charset="0"/>
              <a:cs typeface="Poppins" panose="00000500000000000000" pitchFamily="2" charset="0"/>
            </a:endParaRPr>
          </a:p>
        </p:txBody>
      </p:sp>
      <p:sp>
        <p:nvSpPr>
          <p:cNvPr id="4" name="Rectangle 3">
            <a:extLst>
              <a:ext uri="{FF2B5EF4-FFF2-40B4-BE49-F238E27FC236}">
                <a16:creationId xmlns:a16="http://schemas.microsoft.com/office/drawing/2014/main" id="{4858BE3D-82DB-CB07-9815-1A0D87F6FEF1}"/>
              </a:ext>
            </a:extLst>
          </p:cNvPr>
          <p:cNvSpPr/>
          <p:nvPr/>
        </p:nvSpPr>
        <p:spPr>
          <a:xfrm rot="3436464">
            <a:off x="-304800" y="-466189"/>
            <a:ext cx="1508760" cy="150876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398214427"/>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C1F0FC2-6818-43F2-B09A-C26010AB059B}"/>
              </a:ext>
            </a:extLst>
          </p:cNvPr>
          <p:cNvSpPr/>
          <p:nvPr/>
        </p:nvSpPr>
        <p:spPr>
          <a:xfrm>
            <a:off x="2480431" y="3268173"/>
            <a:ext cx="7522058" cy="2297832"/>
          </a:xfrm>
          <a:prstGeom prst="roundRect">
            <a:avLst>
              <a:gd name="adj" fmla="val 127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9A00A02D-0ED4-4F08-D1C6-CE5A3489E044}"/>
              </a:ext>
            </a:extLst>
          </p:cNvPr>
          <p:cNvSpPr txBox="1"/>
          <p:nvPr/>
        </p:nvSpPr>
        <p:spPr>
          <a:xfrm>
            <a:off x="4062939" y="3693814"/>
            <a:ext cx="5648630" cy="1446550"/>
          </a:xfrm>
          <a:prstGeom prst="rect">
            <a:avLst/>
          </a:prstGeom>
          <a:noFill/>
        </p:spPr>
        <p:txBody>
          <a:bodyPr wrap="square">
            <a:spAutoFit/>
          </a:bodyPr>
          <a:lstStyle/>
          <a:p>
            <a:pPr marL="342900" indent="-342900">
              <a:buFont typeface="Arial" panose="020B0604020202020204" pitchFamily="34" charset="0"/>
              <a:buChar char="•"/>
            </a:pPr>
            <a:r>
              <a:rPr lang="en-US" sz="2200" dirty="0">
                <a:solidFill>
                  <a:schemeClr val="tx1">
                    <a:lumMod val="75000"/>
                    <a:lumOff val="25000"/>
                  </a:schemeClr>
                </a:solidFill>
                <a:latin typeface="Poppins" panose="00000500000000000000" pitchFamily="2" charset="0"/>
                <a:cs typeface="Poppins" panose="00000500000000000000" pitchFamily="2" charset="0"/>
              </a:rPr>
              <a:t>Human Factors</a:t>
            </a:r>
          </a:p>
          <a:p>
            <a:pPr marL="342900" indent="-342900">
              <a:buFont typeface="Arial" panose="020B0604020202020204" pitchFamily="34" charset="0"/>
              <a:buChar char="•"/>
            </a:pPr>
            <a:r>
              <a:rPr lang="en-US" sz="2200" dirty="0">
                <a:solidFill>
                  <a:schemeClr val="tx1">
                    <a:lumMod val="75000"/>
                    <a:lumOff val="25000"/>
                  </a:schemeClr>
                </a:solidFill>
                <a:latin typeface="Poppins" panose="00000500000000000000" pitchFamily="2" charset="0"/>
                <a:cs typeface="Poppins" panose="00000500000000000000" pitchFamily="2" charset="0"/>
              </a:rPr>
              <a:t>Cognitive Engineering</a:t>
            </a:r>
          </a:p>
          <a:p>
            <a:pPr marL="342900" indent="-342900">
              <a:buFont typeface="Arial" panose="020B0604020202020204" pitchFamily="34" charset="0"/>
              <a:buChar char="•"/>
            </a:pPr>
            <a:r>
              <a:rPr lang="en-US" sz="2200" dirty="0">
                <a:solidFill>
                  <a:schemeClr val="tx1">
                    <a:lumMod val="75000"/>
                    <a:lumOff val="25000"/>
                  </a:schemeClr>
                </a:solidFill>
                <a:latin typeface="Poppins" panose="00000500000000000000" pitchFamily="2" charset="0"/>
                <a:cs typeface="Poppins" panose="00000500000000000000" pitchFamily="2" charset="0"/>
              </a:rPr>
              <a:t>Cognitive Ergonomics</a:t>
            </a:r>
          </a:p>
          <a:p>
            <a:pPr marL="342900" indent="-342900">
              <a:buFont typeface="Arial" panose="020B0604020202020204" pitchFamily="34" charset="0"/>
              <a:buChar char="•"/>
            </a:pPr>
            <a:r>
              <a:rPr lang="en-US" sz="2200" dirty="0">
                <a:solidFill>
                  <a:schemeClr val="tx1">
                    <a:lumMod val="75000"/>
                    <a:lumOff val="25000"/>
                  </a:schemeClr>
                </a:solidFill>
                <a:latin typeface="Poppins" panose="00000500000000000000" pitchFamily="2" charset="0"/>
                <a:cs typeface="Poppins" panose="00000500000000000000" pitchFamily="2" charset="0"/>
              </a:rPr>
              <a:t>Ubiquitous Computing</a:t>
            </a:r>
          </a:p>
        </p:txBody>
      </p:sp>
      <p:sp>
        <p:nvSpPr>
          <p:cNvPr id="6" name="Flowchart: Off-page Connector 5">
            <a:extLst>
              <a:ext uri="{FF2B5EF4-FFF2-40B4-BE49-F238E27FC236}">
                <a16:creationId xmlns:a16="http://schemas.microsoft.com/office/drawing/2014/main" id="{571DFF28-A78E-A4EB-77B9-57360948B5DA}"/>
              </a:ext>
            </a:extLst>
          </p:cNvPr>
          <p:cNvSpPr/>
          <p:nvPr/>
        </p:nvSpPr>
        <p:spPr>
          <a:xfrm>
            <a:off x="233082" y="0"/>
            <a:ext cx="948267" cy="1100667"/>
          </a:xfrm>
          <a:prstGeom prst="flowChartOffpage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F69FD7CF-43BF-E198-2411-E0FFD349BE4A}"/>
              </a:ext>
            </a:extLst>
          </p:cNvPr>
          <p:cNvSpPr txBox="1"/>
          <p:nvPr/>
        </p:nvSpPr>
        <p:spPr>
          <a:xfrm>
            <a:off x="2189510" y="645664"/>
            <a:ext cx="7812979" cy="646331"/>
          </a:xfrm>
          <a:prstGeom prst="rect">
            <a:avLst/>
          </a:prstGeom>
          <a:noFill/>
        </p:spPr>
        <p:txBody>
          <a:bodyPr wrap="square" rtlCol="0">
            <a:spAutoFit/>
          </a:bodyPr>
          <a:lstStyle/>
          <a:p>
            <a:r>
              <a:rPr lang="en-US" sz="3600" dirty="0" err="1">
                <a:solidFill>
                  <a:schemeClr val="tx1">
                    <a:lumMod val="75000"/>
                    <a:lumOff val="25000"/>
                  </a:schemeClr>
                </a:solidFill>
                <a:latin typeface="Poppins" panose="00000500000000000000" pitchFamily="2" charset="0"/>
                <a:cs typeface="Poppins" panose="00000500000000000000" pitchFamily="2" charset="0"/>
              </a:rPr>
              <a:t>Komponen</a:t>
            </a:r>
            <a:r>
              <a:rPr lang="en-US" sz="3600" dirty="0">
                <a:solidFill>
                  <a:schemeClr val="tx1">
                    <a:lumMod val="75000"/>
                    <a:lumOff val="25000"/>
                  </a:schemeClr>
                </a:solidFill>
                <a:latin typeface="Poppins" panose="00000500000000000000" pitchFamily="2" charset="0"/>
                <a:cs typeface="Poppins" panose="00000500000000000000" pitchFamily="2" charset="0"/>
              </a:rPr>
              <a:t> Desain </a:t>
            </a:r>
            <a:r>
              <a:rPr lang="en-US" sz="3600" dirty="0" err="1">
                <a:solidFill>
                  <a:schemeClr val="tx1">
                    <a:lumMod val="75000"/>
                    <a:lumOff val="25000"/>
                  </a:schemeClr>
                </a:solidFill>
                <a:latin typeface="Poppins" panose="00000500000000000000" pitchFamily="2" charset="0"/>
                <a:cs typeface="Poppins" panose="00000500000000000000" pitchFamily="2" charset="0"/>
              </a:rPr>
              <a:t>interaksi</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0C05C124-5740-6C29-10A7-767C6DAC71D4}"/>
              </a:ext>
            </a:extLst>
          </p:cNvPr>
          <p:cNvSpPr txBox="1"/>
          <p:nvPr/>
        </p:nvSpPr>
        <p:spPr>
          <a:xfrm>
            <a:off x="1864659" y="1683859"/>
            <a:ext cx="9689844" cy="1200329"/>
          </a:xfrm>
          <a:prstGeom prst="rect">
            <a:avLst/>
          </a:prstGeom>
          <a:noFill/>
        </p:spPr>
        <p:txBody>
          <a:bodyPr wrap="square">
            <a:spAutoFit/>
          </a:bodyPr>
          <a:lstStyle/>
          <a:p>
            <a:r>
              <a:rPr lang="en-ID" sz="2400" dirty="0" err="1">
                <a:latin typeface="Poppins" panose="00000500000000000000" pitchFamily="2" charset="0"/>
                <a:cs typeface="Poppins" panose="00000500000000000000" pitchFamily="2" charset="0"/>
              </a:rPr>
              <a:t>Perbedaannya</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dengan</a:t>
            </a:r>
            <a:r>
              <a:rPr lang="en-ID" sz="2400" dirty="0">
                <a:latin typeface="Poppins" panose="00000500000000000000" pitchFamily="2" charset="0"/>
                <a:cs typeface="Poppins" panose="00000500000000000000" pitchFamily="2" charset="0"/>
              </a:rPr>
              <a:t> software engineering </a:t>
            </a:r>
            <a:r>
              <a:rPr lang="en-ID" sz="2400" dirty="0" err="1">
                <a:latin typeface="Poppins" panose="00000500000000000000" pitchFamily="2" charset="0"/>
                <a:cs typeface="Poppins" panose="00000500000000000000" pitchFamily="2" charset="0"/>
              </a:rPr>
              <a:t>adalah</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metode</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filosofi</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serta</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aspek</a:t>
            </a:r>
            <a:r>
              <a:rPr lang="en-ID" sz="2400" dirty="0">
                <a:latin typeface="Poppins" panose="00000500000000000000" pitchFamily="2" charset="0"/>
                <a:cs typeface="Poppins" panose="00000500000000000000" pitchFamily="2" charset="0"/>
              </a:rPr>
              <a:t> yang </a:t>
            </a:r>
            <a:r>
              <a:rPr lang="en-ID" sz="2400" dirty="0" err="1">
                <a:latin typeface="Poppins" panose="00000500000000000000" pitchFamily="2" charset="0"/>
                <a:cs typeface="Poppins" panose="00000500000000000000" pitchFamily="2" charset="0"/>
              </a:rPr>
              <a:t>digunakan</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untuk</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menganalisa</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Berbagai</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disiplin</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ilmu</a:t>
            </a:r>
            <a:r>
              <a:rPr lang="en-ID" sz="2400" dirty="0">
                <a:latin typeface="Poppins" panose="00000500000000000000" pitchFamily="2" charset="0"/>
                <a:cs typeface="Poppins" panose="00000500000000000000" pitchFamily="2" charset="0"/>
              </a:rPr>
              <a:t> </a:t>
            </a:r>
            <a:r>
              <a:rPr lang="en-ID" sz="2400" dirty="0" err="1">
                <a:latin typeface="Poppins" panose="00000500000000000000" pitchFamily="2" charset="0"/>
                <a:cs typeface="Poppins" panose="00000500000000000000" pitchFamily="2" charset="0"/>
              </a:rPr>
              <a:t>dalam</a:t>
            </a:r>
            <a:r>
              <a:rPr lang="en-ID" sz="2400" dirty="0">
                <a:latin typeface="Poppins" panose="00000500000000000000" pitchFamily="2" charset="0"/>
                <a:cs typeface="Poppins" panose="00000500000000000000" pitchFamily="2" charset="0"/>
              </a:rPr>
              <a:t> Interaction Design.</a:t>
            </a:r>
          </a:p>
        </p:txBody>
      </p:sp>
    </p:spTree>
    <p:extLst>
      <p:ext uri="{BB962C8B-B14F-4D97-AF65-F5344CB8AC3E}">
        <p14:creationId xmlns:p14="http://schemas.microsoft.com/office/powerpoint/2010/main" val="3355210480"/>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C1F0FC2-6818-43F2-B09A-C26010AB059B}"/>
              </a:ext>
            </a:extLst>
          </p:cNvPr>
          <p:cNvSpPr/>
          <p:nvPr/>
        </p:nvSpPr>
        <p:spPr>
          <a:xfrm>
            <a:off x="1722420" y="1361645"/>
            <a:ext cx="9967556" cy="4769708"/>
          </a:xfrm>
          <a:prstGeom prst="roundRect">
            <a:avLst>
              <a:gd name="adj" fmla="val 127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 name="Flowchart: Off-page Connector 5">
            <a:extLst>
              <a:ext uri="{FF2B5EF4-FFF2-40B4-BE49-F238E27FC236}">
                <a16:creationId xmlns:a16="http://schemas.microsoft.com/office/drawing/2014/main" id="{571DFF28-A78E-A4EB-77B9-57360948B5DA}"/>
              </a:ext>
            </a:extLst>
          </p:cNvPr>
          <p:cNvSpPr/>
          <p:nvPr/>
        </p:nvSpPr>
        <p:spPr>
          <a:xfrm>
            <a:off x="233084" y="-81372"/>
            <a:ext cx="948267" cy="1100667"/>
          </a:xfrm>
          <a:prstGeom prst="flowChartOffpage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F69FD7CF-43BF-E198-2411-E0FFD349BE4A}"/>
              </a:ext>
            </a:extLst>
          </p:cNvPr>
          <p:cNvSpPr txBox="1"/>
          <p:nvPr/>
        </p:nvSpPr>
        <p:spPr>
          <a:xfrm>
            <a:off x="2016804" y="114979"/>
            <a:ext cx="8615335" cy="646331"/>
          </a:xfrm>
          <a:prstGeom prst="rect">
            <a:avLst/>
          </a:prstGeom>
          <a:noFill/>
        </p:spPr>
        <p:txBody>
          <a:bodyPr wrap="square" rtlCol="0">
            <a:spAutoFit/>
          </a:bodyPr>
          <a:lstStyle/>
          <a:p>
            <a:r>
              <a:rPr lang="en-US" sz="3600" dirty="0" err="1">
                <a:solidFill>
                  <a:schemeClr val="tx1">
                    <a:lumMod val="75000"/>
                    <a:lumOff val="25000"/>
                  </a:schemeClr>
                </a:solidFill>
                <a:latin typeface="Poppins" panose="00000500000000000000" pitchFamily="2" charset="0"/>
                <a:cs typeface="Poppins" panose="00000500000000000000" pitchFamily="2" charset="0"/>
              </a:rPr>
              <a:t>Komponen</a:t>
            </a:r>
            <a:r>
              <a:rPr lang="en-US" sz="3600" dirty="0">
                <a:solidFill>
                  <a:schemeClr val="tx1">
                    <a:lumMod val="75000"/>
                    <a:lumOff val="25000"/>
                  </a:schemeClr>
                </a:solidFill>
                <a:latin typeface="Poppins" panose="00000500000000000000" pitchFamily="2" charset="0"/>
                <a:cs typeface="Poppins" panose="00000500000000000000" pitchFamily="2" charset="0"/>
              </a:rPr>
              <a:t> Desain </a:t>
            </a:r>
            <a:r>
              <a:rPr lang="en-US" sz="3600" dirty="0" err="1">
                <a:solidFill>
                  <a:schemeClr val="tx1">
                    <a:lumMod val="75000"/>
                    <a:lumOff val="25000"/>
                  </a:schemeClr>
                </a:solidFill>
                <a:latin typeface="Poppins" panose="00000500000000000000" pitchFamily="2" charset="0"/>
                <a:cs typeface="Poppins" panose="00000500000000000000" pitchFamily="2" charset="0"/>
              </a:rPr>
              <a:t>interaksi</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970C381B-3B88-F012-32FA-E1C2FD77F7DD}"/>
              </a:ext>
            </a:extLst>
          </p:cNvPr>
          <p:cNvSpPr txBox="1"/>
          <p:nvPr/>
        </p:nvSpPr>
        <p:spPr>
          <a:xfrm>
            <a:off x="2465892" y="2315338"/>
            <a:ext cx="8480611" cy="2862322"/>
          </a:xfrm>
          <a:prstGeom prst="rect">
            <a:avLst/>
          </a:prstGeom>
          <a:noFill/>
        </p:spPr>
        <p:txBody>
          <a:bodyPr wrap="square">
            <a:spAutoFit/>
          </a:bodyPr>
          <a:lstStyle/>
          <a:p>
            <a:pPr marL="285750" indent="-285750">
              <a:buFont typeface="Arial" panose="020B0604020202020204" pitchFamily="34" charset="0"/>
              <a:buChar char="•"/>
            </a:pPr>
            <a:r>
              <a:rPr lang="en-ID" sz="2000" dirty="0" err="1">
                <a:latin typeface="Poppins" panose="00000500000000000000" pitchFamily="2" charset="0"/>
                <a:cs typeface="Poppins" panose="00000500000000000000" pitchFamily="2" charset="0"/>
              </a:rPr>
              <a:t>Dalam</a:t>
            </a:r>
            <a:r>
              <a:rPr lang="en-ID" sz="2000" dirty="0">
                <a:latin typeface="Poppins" panose="00000500000000000000" pitchFamily="2" charset="0"/>
                <a:cs typeface="Poppins" panose="00000500000000000000" pitchFamily="2" charset="0"/>
              </a:rPr>
              <a:t> Interaction Design, </a:t>
            </a:r>
            <a:r>
              <a:rPr lang="en-ID" sz="2000" dirty="0" err="1">
                <a:latin typeface="Poppins" panose="00000500000000000000" pitchFamily="2" charset="0"/>
                <a:cs typeface="Poppins" panose="00000500000000000000" pitchFamily="2" charset="0"/>
              </a:rPr>
              <a:t>desainer</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harus</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mempertimbangkan</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hal-hal</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seputar</a:t>
            </a:r>
            <a:r>
              <a:rPr lang="en-ID" sz="2000" dirty="0">
                <a:latin typeface="Poppins" panose="00000500000000000000" pitchFamily="2" charset="0"/>
                <a:cs typeface="Poppins" panose="00000500000000000000" pitchFamily="2" charset="0"/>
              </a:rPr>
              <a:t> user, </a:t>
            </a:r>
            <a:r>
              <a:rPr lang="en-ID" sz="2000" dirty="0" err="1">
                <a:latin typeface="Poppins" panose="00000500000000000000" pitchFamily="2" charset="0"/>
                <a:cs typeface="Poppins" panose="00000500000000000000" pitchFamily="2" charset="0"/>
              </a:rPr>
              <a:t>teknologi</a:t>
            </a:r>
            <a:r>
              <a:rPr lang="en-ID" sz="2000" dirty="0">
                <a:latin typeface="Poppins" panose="00000500000000000000" pitchFamily="2" charset="0"/>
                <a:cs typeface="Poppins" panose="00000500000000000000" pitchFamily="2" charset="0"/>
              </a:rPr>
              <a:t> dan </a:t>
            </a:r>
            <a:r>
              <a:rPr lang="en-ID" sz="2000" dirty="0" err="1">
                <a:latin typeface="Poppins" panose="00000500000000000000" pitchFamily="2" charset="0"/>
                <a:cs typeface="Poppins" panose="00000500000000000000" pitchFamily="2" charset="0"/>
              </a:rPr>
              <a:t>interaksi</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diantara</a:t>
            </a:r>
            <a:r>
              <a:rPr lang="en-ID" sz="2000" dirty="0">
                <a:latin typeface="Poppins" panose="00000500000000000000" pitchFamily="2" charset="0"/>
                <a:cs typeface="Poppins" panose="00000500000000000000" pitchFamily="2" charset="0"/>
              </a:rPr>
              <a:t> user dan </a:t>
            </a:r>
            <a:r>
              <a:rPr lang="en-ID" sz="2000" dirty="0" err="1">
                <a:latin typeface="Poppins" panose="00000500000000000000" pitchFamily="2" charset="0"/>
                <a:cs typeface="Poppins" panose="00000500000000000000" pitchFamily="2" charset="0"/>
              </a:rPr>
              <a:t>teknologi</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tersebut</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untuk</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menciptakan</a:t>
            </a:r>
            <a:r>
              <a:rPr lang="en-ID" sz="2000" dirty="0">
                <a:latin typeface="Poppins" panose="00000500000000000000" pitchFamily="2" charset="0"/>
                <a:cs typeface="Poppins" panose="00000500000000000000" pitchFamily="2" charset="0"/>
              </a:rPr>
              <a:t> user experience yang </a:t>
            </a:r>
            <a:r>
              <a:rPr lang="en-ID" sz="2000" dirty="0" err="1">
                <a:latin typeface="Poppins" panose="00000500000000000000" pitchFamily="2" charset="0"/>
                <a:cs typeface="Poppins" panose="00000500000000000000" pitchFamily="2" charset="0"/>
              </a:rPr>
              <a:t>efektif</a:t>
            </a:r>
            <a:r>
              <a:rPr lang="en-ID" sz="2000" dirty="0">
                <a:latin typeface="Poppins" panose="00000500000000000000" pitchFamily="2" charset="0"/>
                <a:cs typeface="Poppins" panose="00000500000000000000" pitchFamily="2" charset="0"/>
              </a:rPr>
              <a:t>.</a:t>
            </a:r>
          </a:p>
          <a:p>
            <a:pPr marL="285750" indent="-285750">
              <a:buFont typeface="Arial" panose="020B0604020202020204" pitchFamily="34" charset="0"/>
              <a:buChar char="•"/>
            </a:pPr>
            <a:r>
              <a:rPr lang="en-ID" sz="2000" dirty="0" err="1">
                <a:latin typeface="Poppins" panose="00000500000000000000" pitchFamily="2" charset="0"/>
                <a:cs typeface="Poppins" panose="00000500000000000000" pitchFamily="2" charset="0"/>
              </a:rPr>
              <a:t>Untuk</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dapat</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menciptakan</a:t>
            </a:r>
            <a:r>
              <a:rPr lang="en-ID" sz="2000" dirty="0">
                <a:latin typeface="Poppins" panose="00000500000000000000" pitchFamily="2" charset="0"/>
                <a:cs typeface="Poppins" panose="00000500000000000000" pitchFamily="2" charset="0"/>
              </a:rPr>
              <a:t> User Experience, </a:t>
            </a:r>
            <a:r>
              <a:rPr lang="en-ID" sz="2000" dirty="0" err="1">
                <a:latin typeface="Poppins" panose="00000500000000000000" pitchFamily="2" charset="0"/>
                <a:cs typeface="Poppins" panose="00000500000000000000" pitchFamily="2" charset="0"/>
              </a:rPr>
              <a:t>perlu</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mempertimbangkan</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faktor</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emosi</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seperti</a:t>
            </a:r>
            <a:r>
              <a:rPr lang="en-ID" sz="2000" dirty="0">
                <a:latin typeface="Poppins" panose="00000500000000000000" pitchFamily="2" charset="0"/>
                <a:cs typeface="Poppins" panose="00000500000000000000" pitchFamily="2" charset="0"/>
              </a:rPr>
              <a:t> aesthetics, desirability, dan narrative.</a:t>
            </a:r>
          </a:p>
          <a:p>
            <a:pPr marL="285750" indent="-285750">
              <a:buFont typeface="Arial" panose="020B0604020202020204" pitchFamily="34" charset="0"/>
              <a:buChar char="•"/>
            </a:pPr>
            <a:r>
              <a:rPr lang="en-ID" sz="2000" dirty="0" err="1">
                <a:latin typeface="Poppins" panose="00000500000000000000" pitchFamily="2" charset="0"/>
                <a:cs typeface="Poppins" panose="00000500000000000000" pitchFamily="2" charset="0"/>
              </a:rPr>
              <a:t>Selain</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itu</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perlu</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dipertimbangkan</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aspek</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bisnis</a:t>
            </a:r>
            <a:r>
              <a:rPr lang="en-ID" sz="2000" dirty="0">
                <a:latin typeface="Poppins" panose="00000500000000000000" pitchFamily="2" charset="0"/>
                <a:cs typeface="Poppins" panose="00000500000000000000" pitchFamily="2" charset="0"/>
              </a:rPr>
              <a:t> dan </a:t>
            </a:r>
            <a:r>
              <a:rPr lang="en-ID" sz="2000" dirty="0" err="1">
                <a:latin typeface="Poppins" panose="00000500000000000000" pitchFamily="2" charset="0"/>
                <a:cs typeface="Poppins" panose="00000500000000000000" pitchFamily="2" charset="0"/>
              </a:rPr>
              <a:t>teknologi</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dari</a:t>
            </a:r>
            <a:r>
              <a:rPr lang="en-ID" sz="2000" dirty="0">
                <a:latin typeface="Poppins" panose="00000500000000000000" pitchFamily="2" charset="0"/>
                <a:cs typeface="Poppins" panose="00000500000000000000" pitchFamily="2" charset="0"/>
              </a:rPr>
              <a:t> </a:t>
            </a:r>
            <a:r>
              <a:rPr lang="en-ID" sz="2000" dirty="0" err="1">
                <a:latin typeface="Poppins" panose="00000500000000000000" pitchFamily="2" charset="0"/>
                <a:cs typeface="Poppins" panose="00000500000000000000" pitchFamily="2" charset="0"/>
              </a:rPr>
              <a:t>produk</a:t>
            </a:r>
            <a:r>
              <a:rPr lang="en-ID" sz="2000" dirty="0">
                <a:latin typeface="Poppins" panose="00000500000000000000" pitchFamily="2" charset="0"/>
                <a:cs typeface="Poppins" panose="00000500000000000000" pitchFamily="2" charset="0"/>
              </a:rPr>
              <a:t> yang </a:t>
            </a:r>
            <a:r>
              <a:rPr lang="en-ID" sz="2000" dirty="0" err="1">
                <a:latin typeface="Poppins" panose="00000500000000000000" pitchFamily="2" charset="0"/>
                <a:cs typeface="Poppins" panose="00000500000000000000" pitchFamily="2" charset="0"/>
              </a:rPr>
              <a:t>dikembangkan</a:t>
            </a:r>
            <a:r>
              <a:rPr lang="en-ID" sz="2000"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3896349148"/>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C1F0FC2-6818-43F2-B09A-C26010AB059B}"/>
              </a:ext>
            </a:extLst>
          </p:cNvPr>
          <p:cNvSpPr/>
          <p:nvPr/>
        </p:nvSpPr>
        <p:spPr>
          <a:xfrm>
            <a:off x="1724967" y="1654926"/>
            <a:ext cx="8925716" cy="4769708"/>
          </a:xfrm>
          <a:prstGeom prst="roundRect">
            <a:avLst>
              <a:gd name="adj" fmla="val 127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 name="TextBox 4">
            <a:extLst>
              <a:ext uri="{FF2B5EF4-FFF2-40B4-BE49-F238E27FC236}">
                <a16:creationId xmlns:a16="http://schemas.microsoft.com/office/drawing/2014/main" id="{9A00A02D-0ED4-4F08-D1C6-CE5A3489E044}"/>
              </a:ext>
            </a:extLst>
          </p:cNvPr>
          <p:cNvSpPr txBox="1"/>
          <p:nvPr/>
        </p:nvSpPr>
        <p:spPr>
          <a:xfrm>
            <a:off x="2233827" y="3070284"/>
            <a:ext cx="8416856" cy="1631216"/>
          </a:xfrm>
          <a:prstGeom prst="rect">
            <a:avLst/>
          </a:prstGeom>
          <a:noFill/>
        </p:spPr>
        <p:txBody>
          <a:bodyPr wrap="square">
            <a:spAutoFit/>
          </a:bodyPr>
          <a:lstStyle/>
          <a:p>
            <a:r>
              <a:rPr lang="en-ID" sz="2000" dirty="0" err="1">
                <a:solidFill>
                  <a:schemeClr val="tx1">
                    <a:lumMod val="75000"/>
                    <a:lumOff val="25000"/>
                  </a:schemeClr>
                </a:solidFill>
                <a:latin typeface="Poppins" panose="00000500000000000000" pitchFamily="2" charset="0"/>
                <a:cs typeface="Poppins" panose="00000500000000000000" pitchFamily="2" charset="0"/>
              </a:rPr>
              <a:t>adalah</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untuk</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menciptakan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produk</a:t>
            </a:r>
            <a:r>
              <a:rPr lang="en-ID" sz="2000" dirty="0">
                <a:solidFill>
                  <a:schemeClr val="tx1">
                    <a:lumMod val="75000"/>
                    <a:lumOff val="25000"/>
                  </a:schemeClr>
                </a:solidFill>
                <a:latin typeface="Poppins" panose="00000500000000000000" pitchFamily="2" charset="0"/>
                <a:cs typeface="Poppins" panose="00000500000000000000" pitchFamily="2" charset="0"/>
              </a:rPr>
              <a:t>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memungkinkan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pengguna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mendapatkan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apa</a:t>
            </a:r>
            <a:r>
              <a:rPr lang="en-ID" sz="2000" dirty="0">
                <a:solidFill>
                  <a:schemeClr val="tx1">
                    <a:lumMod val="75000"/>
                    <a:lumOff val="25000"/>
                  </a:schemeClr>
                </a:solidFill>
                <a:latin typeface="Poppins" panose="00000500000000000000" pitchFamily="2" charset="0"/>
                <a:cs typeface="Poppins" panose="00000500000000000000" pitchFamily="2" charset="0"/>
              </a:rPr>
              <a:t>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diinginkannya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dengan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cara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terbaik</a:t>
            </a:r>
            <a:r>
              <a:rPr lang="en-ID" sz="2000" dirty="0">
                <a:solidFill>
                  <a:schemeClr val="tx1">
                    <a:lumMod val="75000"/>
                    <a:lumOff val="25000"/>
                  </a:schemeClr>
                </a:solidFill>
                <a:latin typeface="Poppins" panose="00000500000000000000" pitchFamily="2" charset="0"/>
                <a:cs typeface="Poppins" panose="00000500000000000000" pitchFamily="2" charset="0"/>
              </a:rPr>
              <a:t>. Ada </a:t>
            </a:r>
            <a:r>
              <a:rPr lang="en-ID" sz="2000" dirty="0" err="1">
                <a:solidFill>
                  <a:schemeClr val="tx1">
                    <a:lumMod val="75000"/>
                    <a:lumOff val="25000"/>
                  </a:schemeClr>
                </a:solidFill>
                <a:latin typeface="Poppins" panose="00000500000000000000" pitchFamily="2" charset="0"/>
                <a:cs typeface="Poppins" panose="00000500000000000000" pitchFamily="2" charset="0"/>
              </a:rPr>
              <a:t>beberapa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elemen</a:t>
            </a:r>
            <a:r>
              <a:rPr lang="en-ID" sz="2000" dirty="0">
                <a:solidFill>
                  <a:schemeClr val="tx1">
                    <a:lumMod val="75000"/>
                    <a:lumOff val="25000"/>
                  </a:schemeClr>
                </a:solidFill>
                <a:latin typeface="Poppins" panose="00000500000000000000" pitchFamily="2" charset="0"/>
                <a:cs typeface="Poppins" panose="00000500000000000000" pitchFamily="2" charset="0"/>
              </a:rPr>
              <a:t> yang </a:t>
            </a:r>
            <a:r>
              <a:rPr lang="en-ID" sz="2000" dirty="0" err="1">
                <a:solidFill>
                  <a:schemeClr val="tx1">
                    <a:lumMod val="75000"/>
                    <a:lumOff val="25000"/>
                  </a:schemeClr>
                </a:solidFill>
                <a:latin typeface="Poppins" panose="00000500000000000000" pitchFamily="2" charset="0"/>
                <a:cs typeface="Poppins" panose="00000500000000000000" pitchFamily="2" charset="0"/>
              </a:rPr>
              <a:t>perlu</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diperhatikan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dalam</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pembuatan</a:t>
            </a:r>
            <a:r>
              <a:rPr lang="en-ID" sz="2000" dirty="0">
                <a:solidFill>
                  <a:schemeClr val="tx1">
                    <a:lumMod val="75000"/>
                    <a:lumOff val="25000"/>
                  </a:schemeClr>
                </a:solidFill>
                <a:latin typeface="Poppins" panose="00000500000000000000" pitchFamily="2" charset="0"/>
                <a:cs typeface="Poppins" panose="00000500000000000000" pitchFamily="2" charset="0"/>
              </a:rPr>
              <a:t> interaction design, </a:t>
            </a:r>
            <a:r>
              <a:rPr lang="en-ID" sz="2000" dirty="0" err="1">
                <a:solidFill>
                  <a:schemeClr val="tx1">
                    <a:lumMod val="75000"/>
                    <a:lumOff val="25000"/>
                  </a:schemeClr>
                </a:solidFill>
                <a:latin typeface="Poppins" panose="00000500000000000000" pitchFamily="2" charset="0"/>
                <a:cs typeface="Poppins" panose="00000500000000000000" pitchFamily="2" charset="0"/>
              </a:rPr>
              <a:t>misalnya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estetika</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gerakan</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suara</a:t>
            </a:r>
            <a:r>
              <a:rPr lang="en-ID" sz="2000" dirty="0">
                <a:solidFill>
                  <a:schemeClr val="tx1">
                    <a:lumMod val="75000"/>
                    <a:lumOff val="25000"/>
                  </a:schemeClr>
                </a:solidFill>
                <a:latin typeface="Poppins" panose="00000500000000000000" pitchFamily="2" charset="0"/>
                <a:cs typeface="Poppins" panose="00000500000000000000" pitchFamily="2" charset="0"/>
              </a:rPr>
              <a:t>, dan </a:t>
            </a:r>
            <a:r>
              <a:rPr lang="en-ID" sz="2000" dirty="0" err="1">
                <a:solidFill>
                  <a:schemeClr val="tx1">
                    <a:lumMod val="75000"/>
                    <a:lumOff val="25000"/>
                  </a:schemeClr>
                </a:solidFill>
                <a:latin typeface="Poppins" panose="00000500000000000000" pitchFamily="2" charset="0"/>
                <a:cs typeface="Poppins" panose="00000500000000000000" pitchFamily="2" charset="0"/>
              </a:rPr>
              <a:t>masih</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banyak</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lagi</a:t>
            </a:r>
            <a:r>
              <a:rPr lang="en-ID" sz="2000" dirty="0">
                <a:solidFill>
                  <a:schemeClr val="tx1">
                    <a:lumMod val="75000"/>
                    <a:lumOff val="25000"/>
                  </a:schemeClr>
                </a:solidFill>
                <a:latin typeface="Poppins" panose="00000500000000000000" pitchFamily="2" charset="0"/>
                <a:cs typeface="Poppins" panose="00000500000000000000" pitchFamily="2" charset="0"/>
              </a:rPr>
              <a:t> </a:t>
            </a:r>
            <a:r>
              <a:rPr lang="en-ID" sz="2000" dirty="0" err="1">
                <a:solidFill>
                  <a:schemeClr val="tx1">
                    <a:lumMod val="75000"/>
                    <a:lumOff val="25000"/>
                  </a:schemeClr>
                </a:solidFill>
                <a:latin typeface="Poppins" panose="00000500000000000000" pitchFamily="2" charset="0"/>
                <a:cs typeface="Poppins" panose="00000500000000000000" pitchFamily="2" charset="0"/>
              </a:rPr>
              <a:t>lainnya</a:t>
            </a:r>
            <a:r>
              <a:rPr lang="en-ID" sz="2000" dirty="0">
                <a:solidFill>
                  <a:schemeClr val="tx1">
                    <a:lumMod val="75000"/>
                    <a:lumOff val="25000"/>
                  </a:schemeClr>
                </a:solidFill>
                <a:latin typeface="Poppins" panose="00000500000000000000" pitchFamily="2" charset="0"/>
                <a:cs typeface="Poppins" panose="00000500000000000000" pitchFamily="2" charset="0"/>
              </a:rPr>
              <a:t>.</a:t>
            </a:r>
          </a:p>
        </p:txBody>
      </p:sp>
      <p:sp>
        <p:nvSpPr>
          <p:cNvPr id="6" name="Flowchart: Off-page Connector 5">
            <a:extLst>
              <a:ext uri="{FF2B5EF4-FFF2-40B4-BE49-F238E27FC236}">
                <a16:creationId xmlns:a16="http://schemas.microsoft.com/office/drawing/2014/main" id="{571DFF28-A78E-A4EB-77B9-57360948B5DA}"/>
              </a:ext>
            </a:extLst>
          </p:cNvPr>
          <p:cNvSpPr/>
          <p:nvPr/>
        </p:nvSpPr>
        <p:spPr>
          <a:xfrm>
            <a:off x="251012" y="0"/>
            <a:ext cx="948267" cy="1100667"/>
          </a:xfrm>
          <a:prstGeom prst="flowChartOffpage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F69FD7CF-43BF-E198-2411-E0FFD349BE4A}"/>
              </a:ext>
            </a:extLst>
          </p:cNvPr>
          <p:cNvSpPr txBox="1"/>
          <p:nvPr/>
        </p:nvSpPr>
        <p:spPr>
          <a:xfrm>
            <a:off x="1796685" y="182451"/>
            <a:ext cx="7168019" cy="1200329"/>
          </a:xfrm>
          <a:prstGeom prst="rect">
            <a:avLst/>
          </a:prstGeom>
          <a:noFill/>
        </p:spPr>
        <p:txBody>
          <a:bodyPr wrap="square" rtlCol="0">
            <a:spAutoFit/>
          </a:bodyPr>
          <a:lstStyle/>
          <a:p>
            <a:r>
              <a:rPr lang="en-US" sz="3600" dirty="0" err="1">
                <a:solidFill>
                  <a:schemeClr val="tx1">
                    <a:lumMod val="75000"/>
                    <a:lumOff val="25000"/>
                  </a:schemeClr>
                </a:solidFill>
                <a:latin typeface="Poppins" panose="00000500000000000000" pitchFamily="2" charset="0"/>
                <a:cs typeface="Poppins" panose="00000500000000000000" pitchFamily="2" charset="0"/>
              </a:rPr>
              <a:t>Tujuan</a:t>
            </a:r>
            <a:r>
              <a:rPr lang="en-US" sz="3600" dirty="0">
                <a:solidFill>
                  <a:schemeClr val="tx1">
                    <a:lumMod val="75000"/>
                    <a:lumOff val="25000"/>
                  </a:schemeClr>
                </a:solidFill>
                <a:latin typeface="Poppins" panose="00000500000000000000" pitchFamily="2" charset="0"/>
                <a:cs typeface="Poppins" panose="00000500000000000000" pitchFamily="2" charset="0"/>
              </a:rPr>
              <a:t> Desain </a:t>
            </a:r>
            <a:r>
              <a:rPr lang="en-US" sz="3600" dirty="0" err="1">
                <a:solidFill>
                  <a:schemeClr val="tx1">
                    <a:lumMod val="75000"/>
                    <a:lumOff val="25000"/>
                  </a:schemeClr>
                </a:solidFill>
                <a:latin typeface="Poppins" panose="00000500000000000000" pitchFamily="2" charset="0"/>
                <a:cs typeface="Poppins" panose="00000500000000000000" pitchFamily="2" charset="0"/>
              </a:rPr>
              <a:t>Interaksi</a:t>
            </a:r>
            <a:endParaRPr lang="en-US" sz="3600" dirty="0">
              <a:solidFill>
                <a:schemeClr val="tx1">
                  <a:lumMod val="75000"/>
                  <a:lumOff val="25000"/>
                </a:schemeClr>
              </a:solidFill>
              <a:latin typeface="Poppins" panose="00000500000000000000" pitchFamily="2" charset="0"/>
              <a:cs typeface="Poppins" panose="00000500000000000000" pitchFamily="2" charset="0"/>
            </a:endParaRPr>
          </a:p>
          <a:p>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453028724"/>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B713DA9-A739-1671-6729-2754F8B568B3}"/>
              </a:ext>
            </a:extLst>
          </p:cNvPr>
          <p:cNvSpPr txBox="1"/>
          <p:nvPr/>
        </p:nvSpPr>
        <p:spPr>
          <a:xfrm>
            <a:off x="1596260" y="403941"/>
            <a:ext cx="3584633" cy="646331"/>
          </a:xfrm>
          <a:prstGeom prst="rect">
            <a:avLst/>
          </a:prstGeom>
          <a:solidFill>
            <a:schemeClr val="bg1">
              <a:lumMod val="85000"/>
            </a:schemeClr>
          </a:solidFill>
        </p:spPr>
        <p:txBody>
          <a:bodyPr wrap="square" rtlCol="0">
            <a:spAutoFit/>
          </a:bodyPr>
          <a:lstStyle/>
          <a:p>
            <a:r>
              <a:rPr lang="en-US" sz="3600" dirty="0" err="1">
                <a:solidFill>
                  <a:schemeClr val="tx1">
                    <a:lumMod val="75000"/>
                    <a:lumOff val="25000"/>
                  </a:schemeClr>
                </a:solidFill>
                <a:latin typeface="Poppins" panose="00000500000000000000" pitchFamily="2" charset="0"/>
                <a:cs typeface="Poppins" panose="00000500000000000000" pitchFamily="2" charset="0"/>
              </a:rPr>
              <a:t>Definisi</a:t>
            </a:r>
            <a:r>
              <a:rPr lang="en-US" sz="3600" dirty="0">
                <a:solidFill>
                  <a:schemeClr val="tx1">
                    <a:lumMod val="75000"/>
                    <a:lumOff val="25000"/>
                  </a:schemeClr>
                </a:solidFill>
                <a:latin typeface="Poppins" panose="00000500000000000000" pitchFamily="2" charset="0"/>
                <a:cs typeface="Poppins" panose="00000500000000000000" pitchFamily="2" charset="0"/>
              </a:rPr>
              <a:t> UI/UX</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13A59D90-28AC-0CBA-8A0F-DD1489E24239}"/>
              </a:ext>
            </a:extLst>
          </p:cNvPr>
          <p:cNvSpPr txBox="1"/>
          <p:nvPr/>
        </p:nvSpPr>
        <p:spPr>
          <a:xfrm>
            <a:off x="1434896" y="1940859"/>
            <a:ext cx="8504180" cy="3693319"/>
          </a:xfrm>
          <a:prstGeom prst="rect">
            <a:avLst/>
          </a:prstGeom>
          <a:noFill/>
        </p:spPr>
        <p:txBody>
          <a:bodyPr wrap="square">
            <a:spAutoFit/>
          </a:bodyPr>
          <a:lstStyle/>
          <a:p>
            <a:r>
              <a:rPr lang="sv-SE" dirty="0">
                <a:latin typeface="Poppins" panose="00000500000000000000" pitchFamily="2" charset="0"/>
                <a:cs typeface="Poppins" panose="00000500000000000000" pitchFamily="2" charset="0"/>
              </a:rPr>
              <a:t>UI atau User Interface adalah proses dimana menampilkan sebuah hasil dalam bentuk tampilan yang dapat dilihat oleh pengguna (user). Lebih tepatnya adalah bagian visual dari website, software, maupun hardware untuk user dapat berinteraksi. Tujuan dari User Interface sendiri adalah untuk meningkatkan fungsionalitas serta user experience dari pengguna.</a:t>
            </a:r>
          </a:p>
          <a:p>
            <a:endParaRPr lang="sv-SE" dirty="0">
              <a:latin typeface="Poppins" panose="00000500000000000000" pitchFamily="2" charset="0"/>
              <a:cs typeface="Poppins" panose="00000500000000000000" pitchFamily="2" charset="0"/>
            </a:endParaRPr>
          </a:p>
          <a:p>
            <a:r>
              <a:rPr lang="sv-SE" dirty="0">
                <a:latin typeface="Poppins" panose="00000500000000000000" pitchFamily="2" charset="0"/>
                <a:cs typeface="Poppins" panose="00000500000000000000" pitchFamily="2" charset="0"/>
              </a:rPr>
              <a:t>UX atau User Experience adalah proses dimana pengguna dapat berinteraksi dengan interface secara baik dan nyaman. Yang terpenting disini, tujuan dari UX adalah untuk meningkatkan kepuasan pengguna saat mengakses sebuah tampilan, baik dari sisi website, mobile, maupun desktop. UX sendiri menjadi sebuah penghubung antara pengguna dengan produk.</a:t>
            </a:r>
          </a:p>
        </p:txBody>
      </p:sp>
    </p:spTree>
    <p:extLst>
      <p:ext uri="{BB962C8B-B14F-4D97-AF65-F5344CB8AC3E}">
        <p14:creationId xmlns:p14="http://schemas.microsoft.com/office/powerpoint/2010/main" val="816608109"/>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B713DA9-A739-1671-6729-2754F8B568B3}"/>
              </a:ext>
            </a:extLst>
          </p:cNvPr>
          <p:cNvSpPr txBox="1"/>
          <p:nvPr/>
        </p:nvSpPr>
        <p:spPr>
          <a:xfrm>
            <a:off x="1649506" y="403941"/>
            <a:ext cx="8504180" cy="646331"/>
          </a:xfrm>
          <a:prstGeom prst="rect">
            <a:avLst/>
          </a:prstGeom>
          <a:solidFill>
            <a:schemeClr val="bg1">
              <a:lumMod val="85000"/>
            </a:schemeClr>
          </a:solidFill>
        </p:spPr>
        <p:txBody>
          <a:bodyPr wrap="square" rtlCol="0">
            <a:spAutoFit/>
          </a:bodyPr>
          <a:lstStyle/>
          <a:p>
            <a:r>
              <a:rPr lang="en-US" sz="3600" dirty="0" err="1">
                <a:solidFill>
                  <a:schemeClr val="tx1">
                    <a:lumMod val="75000"/>
                    <a:lumOff val="25000"/>
                  </a:schemeClr>
                </a:solidFill>
                <a:latin typeface="Poppins" panose="00000500000000000000" pitchFamily="2" charset="0"/>
                <a:cs typeface="Poppins" panose="00000500000000000000" pitchFamily="2" charset="0"/>
              </a:rPr>
              <a:t>Mengapa</a:t>
            </a:r>
            <a:r>
              <a:rPr lang="en-US" sz="3600" dirty="0">
                <a:solidFill>
                  <a:schemeClr val="tx1">
                    <a:lumMod val="75000"/>
                    <a:lumOff val="25000"/>
                  </a:schemeClr>
                </a:solidFill>
                <a:latin typeface="Poppins" panose="00000500000000000000" pitchFamily="2" charset="0"/>
                <a:cs typeface="Poppins" panose="00000500000000000000" pitchFamily="2" charset="0"/>
              </a:rPr>
              <a:t> </a:t>
            </a:r>
            <a:r>
              <a:rPr lang="en-US" sz="3600" dirty="0" err="1">
                <a:solidFill>
                  <a:schemeClr val="tx1">
                    <a:lumMod val="75000"/>
                    <a:lumOff val="25000"/>
                  </a:schemeClr>
                </a:solidFill>
                <a:latin typeface="Poppins" panose="00000500000000000000" pitchFamily="2" charset="0"/>
                <a:cs typeface="Poppins" panose="00000500000000000000" pitchFamily="2" charset="0"/>
              </a:rPr>
              <a:t>Belajar</a:t>
            </a:r>
            <a:r>
              <a:rPr lang="en-US" sz="3600" dirty="0">
                <a:solidFill>
                  <a:schemeClr val="tx1">
                    <a:lumMod val="75000"/>
                    <a:lumOff val="25000"/>
                  </a:schemeClr>
                </a:solidFill>
                <a:latin typeface="Poppins" panose="00000500000000000000" pitchFamily="2" charset="0"/>
                <a:cs typeface="Poppins" panose="00000500000000000000" pitchFamily="2" charset="0"/>
              </a:rPr>
              <a:t> UI/UX</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13A59D90-28AC-0CBA-8A0F-DD1489E24239}"/>
              </a:ext>
            </a:extLst>
          </p:cNvPr>
          <p:cNvSpPr txBox="1"/>
          <p:nvPr/>
        </p:nvSpPr>
        <p:spPr>
          <a:xfrm>
            <a:off x="1434896" y="1940859"/>
            <a:ext cx="8504180" cy="3139321"/>
          </a:xfrm>
          <a:prstGeom prst="rect">
            <a:avLst/>
          </a:prstGeom>
          <a:noFill/>
        </p:spPr>
        <p:txBody>
          <a:bodyPr wrap="square">
            <a:spAutoFit/>
          </a:bodyPr>
          <a:lstStyle/>
          <a:p>
            <a:r>
              <a:rPr lang="sv-SE" dirty="0">
                <a:latin typeface="Poppins" panose="00000500000000000000" pitchFamily="2" charset="0"/>
                <a:cs typeface="Poppins" panose="00000500000000000000" pitchFamily="2" charset="0"/>
              </a:rPr>
              <a:t>Penggunaan mobile app saat ini terus mengalami peningkatan. Sehingga perlu adanya penyesuaian dari tim developer untuk selalu membuat perubahan dari sisi tampilan agar lebih responsif serta mendukung tampilan dalam mobile. Selain itu, desain UI/UX sangat berpengaruh dalam proses pengembangan aplikasi. Terdapat beberapa aspek penting mengapa desain UI/UX mempunyai pengaruh yang besar bagi pengguna aplikasi.</a:t>
            </a:r>
          </a:p>
          <a:p>
            <a:endParaRPr lang="sv-SE" dirty="0">
              <a:latin typeface="Poppins" panose="00000500000000000000" pitchFamily="2" charset="0"/>
              <a:cs typeface="Poppins" panose="00000500000000000000" pitchFamily="2" charset="0"/>
            </a:endParaRPr>
          </a:p>
          <a:p>
            <a:r>
              <a:rPr lang="sv-SE" dirty="0">
                <a:latin typeface="Poppins" panose="00000500000000000000" pitchFamily="2" charset="0"/>
                <a:cs typeface="Poppins" panose="00000500000000000000" pitchFamily="2" charset="0"/>
              </a:rPr>
              <a:t>Aspek pertama adalah dari segi penggunaan (usability).</a:t>
            </a:r>
          </a:p>
          <a:p>
            <a:r>
              <a:rPr lang="sv-SE" dirty="0">
                <a:latin typeface="Poppins" panose="00000500000000000000" pitchFamily="2" charset="0"/>
                <a:cs typeface="Poppins" panose="00000500000000000000" pitchFamily="2" charset="0"/>
              </a:rPr>
              <a:t>Aspek kedua adalah dari segi tampilan visual.</a:t>
            </a:r>
          </a:p>
          <a:p>
            <a:r>
              <a:rPr lang="sv-SE" dirty="0">
                <a:latin typeface="Poppins" panose="00000500000000000000" pitchFamily="2" charset="0"/>
                <a:cs typeface="Poppins" panose="00000500000000000000" pitchFamily="2" charset="0"/>
              </a:rPr>
              <a:t>Aspek yang ketiga adalah konsistensi pada desainnya.</a:t>
            </a:r>
          </a:p>
        </p:txBody>
      </p:sp>
    </p:spTree>
    <p:extLst>
      <p:ext uri="{BB962C8B-B14F-4D97-AF65-F5344CB8AC3E}">
        <p14:creationId xmlns:p14="http://schemas.microsoft.com/office/powerpoint/2010/main" val="1580058395"/>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B713DA9-A739-1671-6729-2754F8B568B3}"/>
              </a:ext>
            </a:extLst>
          </p:cNvPr>
          <p:cNvSpPr txBox="1"/>
          <p:nvPr/>
        </p:nvSpPr>
        <p:spPr>
          <a:xfrm>
            <a:off x="1147483" y="421870"/>
            <a:ext cx="8504180" cy="646331"/>
          </a:xfrm>
          <a:prstGeom prst="rect">
            <a:avLst/>
          </a:prstGeom>
          <a:solidFill>
            <a:schemeClr val="bg1">
              <a:lumMod val="85000"/>
            </a:schemeClr>
          </a:solidFill>
        </p:spPr>
        <p:txBody>
          <a:bodyPr wrap="square" rtlCol="0">
            <a:spAutoFit/>
          </a:bodyPr>
          <a:lstStyle/>
          <a:p>
            <a:r>
              <a:rPr lang="nl-NL" sz="3600" dirty="0">
                <a:solidFill>
                  <a:schemeClr val="tx1">
                    <a:lumMod val="75000"/>
                    <a:lumOff val="25000"/>
                  </a:schemeClr>
                </a:solidFill>
                <a:latin typeface="Poppins" panose="00000500000000000000" pitchFamily="2" charset="0"/>
                <a:cs typeface="Poppins" panose="00000500000000000000" pitchFamily="2" charset="0"/>
              </a:rPr>
              <a:t>Perbedaan UI, UX, dan Usability</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pic>
        <p:nvPicPr>
          <p:cNvPr id="2" name="Content Placeholder 6">
            <a:extLst>
              <a:ext uri="{FF2B5EF4-FFF2-40B4-BE49-F238E27FC236}">
                <a16:creationId xmlns:a16="http://schemas.microsoft.com/office/drawing/2014/main" id="{CE592A58-36BD-7BAF-9A0D-E186A229D7DA}"/>
              </a:ext>
            </a:extLst>
          </p:cNvPr>
          <p:cNvPicPr>
            <a:picLocks noChangeAspect="1"/>
          </p:cNvPicPr>
          <p:nvPr/>
        </p:nvPicPr>
        <p:blipFill rotWithShape="1">
          <a:blip r:embed="rId3">
            <a:extLst>
              <a:ext uri="{28A0092B-C50C-407E-A947-70E740481C1C}">
                <a14:useLocalDpi xmlns:a14="http://schemas.microsoft.com/office/drawing/2010/main" val="0"/>
              </a:ext>
            </a:extLst>
          </a:blip>
          <a:srcRect l="6646" t="11078" r="6599" b="11154"/>
          <a:stretch/>
        </p:blipFill>
        <p:spPr>
          <a:xfrm>
            <a:off x="3478305" y="1241612"/>
            <a:ext cx="5100587" cy="2738624"/>
          </a:xfrm>
          <a:prstGeom prst="rect">
            <a:avLst/>
          </a:prstGeom>
        </p:spPr>
      </p:pic>
      <p:sp>
        <p:nvSpPr>
          <p:cNvPr id="4" name="Text Placeholder 4">
            <a:extLst>
              <a:ext uri="{FF2B5EF4-FFF2-40B4-BE49-F238E27FC236}">
                <a16:creationId xmlns:a16="http://schemas.microsoft.com/office/drawing/2014/main" id="{2246102A-00A5-5DC4-1258-17CF0C68F305}"/>
              </a:ext>
            </a:extLst>
          </p:cNvPr>
          <p:cNvSpPr txBox="1">
            <a:spLocks/>
          </p:cNvSpPr>
          <p:nvPr/>
        </p:nvSpPr>
        <p:spPr>
          <a:xfrm>
            <a:off x="724694" y="3769659"/>
            <a:ext cx="10742612"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Poppins" panose="00000500000000000000" pitchFamily="2" charset="0"/>
                <a:cs typeface="Poppins" panose="00000500000000000000" pitchFamily="2" charset="0"/>
              </a:rPr>
              <a:t>UI</a:t>
            </a:r>
          </a:p>
          <a:p>
            <a:r>
              <a:rPr lang="en-US" sz="2000" dirty="0" err="1">
                <a:latin typeface="Poppins" panose="00000500000000000000" pitchFamily="2" charset="0"/>
                <a:cs typeface="Poppins" panose="00000500000000000000" pitchFamily="2" charset="0"/>
              </a:rPr>
              <a:t>Saat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mendesain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sebuah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tampilan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antarmuka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sebuah</a:t>
            </a:r>
            <a:r>
              <a:rPr lang="en-US" sz="2000" dirty="0">
                <a:latin typeface="Poppins" panose="00000500000000000000" pitchFamily="2" charset="0"/>
                <a:cs typeface="Poppins" panose="00000500000000000000" pitchFamily="2" charset="0"/>
              </a:rPr>
              <a:t> “button submit” pada </a:t>
            </a:r>
            <a:r>
              <a:rPr lang="en-US" sz="2000" dirty="0" err="1">
                <a:latin typeface="Poppins" panose="00000500000000000000" pitchFamily="2" charset="0"/>
                <a:cs typeface="Poppins" panose="00000500000000000000" pitchFamily="2" charset="0"/>
              </a:rPr>
              <a:t>aplikasi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atau</a:t>
            </a:r>
            <a:r>
              <a:rPr lang="en-US" sz="2000" dirty="0">
                <a:latin typeface="Poppins" panose="00000500000000000000" pitchFamily="2" charset="0"/>
                <a:cs typeface="Poppins" panose="00000500000000000000" pitchFamily="2" charset="0"/>
              </a:rPr>
              <a:t> website, para </a:t>
            </a:r>
            <a:r>
              <a:rPr lang="en-US" sz="2000" dirty="0" err="1">
                <a:latin typeface="Poppins" panose="00000500000000000000" pitchFamily="2" charset="0"/>
                <a:cs typeface="Poppins" panose="00000500000000000000" pitchFamily="2" charset="0"/>
              </a:rPr>
              <a:t>desainer</a:t>
            </a:r>
            <a:r>
              <a:rPr lang="en-US" sz="2000" dirty="0">
                <a:latin typeface="Poppins" panose="00000500000000000000" pitchFamily="2" charset="0"/>
                <a:cs typeface="Poppins" panose="00000500000000000000" pitchFamily="2" charset="0"/>
              </a:rPr>
              <a:t> UI </a:t>
            </a:r>
            <a:r>
              <a:rPr lang="en-US" sz="2000" dirty="0" err="1">
                <a:latin typeface="Poppins" panose="00000500000000000000" pitchFamily="2" charset="0"/>
                <a:cs typeface="Poppins" panose="00000500000000000000" pitchFamily="2" charset="0"/>
              </a:rPr>
              <a:t>memikirkan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desain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tombol</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tersebut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Bagaimana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bentuknya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Segiempat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atau</a:t>
            </a:r>
            <a:r>
              <a:rPr lang="en-US" sz="2000" dirty="0">
                <a:latin typeface="Poppins" panose="00000500000000000000" pitchFamily="2" charset="0"/>
                <a:cs typeface="Poppins" panose="00000500000000000000" pitchFamily="2" charset="0"/>
              </a:rPr>
              <a:t> oval? </a:t>
            </a:r>
            <a:r>
              <a:rPr lang="en-US" sz="2000" dirty="0" err="1">
                <a:latin typeface="Poppins" panose="00000500000000000000" pitchFamily="2" charset="0"/>
                <a:cs typeface="Poppins" panose="00000500000000000000" pitchFamily="2" charset="0"/>
              </a:rPr>
              <a:t>Apa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warnanya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Putih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atau</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hitam</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Bagaimana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tombol</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bekerja</a:t>
            </a:r>
            <a:r>
              <a:rPr lang="en-US" sz="2000" dirty="0">
                <a:latin typeface="Poppins" panose="00000500000000000000" pitchFamily="2" charset="0"/>
                <a:cs typeface="Poppins" panose="00000500000000000000" pitchFamily="2" charset="0"/>
              </a:rPr>
              <a:t>? Pada </a:t>
            </a:r>
            <a:r>
              <a:rPr lang="en-US" sz="2000" dirty="0" err="1">
                <a:latin typeface="Poppins" panose="00000500000000000000" pitchFamily="2" charset="0"/>
                <a:cs typeface="Poppins" panose="00000500000000000000" pitchFamily="2" charset="0"/>
              </a:rPr>
              <a:t>dasarnya</a:t>
            </a:r>
            <a:r>
              <a:rPr lang="en-US" sz="2000" dirty="0">
                <a:latin typeface="Poppins" panose="00000500000000000000" pitchFamily="2" charset="0"/>
                <a:cs typeface="Poppins" panose="00000500000000000000" pitchFamily="2" charset="0"/>
              </a:rPr>
              <a:t> UI </a:t>
            </a:r>
            <a:r>
              <a:rPr lang="en-US" sz="2000" dirty="0" err="1">
                <a:latin typeface="Poppins" panose="00000500000000000000" pitchFamily="2" charset="0"/>
                <a:cs typeface="Poppins" panose="00000500000000000000" pitchFamily="2" charset="0"/>
              </a:rPr>
              <a:t>adalah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titik</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interaksi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antara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manusia</a:t>
            </a:r>
            <a:r>
              <a:rPr lang="en-US" sz="2000" dirty="0">
                <a:latin typeface="Poppins" panose="00000500000000000000" pitchFamily="2" charset="0"/>
                <a:cs typeface="Poppins" panose="00000500000000000000" pitchFamily="2" charset="0"/>
              </a:rPr>
              <a:t> dan </a:t>
            </a:r>
            <a:r>
              <a:rPr lang="en-US" sz="2000" dirty="0" err="1">
                <a:latin typeface="Poppins" panose="00000500000000000000" pitchFamily="2" charset="0"/>
                <a:cs typeface="Poppins" panose="00000500000000000000" pitchFamily="2" charset="0"/>
              </a:rPr>
              <a:t>aplikasi</a:t>
            </a:r>
            <a:r>
              <a:rPr lang="en-US" sz="2000" dirty="0">
                <a:latin typeface="Poppins" panose="00000500000000000000" pitchFamily="2" charset="0"/>
                <a:cs typeface="Poppins" panose="00000500000000000000" pitchFamily="2" charset="0"/>
              </a:rPr>
              <a:t>. Desain </a:t>
            </a:r>
            <a:r>
              <a:rPr lang="en-US" sz="2000" dirty="0" err="1">
                <a:latin typeface="Poppins" panose="00000500000000000000" pitchFamily="2" charset="0"/>
                <a:cs typeface="Poppins" panose="00000500000000000000" pitchFamily="2" charset="0"/>
              </a:rPr>
              <a:t>tombol</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kolom</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entri</a:t>
            </a:r>
            <a:r>
              <a:rPr lang="en-US" sz="2000" dirty="0">
                <a:latin typeface="Poppins" panose="00000500000000000000" pitchFamily="2" charset="0"/>
                <a:cs typeface="Poppins" panose="00000500000000000000" pitchFamily="2" charset="0"/>
              </a:rPr>
              <a:t>, dan tata </a:t>
            </a:r>
            <a:r>
              <a:rPr lang="en-US" sz="2000" dirty="0" err="1">
                <a:latin typeface="Poppins" panose="00000500000000000000" pitchFamily="2" charset="0"/>
                <a:cs typeface="Poppins" panose="00000500000000000000" pitchFamily="2" charset="0"/>
              </a:rPr>
              <a:t>letak</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aplikasi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atau</a:t>
            </a:r>
            <a:r>
              <a:rPr lang="en-US" sz="2000" dirty="0">
                <a:latin typeface="Poppins" panose="00000500000000000000" pitchFamily="2" charset="0"/>
                <a:cs typeface="Poppins" panose="00000500000000000000" pitchFamily="2" charset="0"/>
              </a:rPr>
              <a:t> situs web </a:t>
            </a:r>
            <a:r>
              <a:rPr lang="en-US" sz="2000" dirty="0" err="1">
                <a:latin typeface="Poppins" panose="00000500000000000000" pitchFamily="2" charset="0"/>
                <a:cs typeface="Poppins" panose="00000500000000000000" pitchFamily="2" charset="0"/>
              </a:rPr>
              <a:t>adalah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tempat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pengguna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berinteraksi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dengan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sistem</a:t>
            </a:r>
            <a:r>
              <a:rPr lang="en-US" sz="2000" dirty="0">
                <a:latin typeface="Poppins" panose="00000500000000000000" pitchFamily="2" charset="0"/>
                <a:cs typeface="Poppins" panose="00000500000000000000" pitchFamily="2" charset="0"/>
              </a:rPr>
              <a:t>. Jadi </a:t>
            </a:r>
            <a:r>
              <a:rPr lang="en-US" sz="2000" dirty="0" err="1">
                <a:latin typeface="Poppins" panose="00000500000000000000" pitchFamily="2" charset="0"/>
                <a:cs typeface="Poppins" panose="00000500000000000000" pitchFamily="2" charset="0"/>
              </a:rPr>
              <a:t>singkatnya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desain</a:t>
            </a:r>
            <a:r>
              <a:rPr lang="en-US" sz="2000" dirty="0">
                <a:latin typeface="Poppins" panose="00000500000000000000" pitchFamily="2" charset="0"/>
                <a:cs typeface="Poppins" panose="00000500000000000000" pitchFamily="2" charset="0"/>
              </a:rPr>
              <a:t> UI </a:t>
            </a:r>
            <a:r>
              <a:rPr lang="en-US" sz="2000" dirty="0" err="1">
                <a:latin typeface="Poppins" panose="00000500000000000000" pitchFamily="2" charset="0"/>
                <a:cs typeface="Poppins" panose="00000500000000000000" pitchFamily="2" charset="0"/>
              </a:rPr>
              <a:t>adalah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desain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titik</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interaksi</a:t>
            </a:r>
            <a:r>
              <a:rPr lang="en-US" sz="2000" dirty="0">
                <a:latin typeface="Poppins" panose="00000500000000000000" pitchFamily="2" charset="0"/>
                <a:cs typeface="Poppins" panose="00000500000000000000" pitchFamily="2" charset="0"/>
              </a:rPr>
              <a:t> di mana </a:t>
            </a:r>
            <a:r>
              <a:rPr lang="en-US" sz="2000" dirty="0" err="1">
                <a:latin typeface="Poppins" panose="00000500000000000000" pitchFamily="2" charset="0"/>
                <a:cs typeface="Poppins" panose="00000500000000000000" pitchFamily="2" charset="0"/>
              </a:rPr>
              <a:t>pengguna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dapat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berinteraksi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dengan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sistem</a:t>
            </a:r>
            <a:r>
              <a:rPr lang="en-US" sz="2000" dirty="0">
                <a:latin typeface="Poppins" panose="00000500000000000000" pitchFamily="2" charset="0"/>
                <a:cs typeface="Poppins" panose="00000500000000000000" pitchFamily="2" charset="0"/>
              </a:rPr>
              <a:t>.</a:t>
            </a:r>
          </a:p>
          <a:p>
            <a:endParaRPr lang="en-ID" dirty="0"/>
          </a:p>
        </p:txBody>
      </p:sp>
    </p:spTree>
    <p:extLst>
      <p:ext uri="{BB962C8B-B14F-4D97-AF65-F5344CB8AC3E}">
        <p14:creationId xmlns:p14="http://schemas.microsoft.com/office/powerpoint/2010/main" val="1522959577"/>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B713DA9-A739-1671-6729-2754F8B568B3}"/>
              </a:ext>
            </a:extLst>
          </p:cNvPr>
          <p:cNvSpPr txBox="1"/>
          <p:nvPr/>
        </p:nvSpPr>
        <p:spPr>
          <a:xfrm>
            <a:off x="1147483" y="421870"/>
            <a:ext cx="8504180" cy="646331"/>
          </a:xfrm>
          <a:prstGeom prst="rect">
            <a:avLst/>
          </a:prstGeom>
          <a:solidFill>
            <a:schemeClr val="bg1">
              <a:lumMod val="85000"/>
            </a:schemeClr>
          </a:solidFill>
        </p:spPr>
        <p:txBody>
          <a:bodyPr wrap="square" rtlCol="0">
            <a:spAutoFit/>
          </a:bodyPr>
          <a:lstStyle/>
          <a:p>
            <a:r>
              <a:rPr lang="nl-NL" sz="3600" dirty="0">
                <a:solidFill>
                  <a:schemeClr val="tx1">
                    <a:lumMod val="75000"/>
                    <a:lumOff val="25000"/>
                  </a:schemeClr>
                </a:solidFill>
                <a:latin typeface="Poppins" panose="00000500000000000000" pitchFamily="2" charset="0"/>
                <a:cs typeface="Poppins" panose="00000500000000000000" pitchFamily="2" charset="0"/>
              </a:rPr>
              <a:t>Perbedaan UI, UX, dan Usability</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pic>
        <p:nvPicPr>
          <p:cNvPr id="2" name="Content Placeholder 6">
            <a:extLst>
              <a:ext uri="{FF2B5EF4-FFF2-40B4-BE49-F238E27FC236}">
                <a16:creationId xmlns:a16="http://schemas.microsoft.com/office/drawing/2014/main" id="{CE592A58-36BD-7BAF-9A0D-E186A229D7DA}"/>
              </a:ext>
            </a:extLst>
          </p:cNvPr>
          <p:cNvPicPr>
            <a:picLocks noChangeAspect="1"/>
          </p:cNvPicPr>
          <p:nvPr/>
        </p:nvPicPr>
        <p:blipFill rotWithShape="1">
          <a:blip r:embed="rId3">
            <a:extLst>
              <a:ext uri="{28A0092B-C50C-407E-A947-70E740481C1C}">
                <a14:useLocalDpi xmlns:a14="http://schemas.microsoft.com/office/drawing/2010/main" val="0"/>
              </a:ext>
            </a:extLst>
          </a:blip>
          <a:srcRect l="6646" t="11078" r="6599" b="11154"/>
          <a:stretch/>
        </p:blipFill>
        <p:spPr>
          <a:xfrm>
            <a:off x="3478305" y="1241612"/>
            <a:ext cx="5100587" cy="2738624"/>
          </a:xfrm>
          <a:prstGeom prst="rect">
            <a:avLst/>
          </a:prstGeom>
        </p:spPr>
      </p:pic>
      <p:sp>
        <p:nvSpPr>
          <p:cNvPr id="4" name="Text Placeholder 4">
            <a:extLst>
              <a:ext uri="{FF2B5EF4-FFF2-40B4-BE49-F238E27FC236}">
                <a16:creationId xmlns:a16="http://schemas.microsoft.com/office/drawing/2014/main" id="{2246102A-00A5-5DC4-1258-17CF0C68F305}"/>
              </a:ext>
            </a:extLst>
          </p:cNvPr>
          <p:cNvSpPr txBox="1">
            <a:spLocks/>
          </p:cNvSpPr>
          <p:nvPr/>
        </p:nvSpPr>
        <p:spPr>
          <a:xfrm>
            <a:off x="724694" y="3980236"/>
            <a:ext cx="10742612"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Poppins" panose="00000500000000000000" pitchFamily="2" charset="0"/>
                <a:cs typeface="Poppins" panose="00000500000000000000" pitchFamily="2" charset="0"/>
              </a:rPr>
              <a:t>UX</a:t>
            </a:r>
          </a:p>
          <a:p>
            <a:r>
              <a:rPr lang="en-US" sz="2000" dirty="0">
                <a:latin typeface="Poppins" panose="00000500000000000000" pitchFamily="2" charset="0"/>
                <a:cs typeface="Poppins" panose="00000500000000000000" pitchFamily="2" charset="0"/>
              </a:rPr>
              <a:t>Para </a:t>
            </a:r>
            <a:r>
              <a:rPr lang="en-US" sz="2000" dirty="0" err="1">
                <a:latin typeface="Poppins" panose="00000500000000000000" pitchFamily="2" charset="0"/>
                <a:cs typeface="Poppins" panose="00000500000000000000" pitchFamily="2" charset="0"/>
              </a:rPr>
              <a:t>desainer</a:t>
            </a:r>
            <a:r>
              <a:rPr lang="en-US" sz="2000" dirty="0">
                <a:latin typeface="Poppins" panose="00000500000000000000" pitchFamily="2" charset="0"/>
                <a:cs typeface="Poppins" panose="00000500000000000000" pitchFamily="2" charset="0"/>
              </a:rPr>
              <a:t> UX </a:t>
            </a:r>
            <a:r>
              <a:rPr lang="en-US" sz="2000" dirty="0" err="1">
                <a:latin typeface="Poppins" panose="00000500000000000000" pitchFamily="2" charset="0"/>
                <a:cs typeface="Poppins" panose="00000500000000000000" pitchFamily="2" charset="0"/>
              </a:rPr>
              <a:t>lebih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memikirkan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bagaimana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sebuah</a:t>
            </a:r>
            <a:r>
              <a:rPr lang="en-US" sz="2000" dirty="0">
                <a:latin typeface="Poppins" panose="00000500000000000000" pitchFamily="2" charset="0"/>
                <a:cs typeface="Poppins" panose="00000500000000000000" pitchFamily="2" charset="0"/>
              </a:rPr>
              <a:t> “button” </a:t>
            </a:r>
            <a:r>
              <a:rPr lang="en-US" sz="2000" dirty="0" err="1">
                <a:latin typeface="Poppins" panose="00000500000000000000" pitchFamily="2" charset="0"/>
                <a:cs typeface="Poppins" panose="00000500000000000000" pitchFamily="2" charset="0"/>
              </a:rPr>
              <a:t>dapat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bekerja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dengan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baik</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Apakah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tombol</a:t>
            </a:r>
            <a:r>
              <a:rPr lang="en-US" sz="2000" dirty="0">
                <a:latin typeface="Poppins" panose="00000500000000000000" pitchFamily="2" charset="0"/>
                <a:cs typeface="Poppins" panose="00000500000000000000" pitchFamily="2" charset="0"/>
              </a:rPr>
              <a:t> “cancel” </a:t>
            </a:r>
            <a:r>
              <a:rPr lang="en-US" sz="2000" dirty="0" err="1">
                <a:latin typeface="Poppins" panose="00000500000000000000" pitchFamily="2" charset="0"/>
                <a:cs typeface="Poppins" panose="00000500000000000000" pitchFamily="2" charset="0"/>
              </a:rPr>
              <a:t>sebaiknya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dibuat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dengan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sebuah</a:t>
            </a:r>
            <a:r>
              <a:rPr lang="en-US" sz="2000" dirty="0">
                <a:latin typeface="Poppins" panose="00000500000000000000" pitchFamily="2" charset="0"/>
                <a:cs typeface="Poppins" panose="00000500000000000000" pitchFamily="2" charset="0"/>
              </a:rPr>
              <a:t> link tulisan </a:t>
            </a:r>
            <a:r>
              <a:rPr lang="en-US" sz="2000" dirty="0" err="1">
                <a:latin typeface="Poppins" panose="00000500000000000000" pitchFamily="2" charset="0"/>
                <a:cs typeface="Poppins" panose="00000500000000000000" pitchFamily="2" charset="0"/>
              </a:rPr>
              <a:t>saja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Ataukah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dibuat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sama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bentuknya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dengan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tombol</a:t>
            </a:r>
            <a:r>
              <a:rPr lang="en-US" sz="2000" dirty="0">
                <a:latin typeface="Poppins" panose="00000500000000000000" pitchFamily="2" charset="0"/>
                <a:cs typeface="Poppins" panose="00000500000000000000" pitchFamily="2" charset="0"/>
              </a:rPr>
              <a:t> “submit”? UX </a:t>
            </a:r>
            <a:r>
              <a:rPr lang="en-US" sz="2000" dirty="0" err="1">
                <a:latin typeface="Poppins" panose="00000500000000000000" pitchFamily="2" charset="0"/>
                <a:cs typeface="Poppins" panose="00000500000000000000" pitchFamily="2" charset="0"/>
              </a:rPr>
              <a:t>adalah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pengalaman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keseluruhan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pengguna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akhir</a:t>
            </a:r>
            <a:r>
              <a:rPr lang="en-US" sz="2000" dirty="0">
                <a:latin typeface="Poppins" panose="00000500000000000000" pitchFamily="2" charset="0"/>
                <a:cs typeface="Poppins" panose="00000500000000000000" pitchFamily="2" charset="0"/>
              </a:rPr>
              <a:t> agar </a:t>
            </a:r>
            <a:r>
              <a:rPr lang="en-US" sz="2000" dirty="0" err="1">
                <a:latin typeface="Poppins" panose="00000500000000000000" pitchFamily="2" charset="0"/>
                <a:cs typeface="Poppins" panose="00000500000000000000" pitchFamily="2" charset="0"/>
              </a:rPr>
              <a:t>aplikasi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dapat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bekerja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lebih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baik</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lagi</a:t>
            </a:r>
            <a:r>
              <a:rPr lang="en-US" sz="2000" dirty="0">
                <a:latin typeface="Poppins" panose="00000500000000000000" pitchFamily="2" charset="0"/>
                <a:cs typeface="Poppins" panose="00000500000000000000" pitchFamily="2" charset="0"/>
              </a:rPr>
              <a:t>.</a:t>
            </a:r>
          </a:p>
          <a:p>
            <a:endParaRPr lang="en-ID" dirty="0"/>
          </a:p>
        </p:txBody>
      </p:sp>
    </p:spTree>
    <p:extLst>
      <p:ext uri="{BB962C8B-B14F-4D97-AF65-F5344CB8AC3E}">
        <p14:creationId xmlns:p14="http://schemas.microsoft.com/office/powerpoint/2010/main" val="3203880550"/>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B713DA9-A739-1671-6729-2754F8B568B3}"/>
              </a:ext>
            </a:extLst>
          </p:cNvPr>
          <p:cNvSpPr txBox="1"/>
          <p:nvPr/>
        </p:nvSpPr>
        <p:spPr>
          <a:xfrm>
            <a:off x="1147483" y="421870"/>
            <a:ext cx="8504180" cy="646331"/>
          </a:xfrm>
          <a:prstGeom prst="rect">
            <a:avLst/>
          </a:prstGeom>
          <a:solidFill>
            <a:schemeClr val="bg1">
              <a:lumMod val="85000"/>
            </a:schemeClr>
          </a:solidFill>
        </p:spPr>
        <p:txBody>
          <a:bodyPr wrap="square" rtlCol="0">
            <a:spAutoFit/>
          </a:bodyPr>
          <a:lstStyle/>
          <a:p>
            <a:r>
              <a:rPr lang="nl-NL" sz="3600" dirty="0">
                <a:solidFill>
                  <a:schemeClr val="tx1">
                    <a:lumMod val="75000"/>
                    <a:lumOff val="25000"/>
                  </a:schemeClr>
                </a:solidFill>
                <a:latin typeface="Poppins" panose="00000500000000000000" pitchFamily="2" charset="0"/>
                <a:cs typeface="Poppins" panose="00000500000000000000" pitchFamily="2" charset="0"/>
              </a:rPr>
              <a:t>Perbedaan UI, UX, dan Usability</a:t>
            </a:r>
            <a:endParaRPr lang="en-ID" sz="3600" dirty="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Text Placeholder 4">
            <a:extLst>
              <a:ext uri="{FF2B5EF4-FFF2-40B4-BE49-F238E27FC236}">
                <a16:creationId xmlns:a16="http://schemas.microsoft.com/office/drawing/2014/main" id="{2246102A-00A5-5DC4-1258-17CF0C68F305}"/>
              </a:ext>
            </a:extLst>
          </p:cNvPr>
          <p:cNvSpPr txBox="1">
            <a:spLocks/>
          </p:cNvSpPr>
          <p:nvPr/>
        </p:nvSpPr>
        <p:spPr>
          <a:xfrm>
            <a:off x="599188" y="4530336"/>
            <a:ext cx="10742612" cy="16761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Poppins" panose="00000500000000000000" pitchFamily="2" charset="0"/>
                <a:cs typeface="Poppins" panose="00000500000000000000" pitchFamily="2" charset="0"/>
              </a:rPr>
              <a:t>Usability</a:t>
            </a:r>
          </a:p>
          <a:p>
            <a:r>
              <a:rPr lang="en-US" sz="2000" dirty="0">
                <a:latin typeface="Poppins" panose="00000500000000000000" pitchFamily="2" charset="0"/>
                <a:cs typeface="Poppins" panose="00000500000000000000" pitchFamily="2" charset="0"/>
              </a:rPr>
              <a:t>Usability </a:t>
            </a:r>
            <a:r>
              <a:rPr lang="en-US" sz="2000" dirty="0" err="1">
                <a:latin typeface="Poppins" panose="00000500000000000000" pitchFamily="2" charset="0"/>
                <a:cs typeface="Poppins" panose="00000500000000000000" pitchFamily="2" charset="0"/>
              </a:rPr>
              <a:t>merupakan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bagian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dari</a:t>
            </a:r>
            <a:r>
              <a:rPr lang="en-US" sz="2000" dirty="0">
                <a:latin typeface="Poppins" panose="00000500000000000000" pitchFamily="2" charset="0"/>
                <a:cs typeface="Poppins" panose="00000500000000000000" pitchFamily="2" charset="0"/>
              </a:rPr>
              <a:t> UX. Usability </a:t>
            </a:r>
            <a:r>
              <a:rPr lang="en-US" sz="2000" dirty="0" err="1">
                <a:latin typeface="Poppins" panose="00000500000000000000" pitchFamily="2" charset="0"/>
                <a:cs typeface="Poppins" panose="00000500000000000000" pitchFamily="2" charset="0"/>
              </a:rPr>
              <a:t>adalah</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persepsi</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pengguna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akhir</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tentang</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bagaimana</a:t>
            </a:r>
            <a:r>
              <a:rPr lang="en-US" sz="2000" dirty="0">
                <a:latin typeface="Poppins" panose="00000500000000000000" pitchFamily="2" charset="0"/>
                <a:cs typeface="Poppins" panose="00000500000000000000" pitchFamily="2" charset="0"/>
              </a:rPr>
              <a:t> orang </a:t>
            </a:r>
            <a:r>
              <a:rPr lang="en-US" sz="2000" dirty="0" err="1">
                <a:latin typeface="Poppins" panose="00000500000000000000" pitchFamily="2" charset="0"/>
                <a:cs typeface="Poppins" panose="00000500000000000000" pitchFamily="2" charset="0"/>
              </a:rPr>
              <a:t>itu</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dapat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secara</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efektif</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efisien</a:t>
            </a:r>
            <a:r>
              <a:rPr lang="en-US" sz="2000" dirty="0">
                <a:latin typeface="Poppins" panose="00000500000000000000" pitchFamily="2" charset="0"/>
                <a:cs typeface="Poppins" panose="00000500000000000000" pitchFamily="2" charset="0"/>
              </a:rPr>
              <a:t> dan </a:t>
            </a:r>
            <a:r>
              <a:rPr lang="en-US" sz="2000" dirty="0" err="1">
                <a:latin typeface="Poppins" panose="00000500000000000000" pitchFamily="2" charset="0"/>
                <a:cs typeface="Poppins" panose="00000500000000000000" pitchFamily="2" charset="0"/>
              </a:rPr>
              <a:t>puas</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dalam</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menyelesaikan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tugas</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saat</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menggunakan</a:t>
            </a:r>
            <a:r>
              <a:rPr lang="en-US" sz="2000" dirty="0">
                <a:latin typeface="Poppins" panose="00000500000000000000" pitchFamily="2" charset="0"/>
                <a:cs typeface="Poppins" panose="00000500000000000000" pitchFamily="2" charset="0"/>
              </a:rPr>
              <a:t> </a:t>
            </a:r>
            <a:r>
              <a:rPr lang="en-US" sz="2000" dirty="0" err="1">
                <a:latin typeface="Poppins" panose="00000500000000000000" pitchFamily="2" charset="0"/>
                <a:cs typeface="Poppins" panose="00000500000000000000" pitchFamily="2" charset="0"/>
              </a:rPr>
              <a:t>aplikasi</a:t>
            </a:r>
            <a:r>
              <a:rPr lang="en-US" sz="2000" dirty="0">
                <a:latin typeface="Poppins" panose="00000500000000000000" pitchFamily="2" charset="0"/>
                <a:cs typeface="Poppins" panose="00000500000000000000" pitchFamily="2" charset="0"/>
              </a:rPr>
              <a:t>.</a:t>
            </a:r>
          </a:p>
          <a:p>
            <a:endParaRPr lang="en-ID" dirty="0"/>
          </a:p>
        </p:txBody>
      </p:sp>
      <p:pic>
        <p:nvPicPr>
          <p:cNvPr id="3" name="Content Placeholder 6">
            <a:extLst>
              <a:ext uri="{FF2B5EF4-FFF2-40B4-BE49-F238E27FC236}">
                <a16:creationId xmlns:a16="http://schemas.microsoft.com/office/drawing/2014/main" id="{F2A90824-3C6C-1277-3664-6D4A47F316E3}"/>
              </a:ext>
            </a:extLst>
          </p:cNvPr>
          <p:cNvPicPr>
            <a:picLocks noChangeAspect="1"/>
          </p:cNvPicPr>
          <p:nvPr/>
        </p:nvPicPr>
        <p:blipFill>
          <a:blip r:embed="rId3">
            <a:extLst>
              <a:ext uri="{28A0092B-C50C-407E-A947-70E740481C1C}">
                <a14:useLocalDpi xmlns:a14="http://schemas.microsoft.com/office/drawing/2010/main" val="0"/>
              </a:ext>
            </a:extLst>
          </a:blip>
          <a:srcRect t="2273" b="2273"/>
          <a:stretch/>
        </p:blipFill>
        <p:spPr>
          <a:xfrm>
            <a:off x="3418703" y="1292250"/>
            <a:ext cx="5354594" cy="2875006"/>
          </a:xfrm>
          <a:prstGeom prst="rect">
            <a:avLst/>
          </a:prstGeom>
        </p:spPr>
      </p:pic>
    </p:spTree>
    <p:extLst>
      <p:ext uri="{BB962C8B-B14F-4D97-AF65-F5344CB8AC3E}">
        <p14:creationId xmlns:p14="http://schemas.microsoft.com/office/powerpoint/2010/main" val="3135418869"/>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2FEAD-ED64-955C-51EB-2F6E09F92B36}"/>
              </a:ext>
            </a:extLst>
          </p:cNvPr>
          <p:cNvSpPr txBox="1"/>
          <p:nvPr/>
        </p:nvSpPr>
        <p:spPr>
          <a:xfrm>
            <a:off x="1809750" y="634484"/>
            <a:ext cx="6362700" cy="523220"/>
          </a:xfrm>
          <a:prstGeom prst="rect">
            <a:avLst/>
          </a:prstGeom>
          <a:noFill/>
        </p:spPr>
        <p:txBody>
          <a:bodyPr wrap="square">
            <a:spAutoFit/>
          </a:bodyPr>
          <a:lstStyle/>
          <a:p>
            <a:r>
              <a:rPr lang="en-US" sz="2800" dirty="0" err="1">
                <a:latin typeface="Poppins" panose="00000500000000000000" pitchFamily="2" charset="0"/>
                <a:cs typeface="Poppins" panose="00000500000000000000" pitchFamily="2" charset="0"/>
              </a:rPr>
              <a:t>Referensi</a:t>
            </a:r>
            <a:endParaRPr lang="en-ID" sz="2800" dirty="0">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67E92A72-B335-C06C-4981-D151E2C9DB08}"/>
              </a:ext>
            </a:extLst>
          </p:cNvPr>
          <p:cNvSpPr txBox="1"/>
          <p:nvPr/>
        </p:nvSpPr>
        <p:spPr>
          <a:xfrm>
            <a:off x="1006021" y="1818892"/>
            <a:ext cx="9867900" cy="2031325"/>
          </a:xfrm>
          <a:prstGeom prst="rect">
            <a:avLst/>
          </a:prstGeom>
          <a:noFill/>
        </p:spPr>
        <p:txBody>
          <a:bodyPr wrap="square">
            <a:spAutoFit/>
          </a:bodyPr>
          <a:lstStyle/>
          <a:p>
            <a:pPr marL="285750" indent="-285750">
              <a:buFont typeface="Arial" panose="020B0604020202020204" pitchFamily="34" charset="0"/>
              <a:buChar char="•"/>
            </a:pPr>
            <a:r>
              <a:rPr lang="en-ID" dirty="0">
                <a:solidFill>
                  <a:srgbClr val="4188D0"/>
                </a:solidFill>
                <a:latin typeface="Poppins" panose="00000500000000000000" pitchFamily="2" charset="0"/>
                <a:cs typeface="Poppins" panose="00000500000000000000" pitchFamily="2" charset="0"/>
                <a:hlinkClick r:id="rId2">
                  <a:extLst>
                    <a:ext uri="{A12FA001-AC4F-418D-AE19-62706E023703}">
                      <ahyp:hlinkClr xmlns:ahyp="http://schemas.microsoft.com/office/drawing/2018/hyperlinkcolor" val="tx"/>
                    </a:ext>
                  </a:extLst>
                </a:hlinkClick>
              </a:rPr>
              <a:t>https://www.sekawanmedia.co.id/blog/desain-ui-ux/</a:t>
            </a:r>
            <a:endParaRPr lang="en-ID" dirty="0">
              <a:solidFill>
                <a:srgbClr val="4188D0"/>
              </a:solidFill>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ID" dirty="0">
                <a:solidFill>
                  <a:srgbClr val="0563C1"/>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https://tenia.dosen.ittelkom-pwt.ac.id/2019/09/29/perbedaan-ui-ux-dan-usability</a:t>
            </a:r>
            <a:r>
              <a:rPr lang="en-ID" dirty="0">
                <a:solidFill>
                  <a:srgbClr val="4188D0"/>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a:t>
            </a:r>
            <a:endParaRPr lang="en-ID" dirty="0">
              <a:solidFill>
                <a:srgbClr val="4188D0"/>
              </a:solidFill>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ID" dirty="0">
                <a:solidFill>
                  <a:srgbClr val="3883CE"/>
                </a:solidFill>
                <a:latin typeface="Poppins" panose="00000500000000000000" pitchFamily="2" charset="0"/>
                <a:cs typeface="Poppins" panose="00000500000000000000" pitchFamily="2" charset="0"/>
              </a:rPr>
              <a:t>https://glints.com/id/lowongan/interaction-design-adalah/#apa-itu-interaction-design </a:t>
            </a:r>
          </a:p>
          <a:p>
            <a:pPr marL="285750" indent="-285750">
              <a:buFont typeface="Arial" panose="020B0604020202020204" pitchFamily="34" charset="0"/>
              <a:buChar char="•"/>
            </a:pPr>
            <a:r>
              <a:rPr lang="en-ID" dirty="0">
                <a:solidFill>
                  <a:srgbClr val="3883CE"/>
                </a:solidFill>
                <a:latin typeface="Poppins" panose="00000500000000000000" pitchFamily="2" charset="0"/>
                <a:cs typeface="Poppins" panose="00000500000000000000" pitchFamily="2" charset="0"/>
              </a:rPr>
              <a:t>https://repository.dinus.ac.id/docs/ajar/Pertemuan_2_Interaction_Design.pdf </a:t>
            </a:r>
          </a:p>
          <a:p>
            <a:pPr marL="285750" indent="-285750">
              <a:buFont typeface="Arial" panose="020B0604020202020204" pitchFamily="34" charset="0"/>
              <a:buChar char="•"/>
            </a:pPr>
            <a:endParaRPr lang="en-ID"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05891872"/>
      </p:ext>
    </p:extLst>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8321A3-17AE-2216-2A8D-8F7A26C4F248}"/>
              </a:ext>
            </a:extLst>
          </p:cNvPr>
          <p:cNvSpPr txBox="1"/>
          <p:nvPr/>
        </p:nvSpPr>
        <p:spPr>
          <a:xfrm>
            <a:off x="4194629" y="3105834"/>
            <a:ext cx="3976914" cy="646331"/>
          </a:xfrm>
          <a:prstGeom prst="rect">
            <a:avLst/>
          </a:prstGeom>
          <a:noFill/>
        </p:spPr>
        <p:txBody>
          <a:bodyPr wrap="square" rtlCol="0">
            <a:spAutoFit/>
          </a:bodyPr>
          <a:lstStyle/>
          <a:p>
            <a:pPr algn="ctr"/>
            <a:r>
              <a:rPr lang="en-US" sz="3600">
                <a:latin typeface="Poppins" panose="00000500000000000000" pitchFamily="2" charset="0"/>
                <a:cs typeface="Poppins" panose="00000500000000000000" pitchFamily="2" charset="0"/>
              </a:rPr>
              <a:t>Syukron</a:t>
            </a:r>
            <a:endParaRPr lang="en-ID" sz="3600">
              <a:latin typeface="Poppins" panose="00000500000000000000" pitchFamily="2" charset="0"/>
              <a:cs typeface="Poppins" panose="00000500000000000000" pitchFamily="2" charset="0"/>
            </a:endParaRPr>
          </a:p>
        </p:txBody>
      </p:sp>
      <p:cxnSp>
        <p:nvCxnSpPr>
          <p:cNvPr id="4" name="Straight Connector 3">
            <a:extLst>
              <a:ext uri="{FF2B5EF4-FFF2-40B4-BE49-F238E27FC236}">
                <a16:creationId xmlns:a16="http://schemas.microsoft.com/office/drawing/2014/main" id="{98CAE2FD-0026-679F-6E40-60A5506452E4}"/>
              </a:ext>
            </a:extLst>
          </p:cNvPr>
          <p:cNvCxnSpPr/>
          <p:nvPr/>
        </p:nvCxnSpPr>
        <p:spPr>
          <a:xfrm>
            <a:off x="5181600" y="3752165"/>
            <a:ext cx="1930400" cy="0"/>
          </a:xfrm>
          <a:prstGeom prst="line">
            <a:avLst/>
          </a:prstGeom>
          <a:ln w="5715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681941"/>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TotalTime>
  <Words>1040</Words>
  <Application>Microsoft Office PowerPoint</Application>
  <PresentationFormat>Widescreen</PresentationFormat>
  <Paragraphs>89</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Poppins</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DM-16</dc:creator>
  <cp:lastModifiedBy>DM-09</cp:lastModifiedBy>
  <cp:revision>6</cp:revision>
  <dcterms:created xsi:type="dcterms:W3CDTF">2022-12-05T02:40:54Z</dcterms:created>
  <dcterms:modified xsi:type="dcterms:W3CDTF">2023-01-04T01:29:28Z</dcterms:modified>
</cp:coreProperties>
</file>