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8"/>
  </p:notesMasterIdLst>
  <p:sldIdLst>
    <p:sldId id="256" r:id="rId2"/>
    <p:sldId id="260" r:id="rId3"/>
    <p:sldId id="288" r:id="rId4"/>
    <p:sldId id="289" r:id="rId5"/>
    <p:sldId id="291" r:id="rId6"/>
    <p:sldId id="287" r:id="rId7"/>
  </p:sldIdLst>
  <p:sldSz cx="9144000" cy="5143500" type="screen16x9"/>
  <p:notesSz cx="6858000" cy="9144000"/>
  <p:embeddedFontLst>
    <p:embeddedFont>
      <p:font typeface="Baskervville" panose="020B0604020202020204" charset="0"/>
      <p:regular r:id="rId9"/>
      <p:italic r:id="rId10"/>
    </p:embeddedFont>
    <p:embeddedFont>
      <p:font typeface="Bebas Neue" panose="020B0606020202050201" pitchFamily="34" charset="0"/>
      <p:regular r:id="rId11"/>
    </p:embeddedFont>
    <p:embeddedFont>
      <p:font typeface="Nunito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73420B-F916-45C2-B847-9C6BEA260078}">
  <a:tblStyle styleId="{7A73420B-F916-45C2-B847-9C6BEA2600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0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443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5887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1011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1b785ccc970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1b785ccc970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69" r="69"/>
          <a:stretch/>
        </p:blipFill>
        <p:spPr>
          <a:xfrm>
            <a:off x="0" y="0"/>
            <a:ext cx="9143998" cy="51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358600" y="1268375"/>
            <a:ext cx="50277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01200" y="3871325"/>
            <a:ext cx="5027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4494" y="-2286"/>
            <a:ext cx="9192987" cy="514807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1947425" y="1457575"/>
            <a:ext cx="5249400" cy="7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947425" y="2479425"/>
            <a:ext cx="5249400" cy="13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5829713" y="125643"/>
            <a:ext cx="409357" cy="409357"/>
            <a:chOff x="1393875" y="-1823657"/>
            <a:chExt cx="409357" cy="409357"/>
          </a:xfrm>
        </p:grpSpPr>
        <p:cxnSp>
          <p:nvCxnSpPr>
            <p:cNvPr id="71" name="Google Shape;71;p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5" name="Google Shape;75;p9"/>
          <p:cNvGrpSpPr/>
          <p:nvPr/>
        </p:nvGrpSpPr>
        <p:grpSpPr>
          <a:xfrm>
            <a:off x="8580313" y="2865043"/>
            <a:ext cx="409357" cy="409357"/>
            <a:chOff x="1393875" y="-1823657"/>
            <a:chExt cx="409357" cy="409357"/>
          </a:xfrm>
        </p:grpSpPr>
        <p:cxnSp>
          <p:nvCxnSpPr>
            <p:cNvPr id="76" name="Google Shape;76;p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>
            <a:spLocks noGrp="1"/>
          </p:cNvSpPr>
          <p:nvPr>
            <p:ph type="subTitle" idx="1"/>
          </p:nvPr>
        </p:nvSpPr>
        <p:spPr>
          <a:xfrm>
            <a:off x="720000" y="2455550"/>
            <a:ext cx="3861600" cy="9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title"/>
          </p:nvPr>
        </p:nvSpPr>
        <p:spPr>
          <a:xfrm>
            <a:off x="720000" y="1611325"/>
            <a:ext cx="38616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4" name="Google Shape;204;p21"/>
          <p:cNvGrpSpPr/>
          <p:nvPr/>
        </p:nvGrpSpPr>
        <p:grpSpPr>
          <a:xfrm>
            <a:off x="8589988" y="655493"/>
            <a:ext cx="409357" cy="409357"/>
            <a:chOff x="1393875" y="-1823657"/>
            <a:chExt cx="409357" cy="409357"/>
          </a:xfrm>
        </p:grpSpPr>
        <p:cxnSp>
          <p:nvCxnSpPr>
            <p:cNvPr id="205" name="Google Shape;205;p21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21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1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21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2976" y="-24175"/>
            <a:ext cx="9229952" cy="5191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32"/>
          <p:cNvGrpSpPr/>
          <p:nvPr/>
        </p:nvGrpSpPr>
        <p:grpSpPr>
          <a:xfrm>
            <a:off x="134613" y="826268"/>
            <a:ext cx="409357" cy="409357"/>
            <a:chOff x="1393875" y="-1823657"/>
            <a:chExt cx="409357" cy="409357"/>
          </a:xfrm>
        </p:grpSpPr>
        <p:cxnSp>
          <p:nvCxnSpPr>
            <p:cNvPr id="408" name="Google Shape;408;p3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" name="Google Shape;409;p3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" name="Google Shape;410;p3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1" name="Google Shape;411;p3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12" name="Google Shape;412;p32"/>
          <p:cNvGrpSpPr/>
          <p:nvPr/>
        </p:nvGrpSpPr>
        <p:grpSpPr>
          <a:xfrm>
            <a:off x="8584638" y="4065118"/>
            <a:ext cx="409357" cy="409357"/>
            <a:chOff x="1393875" y="-1823657"/>
            <a:chExt cx="409357" cy="409357"/>
          </a:xfrm>
        </p:grpSpPr>
        <p:cxnSp>
          <p:nvCxnSpPr>
            <p:cNvPr id="413" name="Google Shape;413;p3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3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3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3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17" name="Google Shape;417;p32"/>
          <p:cNvGrpSpPr/>
          <p:nvPr/>
        </p:nvGrpSpPr>
        <p:grpSpPr>
          <a:xfrm rot="5400000">
            <a:off x="4807401" y="1877287"/>
            <a:ext cx="5761958" cy="1481028"/>
            <a:chOff x="-87025" y="3954291"/>
            <a:chExt cx="4300610" cy="1105409"/>
          </a:xfrm>
        </p:grpSpPr>
        <p:sp>
          <p:nvSpPr>
            <p:cNvPr id="418" name="Google Shape;418;p32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2976" y="-24175"/>
            <a:ext cx="9229952" cy="5191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3"/>
          <p:cNvGrpSpPr/>
          <p:nvPr/>
        </p:nvGrpSpPr>
        <p:grpSpPr>
          <a:xfrm>
            <a:off x="6554288" y="62468"/>
            <a:ext cx="409357" cy="409357"/>
            <a:chOff x="1393875" y="-1823657"/>
            <a:chExt cx="409357" cy="409357"/>
          </a:xfrm>
        </p:grpSpPr>
        <p:cxnSp>
          <p:nvCxnSpPr>
            <p:cNvPr id="423" name="Google Shape;423;p3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3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3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3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7" name="Google Shape;427;p33"/>
          <p:cNvGrpSpPr/>
          <p:nvPr/>
        </p:nvGrpSpPr>
        <p:grpSpPr>
          <a:xfrm>
            <a:off x="792038" y="4683868"/>
            <a:ext cx="409357" cy="409357"/>
            <a:chOff x="1393875" y="-1823657"/>
            <a:chExt cx="409357" cy="409357"/>
          </a:xfrm>
        </p:grpSpPr>
        <p:cxnSp>
          <p:nvCxnSpPr>
            <p:cNvPr id="428" name="Google Shape;428;p3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3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p3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3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2" name="Google Shape;432;p33"/>
          <p:cNvGrpSpPr/>
          <p:nvPr/>
        </p:nvGrpSpPr>
        <p:grpSpPr>
          <a:xfrm>
            <a:off x="715100" y="-667500"/>
            <a:ext cx="2832900" cy="5089000"/>
            <a:chOff x="-2117800" y="-126050"/>
            <a:chExt cx="2832900" cy="5089000"/>
          </a:xfrm>
        </p:grpSpPr>
        <p:sp>
          <p:nvSpPr>
            <p:cNvPr id="433" name="Google Shape;433;p33"/>
            <p:cNvSpPr/>
            <p:nvPr/>
          </p:nvSpPr>
          <p:spPr>
            <a:xfrm>
              <a:off x="-2117800" y="100200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-2117800" y="2130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-2117800" y="-126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7" r:id="rId4"/>
    <p:sldLayoutId id="2147483678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7"/>
          <p:cNvSpPr txBox="1">
            <a:spLocks noGrp="1"/>
          </p:cNvSpPr>
          <p:nvPr>
            <p:ph type="ctrTitle"/>
          </p:nvPr>
        </p:nvSpPr>
        <p:spPr>
          <a:xfrm>
            <a:off x="3358600" y="1268375"/>
            <a:ext cx="50277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Collection</a:t>
            </a:r>
            <a:br>
              <a:rPr lang="en" dirty="0"/>
            </a:br>
            <a:r>
              <a:rPr lang="en" dirty="0"/>
              <a:t> </a:t>
            </a:r>
            <a:r>
              <a:rPr lang="en" sz="4000" dirty="0"/>
              <a:t>MongoDB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47" name="Google Shape;447;p37"/>
          <p:cNvSpPr txBox="1">
            <a:spLocks noGrp="1"/>
          </p:cNvSpPr>
          <p:nvPr>
            <p:ph type="subTitle" idx="1"/>
          </p:nvPr>
        </p:nvSpPr>
        <p:spPr>
          <a:xfrm>
            <a:off x="3358600" y="3722001"/>
            <a:ext cx="5027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noProof="1"/>
              <a:t>Moechammad Feirdaus Afriliyan</a:t>
            </a:r>
          </a:p>
        </p:txBody>
      </p:sp>
      <p:grpSp>
        <p:nvGrpSpPr>
          <p:cNvPr id="448" name="Google Shape;448;p37"/>
          <p:cNvGrpSpPr/>
          <p:nvPr/>
        </p:nvGrpSpPr>
        <p:grpSpPr>
          <a:xfrm>
            <a:off x="8019550" y="534993"/>
            <a:ext cx="409357" cy="409357"/>
            <a:chOff x="1393875" y="-1823657"/>
            <a:chExt cx="409357" cy="409357"/>
          </a:xfrm>
        </p:grpSpPr>
        <p:cxnSp>
          <p:nvCxnSpPr>
            <p:cNvPr id="449" name="Google Shape;449;p37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37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37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37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3" name="Google Shape;453;p37"/>
          <p:cNvGrpSpPr/>
          <p:nvPr/>
        </p:nvGrpSpPr>
        <p:grpSpPr>
          <a:xfrm>
            <a:off x="143350" y="-70146"/>
            <a:ext cx="3061800" cy="5283800"/>
            <a:chOff x="143350" y="-70146"/>
            <a:chExt cx="3061800" cy="5283800"/>
          </a:xfrm>
        </p:grpSpPr>
        <p:sp>
          <p:nvSpPr>
            <p:cNvPr id="454" name="Google Shape;454;p37"/>
            <p:cNvSpPr/>
            <p:nvPr/>
          </p:nvSpPr>
          <p:spPr>
            <a:xfrm>
              <a:off x="143350" y="-70146"/>
              <a:ext cx="3061800" cy="306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143350" y="2151854"/>
              <a:ext cx="3061800" cy="306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6" name="Google Shape;456;p37"/>
          <p:cNvCxnSpPr/>
          <p:nvPr/>
        </p:nvCxnSpPr>
        <p:spPr>
          <a:xfrm rot="10800000">
            <a:off x="3594000" y="3592450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447;p37">
            <a:extLst>
              <a:ext uri="{FF2B5EF4-FFF2-40B4-BE49-F238E27FC236}">
                <a16:creationId xmlns:a16="http://schemas.microsoft.com/office/drawing/2014/main" id="{42A31DA1-90A1-7E8B-CC17-6B2EE60102E8}"/>
              </a:ext>
            </a:extLst>
          </p:cNvPr>
          <p:cNvSpPr txBox="1">
            <a:spLocks/>
          </p:cNvSpPr>
          <p:nvPr/>
        </p:nvSpPr>
        <p:spPr>
          <a:xfrm>
            <a:off x="3401050" y="4056302"/>
            <a:ext cx="50277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ar-SA" noProof="1"/>
              <a:t>Abdullah Qa'id Mu'aadz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127FEE5-4CE4-3EAF-026B-39876836AFB1}"/>
              </a:ext>
            </a:extLst>
          </p:cNvPr>
          <p:cNvSpPr txBox="1"/>
          <p:nvPr/>
        </p:nvSpPr>
        <p:spPr>
          <a:xfrm>
            <a:off x="5019413" y="2161597"/>
            <a:ext cx="2254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ID" b="1" noProof="1">
                <a:latin typeface="Nunito" pitchFamily="2" charset="0"/>
              </a:rPr>
              <a:t>Database MongoDB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85A16-87B6-AF4F-913E-5F3894C29F2A}"/>
              </a:ext>
            </a:extLst>
          </p:cNvPr>
          <p:cNvSpPr txBox="1"/>
          <p:nvPr/>
        </p:nvSpPr>
        <p:spPr>
          <a:xfrm>
            <a:off x="5009397" y="2703857"/>
            <a:ext cx="2369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spcAft>
                <a:spcPts val="1200"/>
              </a:spcAft>
              <a:buSzPct val="100000"/>
              <a:buFont typeface="+mj-lt"/>
              <a:buAutoNum type="arabicPeriod" startAt="2"/>
            </a:pPr>
            <a:r>
              <a:rPr lang="en-ID" b="1" noProof="1">
                <a:latin typeface="Nunito" pitchFamily="2" charset="0"/>
              </a:rPr>
              <a:t>Collection MongoDB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110BA-F244-A72A-7B9F-FC8E88AEFDBD}"/>
              </a:ext>
            </a:extLst>
          </p:cNvPr>
          <p:cNvSpPr txBox="1"/>
          <p:nvPr/>
        </p:nvSpPr>
        <p:spPr>
          <a:xfrm>
            <a:off x="5009397" y="3210723"/>
            <a:ext cx="2369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spcAft>
                <a:spcPts val="1200"/>
              </a:spcAft>
              <a:buSzPct val="100000"/>
              <a:buFont typeface="+mj-lt"/>
              <a:buAutoNum type="arabicPeriod" startAt="3"/>
            </a:pPr>
            <a:r>
              <a:rPr lang="en-ID" b="1" noProof="1">
                <a:latin typeface="Nunito" pitchFamily="2" charset="0"/>
              </a:rPr>
              <a:t>Document MongoDB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1AE01-9FB9-40F1-9D54-2941EFE756D5}"/>
              </a:ext>
            </a:extLst>
          </p:cNvPr>
          <p:cNvSpPr txBox="1"/>
          <p:nvPr/>
        </p:nvSpPr>
        <p:spPr>
          <a:xfrm>
            <a:off x="907104" y="759177"/>
            <a:ext cx="73297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SzPct val="100000"/>
            </a:pPr>
            <a:r>
              <a:rPr lang="en-ID" b="1" noProof="1">
                <a:latin typeface="Nunito" pitchFamily="2" charset="0"/>
              </a:rPr>
              <a:t>MongoDB</a:t>
            </a:r>
            <a:r>
              <a:rPr lang="en-ID" noProof="1">
                <a:latin typeface="Nunito" pitchFamily="2" charset="0"/>
              </a:rPr>
              <a:t> adalah salah satu jenis database NoSQL yang cukup populer digunakan dalam pengembangan website. Berbeda dengan database jenis SQL yang menyimpan data menggunakan relasi tabel, MongoDB menggunakan dokumen dengan format JSON. </a:t>
            </a:r>
          </a:p>
        </p:txBody>
      </p:sp>
      <p:pic>
        <p:nvPicPr>
          <p:cNvPr id="3074" name="Picture 2" descr="The MongoDB Basics: Databases, Collections &amp; Documents | Studio 3T">
            <a:extLst>
              <a:ext uri="{FF2B5EF4-FFF2-40B4-BE49-F238E27FC236}">
                <a16:creationId xmlns:a16="http://schemas.microsoft.com/office/drawing/2014/main" id="{E3A52E93-600C-20E8-7865-DDBDB3BC9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754" y="1951672"/>
            <a:ext cx="3188796" cy="194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4AB5BB-0A99-EAD1-AB1E-0D0AECD12675}"/>
              </a:ext>
            </a:extLst>
          </p:cNvPr>
          <p:cNvSpPr txBox="1"/>
          <p:nvPr/>
        </p:nvSpPr>
        <p:spPr>
          <a:xfrm>
            <a:off x="4919958" y="2272686"/>
            <a:ext cx="3093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en-ID" b="1" noProof="1">
                <a:latin typeface="Nunito" pitchFamily="2" charset="0"/>
              </a:rPr>
              <a:t>Database MongoDB </a:t>
            </a:r>
            <a:r>
              <a:rPr lang="en-ID" noProof="1">
                <a:latin typeface="Nunito" pitchFamily="2" charset="0"/>
              </a:rPr>
              <a:t>adalah wadah dengan struktur penyimpanan yang disebut collection.</a:t>
            </a:r>
          </a:p>
        </p:txBody>
      </p:sp>
      <p:pic>
        <p:nvPicPr>
          <p:cNvPr id="1026" name="Picture 2" descr="Contoh data pada MongoDB">
            <a:extLst>
              <a:ext uri="{FF2B5EF4-FFF2-40B4-BE49-F238E27FC236}">
                <a16:creationId xmlns:a16="http://schemas.microsoft.com/office/drawing/2014/main" id="{3B2F985B-CD20-1264-F324-782CCF828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731" y="1707418"/>
            <a:ext cx="3516517" cy="18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C6C4C-4B14-A492-7E83-4D373460FB30}"/>
              </a:ext>
            </a:extLst>
          </p:cNvPr>
          <p:cNvSpPr txBox="1"/>
          <p:nvPr/>
        </p:nvSpPr>
        <p:spPr>
          <a:xfrm>
            <a:off x="3236879" y="346309"/>
            <a:ext cx="2670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b="1" noProof="1">
                <a:latin typeface="Nunito" pitchFamily="2" charset="0"/>
              </a:rPr>
              <a:t>Database MongoDB </a:t>
            </a:r>
            <a:endParaRPr lang="en-ID" sz="2000" dirty="0"/>
          </a:p>
        </p:txBody>
      </p:sp>
      <p:cxnSp>
        <p:nvCxnSpPr>
          <p:cNvPr id="9" name="Google Shape;456;p37">
            <a:extLst>
              <a:ext uri="{FF2B5EF4-FFF2-40B4-BE49-F238E27FC236}">
                <a16:creationId xmlns:a16="http://schemas.microsoft.com/office/drawing/2014/main" id="{9E154F4B-7E69-4CC7-6D64-C463A47D4EDB}"/>
              </a:ext>
            </a:extLst>
          </p:cNvPr>
          <p:cNvCxnSpPr>
            <a:cxnSpLocks/>
          </p:cNvCxnSpPr>
          <p:nvPr/>
        </p:nvCxnSpPr>
        <p:spPr>
          <a:xfrm flipH="1">
            <a:off x="3308997" y="786647"/>
            <a:ext cx="25384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4225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E0587E6-812C-2FF4-C3B8-B99B0E42D50A}"/>
              </a:ext>
            </a:extLst>
          </p:cNvPr>
          <p:cNvSpPr txBox="1"/>
          <p:nvPr/>
        </p:nvSpPr>
        <p:spPr>
          <a:xfrm>
            <a:off x="4639829" y="2006248"/>
            <a:ext cx="39907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Nunito" pitchFamily="2" charset="0"/>
              </a:rPr>
              <a:t>Collection MongoDB </a:t>
            </a:r>
            <a:r>
              <a:rPr lang="en-ID" dirty="0" err="1">
                <a:latin typeface="Nunito" pitchFamily="2" charset="0"/>
              </a:rPr>
              <a:t>adalah</a:t>
            </a:r>
            <a:r>
              <a:rPr lang="en-ID" dirty="0">
                <a:latin typeface="Nunito" pitchFamily="2" charset="0"/>
              </a:rPr>
              <a:t> </a:t>
            </a:r>
            <a:r>
              <a:rPr lang="en-ID" dirty="0" err="1">
                <a:latin typeface="Nunito" pitchFamily="2" charset="0"/>
              </a:rPr>
              <a:t>tempat</a:t>
            </a:r>
            <a:r>
              <a:rPr lang="en-ID" dirty="0">
                <a:latin typeface="Nunito" pitchFamily="2" charset="0"/>
              </a:rPr>
              <a:t> </a:t>
            </a:r>
            <a:r>
              <a:rPr lang="en-ID" dirty="0" err="1">
                <a:latin typeface="Nunito" pitchFamily="2" charset="0"/>
              </a:rPr>
              <a:t>kumpulan</a:t>
            </a:r>
            <a:r>
              <a:rPr lang="en-ID" dirty="0">
                <a:latin typeface="Nunito" pitchFamily="2" charset="0"/>
              </a:rPr>
              <a:t> </a:t>
            </a:r>
            <a:r>
              <a:rPr lang="en-ID" dirty="0" err="1">
                <a:latin typeface="Nunito" pitchFamily="2" charset="0"/>
              </a:rPr>
              <a:t>informasi</a:t>
            </a:r>
            <a:r>
              <a:rPr lang="en-ID" dirty="0">
                <a:latin typeface="Nunito" pitchFamily="2" charset="0"/>
              </a:rPr>
              <a:t> data yang </a:t>
            </a:r>
            <a:r>
              <a:rPr lang="en-ID" dirty="0" err="1">
                <a:latin typeface="Nunito" pitchFamily="2" charset="0"/>
              </a:rPr>
              <a:t>berbentuk</a:t>
            </a:r>
            <a:r>
              <a:rPr lang="en-ID" dirty="0">
                <a:latin typeface="Nunito" pitchFamily="2" charset="0"/>
              </a:rPr>
              <a:t> </a:t>
            </a:r>
            <a:r>
              <a:rPr lang="en-ID" dirty="0" err="1">
                <a:latin typeface="Nunito" pitchFamily="2" charset="0"/>
              </a:rPr>
              <a:t>dokumen</a:t>
            </a:r>
            <a:r>
              <a:rPr lang="en-ID" dirty="0">
                <a:latin typeface="Nunito" pitchFamily="2" charset="0"/>
              </a:rPr>
              <a:t>. Collection </a:t>
            </a:r>
            <a:r>
              <a:rPr lang="en-ID" dirty="0" err="1">
                <a:latin typeface="Nunito" pitchFamily="2" charset="0"/>
              </a:rPr>
              <a:t>dipadankan</a:t>
            </a:r>
            <a:r>
              <a:rPr lang="en-ID" dirty="0">
                <a:latin typeface="Nunito" pitchFamily="2" charset="0"/>
              </a:rPr>
              <a:t> </a:t>
            </a:r>
            <a:r>
              <a:rPr lang="en-ID" dirty="0" err="1">
                <a:latin typeface="Nunito" pitchFamily="2" charset="0"/>
              </a:rPr>
              <a:t>seperti</a:t>
            </a:r>
            <a:r>
              <a:rPr lang="en-ID" dirty="0">
                <a:latin typeface="Nunito" pitchFamily="2" charset="0"/>
              </a:rPr>
              <a:t> </a:t>
            </a:r>
            <a:r>
              <a:rPr lang="en-ID" dirty="0" err="1">
                <a:latin typeface="Nunito" pitchFamily="2" charset="0"/>
              </a:rPr>
              <a:t>tabel-tabel</a:t>
            </a:r>
            <a:r>
              <a:rPr lang="en-ID" dirty="0">
                <a:latin typeface="Nunito" pitchFamily="2" charset="0"/>
              </a:rPr>
              <a:t> yang </a:t>
            </a:r>
            <a:r>
              <a:rPr lang="en-ID" dirty="0" err="1">
                <a:latin typeface="Nunito" pitchFamily="2" charset="0"/>
              </a:rPr>
              <a:t>berisi</a:t>
            </a:r>
            <a:r>
              <a:rPr lang="en-ID" dirty="0">
                <a:latin typeface="Nunito" pitchFamily="2" charset="0"/>
              </a:rPr>
              <a:t> data pada </a:t>
            </a:r>
            <a:r>
              <a:rPr lang="en-ID" dirty="0" err="1">
                <a:latin typeface="Nunito" pitchFamily="2" charset="0"/>
              </a:rPr>
              <a:t>databanse</a:t>
            </a:r>
            <a:r>
              <a:rPr lang="en-ID" dirty="0">
                <a:latin typeface="Nunito" pitchFamily="2" charset="0"/>
              </a:rPr>
              <a:t> SQL.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EBAE9-7433-F350-2B8C-7AA49CE7E679}"/>
              </a:ext>
            </a:extLst>
          </p:cNvPr>
          <p:cNvSpPr txBox="1"/>
          <p:nvPr/>
        </p:nvSpPr>
        <p:spPr>
          <a:xfrm>
            <a:off x="3236879" y="346309"/>
            <a:ext cx="2670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b="1" noProof="1">
                <a:latin typeface="Nunito" pitchFamily="2" charset="0"/>
              </a:rPr>
              <a:t>Collection MongoDB </a:t>
            </a:r>
            <a:endParaRPr lang="en-ID" sz="2000" dirty="0"/>
          </a:p>
        </p:txBody>
      </p:sp>
      <p:cxnSp>
        <p:nvCxnSpPr>
          <p:cNvPr id="10" name="Google Shape;456;p37">
            <a:extLst>
              <a:ext uri="{FF2B5EF4-FFF2-40B4-BE49-F238E27FC236}">
                <a16:creationId xmlns:a16="http://schemas.microsoft.com/office/drawing/2014/main" id="{AEE91DEC-6CE0-2FB7-5018-F210BA73201E}"/>
              </a:ext>
            </a:extLst>
          </p:cNvPr>
          <p:cNvCxnSpPr>
            <a:cxnSpLocks/>
          </p:cNvCxnSpPr>
          <p:nvPr/>
        </p:nvCxnSpPr>
        <p:spPr>
          <a:xfrm flipH="1">
            <a:off x="3308997" y="786647"/>
            <a:ext cx="25384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85AB162-0ADE-104A-ABED-E9B85838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24" y="1667190"/>
            <a:ext cx="3872872" cy="193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3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E0587E6-812C-2FF4-C3B8-B99B0E42D50A}"/>
              </a:ext>
            </a:extLst>
          </p:cNvPr>
          <p:cNvSpPr txBox="1"/>
          <p:nvPr/>
        </p:nvSpPr>
        <p:spPr>
          <a:xfrm>
            <a:off x="4639829" y="2310140"/>
            <a:ext cx="3478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noProof="1">
                <a:latin typeface="Nunito" pitchFamily="2" charset="0"/>
              </a:rPr>
              <a:t>Document MongoDb </a:t>
            </a:r>
            <a:r>
              <a:rPr lang="en-ID" noProof="1">
                <a:latin typeface="Nunito" pitchFamily="2" charset="0"/>
              </a:rPr>
              <a:t>adalah satuan unit terkecil dalam MongoDB</a:t>
            </a:r>
            <a:endParaRPr lang="en-ID" dirty="0">
              <a:latin typeface="Nunito" pitchFamily="2" charset="0"/>
            </a:endParaRPr>
          </a:p>
        </p:txBody>
      </p:sp>
      <p:pic>
        <p:nvPicPr>
          <p:cNvPr id="2050" name="Picture 2" descr="MongoDB - Database, Collection, and Document - GeeksforGeeks">
            <a:extLst>
              <a:ext uri="{FF2B5EF4-FFF2-40B4-BE49-F238E27FC236}">
                <a16:creationId xmlns:a16="http://schemas.microsoft.com/office/drawing/2014/main" id="{1D809BA0-6D53-3B07-3928-D3C38802C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01" y="1568494"/>
            <a:ext cx="3709509" cy="212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BEBAE9-7433-F350-2B8C-7AA49CE7E679}"/>
              </a:ext>
            </a:extLst>
          </p:cNvPr>
          <p:cNvSpPr txBox="1"/>
          <p:nvPr/>
        </p:nvSpPr>
        <p:spPr>
          <a:xfrm>
            <a:off x="3236879" y="346309"/>
            <a:ext cx="2670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b="1" noProof="1">
                <a:latin typeface="Nunito" pitchFamily="2" charset="0"/>
              </a:rPr>
              <a:t>Document MongoDB </a:t>
            </a:r>
            <a:endParaRPr lang="en-ID" sz="2000" dirty="0"/>
          </a:p>
        </p:txBody>
      </p:sp>
      <p:cxnSp>
        <p:nvCxnSpPr>
          <p:cNvPr id="10" name="Google Shape;456;p37">
            <a:extLst>
              <a:ext uri="{FF2B5EF4-FFF2-40B4-BE49-F238E27FC236}">
                <a16:creationId xmlns:a16="http://schemas.microsoft.com/office/drawing/2014/main" id="{AEE91DEC-6CE0-2FB7-5018-F210BA73201E}"/>
              </a:ext>
            </a:extLst>
          </p:cNvPr>
          <p:cNvCxnSpPr>
            <a:cxnSpLocks/>
          </p:cNvCxnSpPr>
          <p:nvPr/>
        </p:nvCxnSpPr>
        <p:spPr>
          <a:xfrm flipH="1">
            <a:off x="3308997" y="786647"/>
            <a:ext cx="25384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524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4" name="Google Shape;1174;p68"/>
          <p:cNvGrpSpPr/>
          <p:nvPr/>
        </p:nvGrpSpPr>
        <p:grpSpPr>
          <a:xfrm>
            <a:off x="4709637" y="1131420"/>
            <a:ext cx="3651000" cy="2880659"/>
            <a:chOff x="4709637" y="1131420"/>
            <a:chExt cx="3651000" cy="2880659"/>
          </a:xfrm>
        </p:grpSpPr>
        <p:sp>
          <p:nvSpPr>
            <p:cNvPr id="1175" name="Google Shape;1175;p68"/>
            <p:cNvSpPr/>
            <p:nvPr/>
          </p:nvSpPr>
          <p:spPr>
            <a:xfrm>
              <a:off x="6143581" y="3491133"/>
              <a:ext cx="783000" cy="474900"/>
            </a:xfrm>
            <a:prstGeom prst="trapezoid">
              <a:avLst>
                <a:gd name="adj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8"/>
            <p:cNvSpPr/>
            <p:nvPr/>
          </p:nvSpPr>
          <p:spPr>
            <a:xfrm>
              <a:off x="4709637" y="1131420"/>
              <a:ext cx="3651000" cy="2528100"/>
            </a:xfrm>
            <a:prstGeom prst="roundRect">
              <a:avLst>
                <a:gd name="adj" fmla="val 8031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8"/>
            <p:cNvSpPr/>
            <p:nvPr/>
          </p:nvSpPr>
          <p:spPr>
            <a:xfrm>
              <a:off x="8017502" y="3342748"/>
              <a:ext cx="148200" cy="1482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68"/>
            <p:cNvSpPr/>
            <p:nvPr/>
          </p:nvSpPr>
          <p:spPr>
            <a:xfrm>
              <a:off x="6011419" y="3938348"/>
              <a:ext cx="1047300" cy="45600"/>
            </a:xfrm>
            <a:prstGeom prst="trapezoid">
              <a:avLst>
                <a:gd name="adj" fmla="val 300052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68"/>
            <p:cNvSpPr/>
            <p:nvPr/>
          </p:nvSpPr>
          <p:spPr>
            <a:xfrm>
              <a:off x="6010248" y="3980279"/>
              <a:ext cx="1047300" cy="31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68"/>
            <p:cNvSpPr/>
            <p:nvPr/>
          </p:nvSpPr>
          <p:spPr>
            <a:xfrm>
              <a:off x="7822876" y="3370599"/>
              <a:ext cx="92400" cy="924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1" name="Google Shape;1181;p68"/>
          <p:cNvSpPr txBox="1">
            <a:spLocks noGrp="1"/>
          </p:cNvSpPr>
          <p:nvPr>
            <p:ph type="subTitle" idx="1"/>
          </p:nvPr>
        </p:nvSpPr>
        <p:spPr>
          <a:xfrm>
            <a:off x="720000" y="2455550"/>
            <a:ext cx="3861600" cy="9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WES</a:t>
            </a:r>
            <a:r>
              <a:rPr lang="en" dirty="0"/>
              <a:t> </a:t>
            </a:r>
            <a:endParaRPr dirty="0"/>
          </a:p>
        </p:txBody>
      </p:sp>
      <p:sp>
        <p:nvSpPr>
          <p:cNvPr id="1182" name="Google Shape;1182;p68"/>
          <p:cNvSpPr txBox="1">
            <a:spLocks noGrp="1"/>
          </p:cNvSpPr>
          <p:nvPr>
            <p:ph type="title"/>
          </p:nvPr>
        </p:nvSpPr>
        <p:spPr>
          <a:xfrm>
            <a:off x="720000" y="1611325"/>
            <a:ext cx="38616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T</a:t>
            </a:r>
            <a:r>
              <a:rPr lang="en" dirty="0"/>
              <a:t>erima Kasih</a:t>
            </a:r>
            <a:endParaRPr dirty="0"/>
          </a:p>
        </p:txBody>
      </p:sp>
      <p:cxnSp>
        <p:nvCxnSpPr>
          <p:cNvPr id="1184" name="Google Shape;1184;p68"/>
          <p:cNvCxnSpPr/>
          <p:nvPr/>
        </p:nvCxnSpPr>
        <p:spPr>
          <a:xfrm rot="10800000">
            <a:off x="720125" y="2379350"/>
            <a:ext cx="3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5" name="Google Shape;1185;p68"/>
          <p:cNvGrpSpPr/>
          <p:nvPr/>
        </p:nvGrpSpPr>
        <p:grpSpPr>
          <a:xfrm rot="5400000">
            <a:off x="748675" y="-2939525"/>
            <a:ext cx="2832900" cy="5089000"/>
            <a:chOff x="-2117800" y="-126050"/>
            <a:chExt cx="2832900" cy="5089000"/>
          </a:xfrm>
        </p:grpSpPr>
        <p:sp>
          <p:nvSpPr>
            <p:cNvPr id="1186" name="Google Shape;1186;p68"/>
            <p:cNvSpPr/>
            <p:nvPr/>
          </p:nvSpPr>
          <p:spPr>
            <a:xfrm>
              <a:off x="-2117800" y="100200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68"/>
            <p:cNvSpPr/>
            <p:nvPr/>
          </p:nvSpPr>
          <p:spPr>
            <a:xfrm>
              <a:off x="-2117800" y="2130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8"/>
            <p:cNvSpPr/>
            <p:nvPr/>
          </p:nvSpPr>
          <p:spPr>
            <a:xfrm>
              <a:off x="-2117800" y="-126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C4CB4BE-131B-C686-06D5-BFE6CD1D1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051" y="2047968"/>
            <a:ext cx="2591025" cy="6950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3 Business Bucket List by Slidesgo">
  <a:themeElements>
    <a:clrScheme name="Simple Light">
      <a:dk1>
        <a:srgbClr val="000000"/>
      </a:dk1>
      <a:lt1>
        <a:srgbClr val="FFFFFF"/>
      </a:lt1>
      <a:dk2>
        <a:srgbClr val="F4EDDA"/>
      </a:dk2>
      <a:lt2>
        <a:srgbClr val="F5E8C4"/>
      </a:lt2>
      <a:accent1>
        <a:srgbClr val="D3C5A3"/>
      </a:accent1>
      <a:accent2>
        <a:srgbClr val="B1AFE2"/>
      </a:accent2>
      <a:accent3>
        <a:srgbClr val="8E88BE"/>
      </a:accent3>
      <a:accent4>
        <a:srgbClr val="676494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101</Words>
  <Application>Microsoft Office PowerPoint</Application>
  <PresentationFormat>On-screen Show (16:9)</PresentationFormat>
  <Paragraphs>15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Bebas Neue</vt:lpstr>
      <vt:lpstr>Nunito</vt:lpstr>
      <vt:lpstr>Arial</vt:lpstr>
      <vt:lpstr>Baskervville</vt:lpstr>
      <vt:lpstr>2023 Business Bucket List by Slidesgo</vt:lpstr>
      <vt:lpstr>Collection  MongoDB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Perbedaan  RDMS(MySQL)   DBMS(MongoDB)</dc:title>
  <cp:lastModifiedBy>DM-05</cp:lastModifiedBy>
  <cp:revision>13</cp:revision>
  <dcterms:modified xsi:type="dcterms:W3CDTF">2023-02-07T06:20:50Z</dcterms:modified>
</cp:coreProperties>
</file>