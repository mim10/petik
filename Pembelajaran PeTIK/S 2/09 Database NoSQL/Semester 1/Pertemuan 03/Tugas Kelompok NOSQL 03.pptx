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37"/>
  </p:notesMasterIdLst>
  <p:sldIdLst>
    <p:sldId id="256" r:id="rId2"/>
    <p:sldId id="258" r:id="rId3"/>
    <p:sldId id="261" r:id="rId4"/>
    <p:sldId id="260" r:id="rId5"/>
    <p:sldId id="291" r:id="rId6"/>
    <p:sldId id="292" r:id="rId7"/>
    <p:sldId id="283" r:id="rId8"/>
    <p:sldId id="268" r:id="rId9"/>
    <p:sldId id="263" r:id="rId10"/>
    <p:sldId id="293" r:id="rId11"/>
    <p:sldId id="273" r:id="rId12"/>
    <p:sldId id="262" r:id="rId13"/>
    <p:sldId id="294" r:id="rId14"/>
    <p:sldId id="295" r:id="rId15"/>
    <p:sldId id="296" r:id="rId16"/>
    <p:sldId id="297" r:id="rId17"/>
    <p:sldId id="259" r:id="rId18"/>
    <p:sldId id="264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274" r:id="rId27"/>
    <p:sldId id="306" r:id="rId28"/>
    <p:sldId id="305" r:id="rId29"/>
    <p:sldId id="307" r:id="rId30"/>
    <p:sldId id="310" r:id="rId31"/>
    <p:sldId id="311" r:id="rId32"/>
    <p:sldId id="313" r:id="rId33"/>
    <p:sldId id="309" r:id="rId34"/>
    <p:sldId id="308" r:id="rId35"/>
    <p:sldId id="287" r:id="rId36"/>
  </p:sldIdLst>
  <p:sldSz cx="9144000" cy="5143500" type="screen16x9"/>
  <p:notesSz cx="6858000" cy="9144000"/>
  <p:embeddedFontLst>
    <p:embeddedFont>
      <p:font typeface="Baskervville" panose="020B0604020202020204" charset="0"/>
      <p:regular r:id="rId38"/>
      <p:italic r:id="rId39"/>
    </p:embeddedFont>
    <p:embeddedFont>
      <p:font typeface="Bebas Neue" panose="020B0606020202050201" pitchFamily="34" charset="0"/>
      <p:regular r:id="rId40"/>
    </p:embeddedFont>
    <p:embeddedFont>
      <p:font typeface="Nunito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73420B-F916-45C2-B847-9C6BEA260078}">
  <a:tblStyle styleId="{7A73420B-F916-45C2-B847-9C6BEA2600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6" autoAdjust="0"/>
    <p:restoredTop sz="94660"/>
  </p:normalViewPr>
  <p:slideViewPr>
    <p:cSldViewPr snapToGrid="0">
      <p:cViewPr varScale="1">
        <p:scale>
          <a:sx n="53" d="100"/>
          <a:sy n="53" d="100"/>
        </p:scale>
        <p:origin x="90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b3a5f971e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b3a5f971e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b3a5f971e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b3a5f971e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768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b3a5f971e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b3a5f971e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88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b785ccc970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b785ccc970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b785ccc970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b785ccc970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b785ccc97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b785ccc97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b785ccc97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b785ccc97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4886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b785ccc97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b785ccc97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986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b785ccc97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b785ccc97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893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208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267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b785ccc97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b785ccc97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b3a5f971e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b3a5f971ef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b3a5f971e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b3a5f971e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827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978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b785ccc970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b785ccc970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823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b3a5f971e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b3a5f971e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80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b785ccc970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b785ccc970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119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b785ccc970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b785ccc970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02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b785ccc97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b785ccc97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089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b785ccc97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b785ccc970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b785ccc97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b785ccc97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6973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542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1251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b785ccc97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b785ccc97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0071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190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b785ccc97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b785ccc97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381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b785ccc97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b785ccc97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7431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b3a5f971e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b3a5f971ef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6779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b785ccc970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b785ccc970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>
            <a:off x="0" y="0"/>
            <a:ext cx="9143998" cy="51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58600" y="1268375"/>
            <a:ext cx="50277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01200" y="3871325"/>
            <a:ext cx="5027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l="59" r="69"/>
          <a:stretch/>
        </p:blipFill>
        <p:spPr>
          <a:xfrm>
            <a:off x="0" y="-2286"/>
            <a:ext cx="9143998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064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5100" y="3347200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l="29" r="29"/>
          <a:stretch/>
        </p:blipFill>
        <p:spPr>
          <a:xfrm>
            <a:off x="0" y="-2286"/>
            <a:ext cx="9144000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448244" y="2766400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4927656" y="2766400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448244" y="3380425"/>
            <a:ext cx="27681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927656" y="3380425"/>
            <a:ext cx="27681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582750" y="4671818"/>
            <a:ext cx="409357" cy="409357"/>
            <a:chOff x="1393875" y="-1823657"/>
            <a:chExt cx="409357" cy="409357"/>
          </a:xfrm>
        </p:grpSpPr>
        <p:cxnSp>
          <p:nvCxnSpPr>
            <p:cNvPr id="34" name="Google Shape;34;p5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5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5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494" y="-2286"/>
            <a:ext cx="9192987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720000" y="1981350"/>
            <a:ext cx="3901500" cy="20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✳"/>
              <a:defRPr sz="14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130263" y="4668168"/>
            <a:ext cx="409357" cy="409357"/>
            <a:chOff x="1393875" y="-1823657"/>
            <a:chExt cx="409357" cy="409357"/>
          </a:xfrm>
        </p:grpSpPr>
        <p:cxnSp>
          <p:nvCxnSpPr>
            <p:cNvPr id="54" name="Google Shape;54;p7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7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7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7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" name="Google Shape;58;p7"/>
          <p:cNvGrpSpPr/>
          <p:nvPr/>
        </p:nvGrpSpPr>
        <p:grpSpPr>
          <a:xfrm>
            <a:off x="8604488" y="70918"/>
            <a:ext cx="409357" cy="409357"/>
            <a:chOff x="1393875" y="-1823657"/>
            <a:chExt cx="409357" cy="409357"/>
          </a:xfrm>
        </p:grpSpPr>
        <p:cxnSp>
          <p:nvCxnSpPr>
            <p:cNvPr id="59" name="Google Shape;59;p7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7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7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7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4494" y="-2286"/>
            <a:ext cx="9192987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1947425" y="1457575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947425" y="2479425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5829713" y="125643"/>
            <a:ext cx="409357" cy="409357"/>
            <a:chOff x="1393875" y="-1823657"/>
            <a:chExt cx="409357" cy="409357"/>
          </a:xfrm>
        </p:grpSpPr>
        <p:cxnSp>
          <p:nvCxnSpPr>
            <p:cNvPr id="71" name="Google Shape;71;p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" name="Google Shape;75;p9"/>
          <p:cNvGrpSpPr/>
          <p:nvPr/>
        </p:nvGrpSpPr>
        <p:grpSpPr>
          <a:xfrm>
            <a:off x="8580313" y="2865043"/>
            <a:ext cx="409357" cy="409357"/>
            <a:chOff x="1393875" y="-1823657"/>
            <a:chExt cx="409357" cy="409357"/>
          </a:xfrm>
        </p:grpSpPr>
        <p:cxnSp>
          <p:nvCxnSpPr>
            <p:cNvPr id="76" name="Google Shape;76;p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31188"/>
            <a:ext cx="65760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1284000" y="3111013"/>
            <a:ext cx="65760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-2286"/>
            <a:ext cx="9143998" cy="51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>
            <a:spLocks noGrp="1"/>
          </p:cNvSpPr>
          <p:nvPr>
            <p:ph type="title" hasCustomPrompt="1"/>
          </p:nvPr>
        </p:nvSpPr>
        <p:spPr>
          <a:xfrm>
            <a:off x="974700" y="1881050"/>
            <a:ext cx="685800" cy="68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908750" y="2201761"/>
            <a:ext cx="23364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" hasCustomPrompt="1"/>
          </p:nvPr>
        </p:nvSpPr>
        <p:spPr>
          <a:xfrm>
            <a:off x="4969500" y="1881050"/>
            <a:ext cx="687000" cy="68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3"/>
          </p:nvPr>
        </p:nvSpPr>
        <p:spPr>
          <a:xfrm>
            <a:off x="5904750" y="2201761"/>
            <a:ext cx="23364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4" hasCustomPrompt="1"/>
          </p:nvPr>
        </p:nvSpPr>
        <p:spPr>
          <a:xfrm>
            <a:off x="974700" y="3458625"/>
            <a:ext cx="685800" cy="68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5"/>
          </p:nvPr>
        </p:nvSpPr>
        <p:spPr>
          <a:xfrm>
            <a:off x="1908750" y="3779328"/>
            <a:ext cx="23364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>
            <a:off x="4969500" y="3458625"/>
            <a:ext cx="687000" cy="68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7"/>
          </p:nvPr>
        </p:nvSpPr>
        <p:spPr>
          <a:xfrm>
            <a:off x="5904750" y="3779328"/>
            <a:ext cx="23364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9"/>
          </p:nvPr>
        </p:nvSpPr>
        <p:spPr>
          <a:xfrm>
            <a:off x="1908750" y="1671350"/>
            <a:ext cx="23364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3"/>
          </p:nvPr>
        </p:nvSpPr>
        <p:spPr>
          <a:xfrm>
            <a:off x="5904750" y="1671350"/>
            <a:ext cx="23364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4"/>
          </p:nvPr>
        </p:nvSpPr>
        <p:spPr>
          <a:xfrm>
            <a:off x="1908750" y="3248925"/>
            <a:ext cx="23364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5"/>
          </p:nvPr>
        </p:nvSpPr>
        <p:spPr>
          <a:xfrm>
            <a:off x="5904750" y="3248925"/>
            <a:ext cx="23364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i="1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65750" y="63155"/>
            <a:ext cx="409357" cy="409357"/>
            <a:chOff x="1393875" y="-1823657"/>
            <a:chExt cx="409357" cy="409357"/>
          </a:xfrm>
        </p:grpSpPr>
        <p:cxnSp>
          <p:nvCxnSpPr>
            <p:cNvPr id="103" name="Google Shape;103;p1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1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1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" name="Google Shape;107;p13"/>
          <p:cNvGrpSpPr/>
          <p:nvPr/>
        </p:nvGrpSpPr>
        <p:grpSpPr>
          <a:xfrm>
            <a:off x="165750" y="4670980"/>
            <a:ext cx="409357" cy="409357"/>
            <a:chOff x="1393875" y="-1823657"/>
            <a:chExt cx="409357" cy="409357"/>
          </a:xfrm>
        </p:grpSpPr>
        <p:cxnSp>
          <p:nvCxnSpPr>
            <p:cNvPr id="108" name="Google Shape;108;p1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1_1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/>
          <p:cNvPicPr preferRelativeResize="0"/>
          <p:nvPr/>
        </p:nvPicPr>
        <p:blipFill rotWithShape="1">
          <a:blip r:embed="rId2">
            <a:alphaModFix/>
          </a:blip>
          <a:srcRect l="59" r="69"/>
          <a:stretch/>
        </p:blipFill>
        <p:spPr>
          <a:xfrm flipH="1">
            <a:off x="0" y="-2286"/>
            <a:ext cx="9143998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36469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2" hasCustomPrompt="1"/>
          </p:nvPr>
        </p:nvSpPr>
        <p:spPr>
          <a:xfrm>
            <a:off x="5278000" y="106483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3718600" y="3347200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3_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t="89" b="89"/>
          <a:stretch/>
        </p:blipFill>
        <p:spPr>
          <a:xfrm>
            <a:off x="0" y="-2286"/>
            <a:ext cx="9144000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8" name="Google Shape;158;p18"/>
          <p:cNvGrpSpPr/>
          <p:nvPr/>
        </p:nvGrpSpPr>
        <p:grpSpPr>
          <a:xfrm>
            <a:off x="159263" y="4648818"/>
            <a:ext cx="409357" cy="409357"/>
            <a:chOff x="1393875" y="-1823657"/>
            <a:chExt cx="409357" cy="409357"/>
          </a:xfrm>
        </p:grpSpPr>
        <p:cxnSp>
          <p:nvCxnSpPr>
            <p:cNvPr id="159" name="Google Shape;159;p18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p18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18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18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3" name="Google Shape;163;p18"/>
          <p:cNvGrpSpPr/>
          <p:nvPr/>
        </p:nvGrpSpPr>
        <p:grpSpPr>
          <a:xfrm>
            <a:off x="8424001" y="178928"/>
            <a:ext cx="837000" cy="1444351"/>
            <a:chOff x="8584751" y="1392578"/>
            <a:chExt cx="837000" cy="1444351"/>
          </a:xfrm>
        </p:grpSpPr>
        <p:sp>
          <p:nvSpPr>
            <p:cNvPr id="164" name="Google Shape;164;p18"/>
            <p:cNvSpPr/>
            <p:nvPr/>
          </p:nvSpPr>
          <p:spPr>
            <a:xfrm>
              <a:off x="8584751" y="1392578"/>
              <a:ext cx="837000" cy="8370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584751" y="1999930"/>
              <a:ext cx="837000" cy="8370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>
            <a:spLocks noGrp="1"/>
          </p:cNvSpPr>
          <p:nvPr>
            <p:ph type="subTitle" idx="1"/>
          </p:nvPr>
        </p:nvSpPr>
        <p:spPr>
          <a:xfrm>
            <a:off x="2573550" y="3093000"/>
            <a:ext cx="39969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2573550" y="1268150"/>
            <a:ext cx="3996900" cy="14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9"/>
          <p:cNvGrpSpPr/>
          <p:nvPr/>
        </p:nvGrpSpPr>
        <p:grpSpPr>
          <a:xfrm>
            <a:off x="4374950" y="60093"/>
            <a:ext cx="409357" cy="409357"/>
            <a:chOff x="1393875" y="-1823657"/>
            <a:chExt cx="409357" cy="409357"/>
          </a:xfrm>
        </p:grpSpPr>
        <p:cxnSp>
          <p:nvCxnSpPr>
            <p:cNvPr id="171" name="Google Shape;171;p1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1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173;p1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" name="Google Shape;175;p19"/>
          <p:cNvGrpSpPr/>
          <p:nvPr/>
        </p:nvGrpSpPr>
        <p:grpSpPr>
          <a:xfrm>
            <a:off x="146321" y="2367071"/>
            <a:ext cx="409357" cy="409357"/>
            <a:chOff x="1393875" y="-1823657"/>
            <a:chExt cx="409357" cy="409357"/>
          </a:xfrm>
        </p:grpSpPr>
        <p:cxnSp>
          <p:nvCxnSpPr>
            <p:cNvPr id="176" name="Google Shape;176;p1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1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1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1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0" name="Google Shape;180;p19"/>
          <p:cNvGrpSpPr/>
          <p:nvPr/>
        </p:nvGrpSpPr>
        <p:grpSpPr>
          <a:xfrm>
            <a:off x="8588321" y="2367071"/>
            <a:ext cx="409357" cy="409357"/>
            <a:chOff x="1393875" y="-1823657"/>
            <a:chExt cx="409357" cy="409357"/>
          </a:xfrm>
        </p:grpSpPr>
        <p:cxnSp>
          <p:nvCxnSpPr>
            <p:cNvPr id="181" name="Google Shape;181;p1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1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5" name="Google Shape;185;p19"/>
          <p:cNvGrpSpPr/>
          <p:nvPr/>
        </p:nvGrpSpPr>
        <p:grpSpPr>
          <a:xfrm>
            <a:off x="4374950" y="4671818"/>
            <a:ext cx="409357" cy="409357"/>
            <a:chOff x="1393875" y="-1823657"/>
            <a:chExt cx="409357" cy="409357"/>
          </a:xfrm>
        </p:grpSpPr>
        <p:cxnSp>
          <p:nvCxnSpPr>
            <p:cNvPr id="186" name="Google Shape;186;p1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>
            <a:spLocks noGrp="1"/>
          </p:cNvSpPr>
          <p:nvPr>
            <p:ph type="subTitle" idx="1"/>
          </p:nvPr>
        </p:nvSpPr>
        <p:spPr>
          <a:xfrm>
            <a:off x="720000" y="2455550"/>
            <a:ext cx="3861600" cy="9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720000" y="1611325"/>
            <a:ext cx="38616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21"/>
          <p:cNvGrpSpPr/>
          <p:nvPr/>
        </p:nvGrpSpPr>
        <p:grpSpPr>
          <a:xfrm>
            <a:off x="8589988" y="655493"/>
            <a:ext cx="409357" cy="409357"/>
            <a:chOff x="1393875" y="-1823657"/>
            <a:chExt cx="409357" cy="409357"/>
          </a:xfrm>
        </p:grpSpPr>
        <p:cxnSp>
          <p:nvCxnSpPr>
            <p:cNvPr id="205" name="Google Shape;205;p21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1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1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1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493" y="-2286"/>
            <a:ext cx="9192986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>
            <a:spLocks noGrp="1"/>
          </p:cNvSpPr>
          <p:nvPr>
            <p:ph type="subTitle" idx="1"/>
          </p:nvPr>
        </p:nvSpPr>
        <p:spPr>
          <a:xfrm>
            <a:off x="1290763" y="1561425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2"/>
          </p:nvPr>
        </p:nvSpPr>
        <p:spPr>
          <a:xfrm>
            <a:off x="4945638" y="1561425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3" name="Google Shape;223;p23"/>
          <p:cNvGrpSpPr/>
          <p:nvPr/>
        </p:nvGrpSpPr>
        <p:grpSpPr>
          <a:xfrm>
            <a:off x="8604488" y="4668168"/>
            <a:ext cx="409357" cy="409357"/>
            <a:chOff x="1393875" y="-1823657"/>
            <a:chExt cx="409357" cy="409357"/>
          </a:xfrm>
        </p:grpSpPr>
        <p:cxnSp>
          <p:nvCxnSpPr>
            <p:cNvPr id="224" name="Google Shape;224;p2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2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8" name="Google Shape;228;p23"/>
          <p:cNvGrpSpPr/>
          <p:nvPr/>
        </p:nvGrpSpPr>
        <p:grpSpPr>
          <a:xfrm>
            <a:off x="130263" y="4668168"/>
            <a:ext cx="409357" cy="409357"/>
            <a:chOff x="1393875" y="-1823657"/>
            <a:chExt cx="409357" cy="409357"/>
          </a:xfrm>
        </p:grpSpPr>
        <p:cxnSp>
          <p:nvCxnSpPr>
            <p:cNvPr id="229" name="Google Shape;229;p2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2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2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2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8"/>
          <p:cNvPicPr preferRelativeResize="0"/>
          <p:nvPr/>
        </p:nvPicPr>
        <p:blipFill rotWithShape="1">
          <a:blip r:embed="rId2">
            <a:alphaModFix/>
          </a:blip>
          <a:srcRect l="69" r="69"/>
          <a:stretch/>
        </p:blipFill>
        <p:spPr>
          <a:xfrm flipH="1">
            <a:off x="0" y="0"/>
            <a:ext cx="9143998" cy="51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8"/>
          <p:cNvSpPr txBox="1">
            <a:spLocks noGrp="1"/>
          </p:cNvSpPr>
          <p:nvPr>
            <p:ph type="title" hasCustomPrompt="1"/>
          </p:nvPr>
        </p:nvSpPr>
        <p:spPr>
          <a:xfrm>
            <a:off x="715100" y="540000"/>
            <a:ext cx="43479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2" name="Google Shape;332;p28"/>
          <p:cNvSpPr txBox="1">
            <a:spLocks noGrp="1"/>
          </p:cNvSpPr>
          <p:nvPr>
            <p:ph type="subTitle" idx="1"/>
          </p:nvPr>
        </p:nvSpPr>
        <p:spPr>
          <a:xfrm>
            <a:off x="715100" y="1474628"/>
            <a:ext cx="4347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919948"/>
            <a:ext cx="43479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4" name="Google Shape;334;p28"/>
          <p:cNvSpPr txBox="1">
            <a:spLocks noGrp="1"/>
          </p:cNvSpPr>
          <p:nvPr>
            <p:ph type="subTitle" idx="3"/>
          </p:nvPr>
        </p:nvSpPr>
        <p:spPr>
          <a:xfrm>
            <a:off x="715100" y="2854576"/>
            <a:ext cx="4347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299896"/>
            <a:ext cx="43479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6" name="Google Shape;336;p28"/>
          <p:cNvSpPr txBox="1">
            <a:spLocks noGrp="1"/>
          </p:cNvSpPr>
          <p:nvPr>
            <p:ph type="subTitle" idx="5"/>
          </p:nvPr>
        </p:nvSpPr>
        <p:spPr>
          <a:xfrm>
            <a:off x="715100" y="4234524"/>
            <a:ext cx="4347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37" name="Google Shape;337;p28"/>
          <p:cNvGrpSpPr/>
          <p:nvPr/>
        </p:nvGrpSpPr>
        <p:grpSpPr>
          <a:xfrm>
            <a:off x="144788" y="2367068"/>
            <a:ext cx="409357" cy="409357"/>
            <a:chOff x="1393875" y="-1823657"/>
            <a:chExt cx="409357" cy="409357"/>
          </a:xfrm>
        </p:grpSpPr>
        <p:cxnSp>
          <p:nvCxnSpPr>
            <p:cNvPr id="338" name="Google Shape;338;p28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28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28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28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2976" y="-24175"/>
            <a:ext cx="9229952" cy="5191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32"/>
          <p:cNvGrpSpPr/>
          <p:nvPr/>
        </p:nvGrpSpPr>
        <p:grpSpPr>
          <a:xfrm>
            <a:off x="134613" y="826268"/>
            <a:ext cx="409357" cy="409357"/>
            <a:chOff x="1393875" y="-1823657"/>
            <a:chExt cx="409357" cy="409357"/>
          </a:xfrm>
        </p:grpSpPr>
        <p:cxnSp>
          <p:nvCxnSpPr>
            <p:cNvPr id="408" name="Google Shape;408;p3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p3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Google Shape;410;p3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3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2" name="Google Shape;412;p32"/>
          <p:cNvGrpSpPr/>
          <p:nvPr/>
        </p:nvGrpSpPr>
        <p:grpSpPr>
          <a:xfrm>
            <a:off x="8584638" y="4065118"/>
            <a:ext cx="409357" cy="409357"/>
            <a:chOff x="1393875" y="-1823657"/>
            <a:chExt cx="409357" cy="409357"/>
          </a:xfrm>
        </p:grpSpPr>
        <p:cxnSp>
          <p:nvCxnSpPr>
            <p:cNvPr id="413" name="Google Shape;413;p3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3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3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3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7" name="Google Shape;417;p32"/>
          <p:cNvGrpSpPr/>
          <p:nvPr/>
        </p:nvGrpSpPr>
        <p:grpSpPr>
          <a:xfrm rot="5400000">
            <a:off x="4807401" y="1877287"/>
            <a:ext cx="5761958" cy="1481028"/>
            <a:chOff x="-87025" y="3954291"/>
            <a:chExt cx="4300610" cy="1105409"/>
          </a:xfrm>
        </p:grpSpPr>
        <p:sp>
          <p:nvSpPr>
            <p:cNvPr id="418" name="Google Shape;418;p32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2976" y="-24175"/>
            <a:ext cx="9229952" cy="5191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3"/>
          <p:cNvGrpSpPr/>
          <p:nvPr/>
        </p:nvGrpSpPr>
        <p:grpSpPr>
          <a:xfrm>
            <a:off x="6554288" y="62468"/>
            <a:ext cx="409357" cy="409357"/>
            <a:chOff x="1393875" y="-1823657"/>
            <a:chExt cx="409357" cy="409357"/>
          </a:xfrm>
        </p:grpSpPr>
        <p:cxnSp>
          <p:nvCxnSpPr>
            <p:cNvPr id="423" name="Google Shape;423;p3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3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3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3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7" name="Google Shape;427;p33"/>
          <p:cNvGrpSpPr/>
          <p:nvPr/>
        </p:nvGrpSpPr>
        <p:grpSpPr>
          <a:xfrm>
            <a:off x="792038" y="4683868"/>
            <a:ext cx="409357" cy="409357"/>
            <a:chOff x="1393875" y="-1823657"/>
            <a:chExt cx="409357" cy="409357"/>
          </a:xfrm>
        </p:grpSpPr>
        <p:cxnSp>
          <p:nvCxnSpPr>
            <p:cNvPr id="428" name="Google Shape;428;p33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33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33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33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2" name="Google Shape;432;p33"/>
          <p:cNvGrpSpPr/>
          <p:nvPr/>
        </p:nvGrpSpPr>
        <p:grpSpPr>
          <a:xfrm>
            <a:off x="715100" y="-667500"/>
            <a:ext cx="2832900" cy="5089000"/>
            <a:chOff x="-2117800" y="-126050"/>
            <a:chExt cx="2832900" cy="5089000"/>
          </a:xfrm>
        </p:grpSpPr>
        <p:sp>
          <p:nvSpPr>
            <p:cNvPr id="433" name="Google Shape;433;p33"/>
            <p:cNvSpPr/>
            <p:nvPr/>
          </p:nvSpPr>
          <p:spPr>
            <a:xfrm>
              <a:off x="-2117800" y="100200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-2117800" y="2130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-2117800" y="-126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skervville"/>
              <a:buNone/>
              <a:defRPr sz="3500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1" r:id="rId9"/>
    <p:sldLayoutId id="2147483664" r:id="rId10"/>
    <p:sldLayoutId id="2147483665" r:id="rId11"/>
    <p:sldLayoutId id="2147483667" r:id="rId12"/>
    <p:sldLayoutId id="2147483669" r:id="rId13"/>
    <p:sldLayoutId id="2147483674" r:id="rId14"/>
    <p:sldLayoutId id="2147483678" r:id="rId15"/>
    <p:sldLayoutId id="214748367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 txBox="1">
            <a:spLocks noGrp="1"/>
          </p:cNvSpPr>
          <p:nvPr>
            <p:ph type="ctrTitle"/>
          </p:nvPr>
        </p:nvSpPr>
        <p:spPr>
          <a:xfrm>
            <a:off x="3358600" y="1268375"/>
            <a:ext cx="50277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Perbedaan</a:t>
            </a:r>
            <a:br>
              <a:rPr lang="en" dirty="0"/>
            </a:br>
            <a:r>
              <a:rPr lang="en" dirty="0"/>
              <a:t> </a:t>
            </a:r>
            <a:r>
              <a:rPr lang="en" sz="4000" dirty="0"/>
              <a:t>RDMS(MySQL)  </a:t>
            </a:r>
            <a:br>
              <a:rPr lang="en" sz="4000" dirty="0"/>
            </a:br>
            <a:r>
              <a:rPr lang="en" sz="4000" dirty="0"/>
              <a:t>DBMS(MongoDB)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47" name="Google Shape;447;p37"/>
          <p:cNvSpPr txBox="1">
            <a:spLocks noGrp="1"/>
          </p:cNvSpPr>
          <p:nvPr>
            <p:ph type="subTitle" idx="1"/>
          </p:nvPr>
        </p:nvSpPr>
        <p:spPr>
          <a:xfrm>
            <a:off x="3358600" y="3722001"/>
            <a:ext cx="5027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Moechammad Feirdaus Afriliyan</a:t>
            </a:r>
            <a:endParaRPr dirty="0"/>
          </a:p>
        </p:txBody>
      </p:sp>
      <p:grpSp>
        <p:nvGrpSpPr>
          <p:cNvPr id="448" name="Google Shape;448;p37"/>
          <p:cNvGrpSpPr/>
          <p:nvPr/>
        </p:nvGrpSpPr>
        <p:grpSpPr>
          <a:xfrm>
            <a:off x="8019550" y="534993"/>
            <a:ext cx="409357" cy="409357"/>
            <a:chOff x="1393875" y="-1823657"/>
            <a:chExt cx="409357" cy="409357"/>
          </a:xfrm>
        </p:grpSpPr>
        <p:cxnSp>
          <p:nvCxnSpPr>
            <p:cNvPr id="449" name="Google Shape;449;p37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37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37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37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3" name="Google Shape;453;p37"/>
          <p:cNvGrpSpPr/>
          <p:nvPr/>
        </p:nvGrpSpPr>
        <p:grpSpPr>
          <a:xfrm>
            <a:off x="143350" y="-70146"/>
            <a:ext cx="3061800" cy="5283800"/>
            <a:chOff x="143350" y="-70146"/>
            <a:chExt cx="3061800" cy="5283800"/>
          </a:xfrm>
        </p:grpSpPr>
        <p:sp>
          <p:nvSpPr>
            <p:cNvPr id="454" name="Google Shape;454;p37"/>
            <p:cNvSpPr/>
            <p:nvPr/>
          </p:nvSpPr>
          <p:spPr>
            <a:xfrm>
              <a:off x="143350" y="-70146"/>
              <a:ext cx="3061800" cy="306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143350" y="2151854"/>
              <a:ext cx="3061800" cy="306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6" name="Google Shape;456;p37"/>
          <p:cNvCxnSpPr/>
          <p:nvPr/>
        </p:nvCxnSpPr>
        <p:spPr>
          <a:xfrm rot="10800000">
            <a:off x="3594000" y="3592450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447;p37">
            <a:extLst>
              <a:ext uri="{FF2B5EF4-FFF2-40B4-BE49-F238E27FC236}">
                <a16:creationId xmlns:a16="http://schemas.microsoft.com/office/drawing/2014/main" id="{42A31DA1-90A1-7E8B-CC17-6B2EE60102E8}"/>
              </a:ext>
            </a:extLst>
          </p:cNvPr>
          <p:cNvSpPr txBox="1">
            <a:spLocks/>
          </p:cNvSpPr>
          <p:nvPr/>
        </p:nvSpPr>
        <p:spPr>
          <a:xfrm>
            <a:off x="3401050" y="4056302"/>
            <a:ext cx="50277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dirty="0"/>
              <a:t>Abdullah </a:t>
            </a:r>
            <a:r>
              <a:rPr lang="en-US" dirty="0" err="1"/>
              <a:t>Qa'id</a:t>
            </a:r>
            <a:r>
              <a:rPr lang="en-US" dirty="0"/>
              <a:t> </a:t>
            </a:r>
            <a:r>
              <a:rPr lang="en-US" dirty="0" err="1"/>
              <a:t>Mu'aadz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"/>
          <p:cNvSpPr/>
          <p:nvPr/>
        </p:nvSpPr>
        <p:spPr>
          <a:xfrm>
            <a:off x="913250" y="1476650"/>
            <a:ext cx="808800" cy="808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9"/>
          <p:cNvSpPr/>
          <p:nvPr/>
        </p:nvSpPr>
        <p:spPr>
          <a:xfrm>
            <a:off x="902850" y="2660871"/>
            <a:ext cx="808800" cy="808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9"/>
          <p:cNvSpPr/>
          <p:nvPr/>
        </p:nvSpPr>
        <p:spPr>
          <a:xfrm>
            <a:off x="4362200" y="1512201"/>
            <a:ext cx="808800" cy="808798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9"/>
          <p:cNvSpPr/>
          <p:nvPr/>
        </p:nvSpPr>
        <p:spPr>
          <a:xfrm>
            <a:off x="4364350" y="2723599"/>
            <a:ext cx="808800" cy="808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9"/>
          <p:cNvSpPr txBox="1">
            <a:spLocks noGrp="1"/>
          </p:cNvSpPr>
          <p:nvPr>
            <p:ph type="title"/>
          </p:nvPr>
        </p:nvSpPr>
        <p:spPr>
          <a:xfrm>
            <a:off x="974700" y="1476650"/>
            <a:ext cx="6858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77" name="Google Shape;477;p39"/>
          <p:cNvSpPr txBox="1">
            <a:spLocks noGrp="1"/>
          </p:cNvSpPr>
          <p:nvPr>
            <p:ph type="title" idx="2"/>
          </p:nvPr>
        </p:nvSpPr>
        <p:spPr>
          <a:xfrm>
            <a:off x="4423100" y="1512198"/>
            <a:ext cx="687000" cy="6869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9" name="Google Shape;479;p39"/>
          <p:cNvSpPr txBox="1">
            <a:spLocks noGrp="1"/>
          </p:cNvSpPr>
          <p:nvPr>
            <p:ph type="title" idx="4"/>
          </p:nvPr>
        </p:nvSpPr>
        <p:spPr>
          <a:xfrm>
            <a:off x="964300" y="2660868"/>
            <a:ext cx="6858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1" name="Google Shape;481;p39"/>
          <p:cNvSpPr txBox="1">
            <a:spLocks noGrp="1"/>
          </p:cNvSpPr>
          <p:nvPr>
            <p:ph type="title" idx="6"/>
          </p:nvPr>
        </p:nvSpPr>
        <p:spPr>
          <a:xfrm>
            <a:off x="4425250" y="2723596"/>
            <a:ext cx="687000" cy="6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3" name="Google Shape;483;p39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Pembahasan</a:t>
            </a:r>
            <a:endParaRPr dirty="0"/>
          </a:p>
        </p:txBody>
      </p:sp>
      <p:sp>
        <p:nvSpPr>
          <p:cNvPr id="484" name="Google Shape;484;p39"/>
          <p:cNvSpPr txBox="1">
            <a:spLocks noGrp="1"/>
          </p:cNvSpPr>
          <p:nvPr>
            <p:ph type="subTitle" idx="9"/>
          </p:nvPr>
        </p:nvSpPr>
        <p:spPr>
          <a:xfrm>
            <a:off x="1908750" y="1557488"/>
            <a:ext cx="2336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Pengertian</a:t>
            </a:r>
            <a:endParaRPr dirty="0"/>
          </a:p>
        </p:txBody>
      </p:sp>
      <p:sp>
        <p:nvSpPr>
          <p:cNvPr id="485" name="Google Shape;485;p39"/>
          <p:cNvSpPr txBox="1">
            <a:spLocks noGrp="1"/>
          </p:cNvSpPr>
          <p:nvPr>
            <p:ph type="subTitle" idx="13"/>
          </p:nvPr>
        </p:nvSpPr>
        <p:spPr>
          <a:xfrm>
            <a:off x="5357700" y="1590497"/>
            <a:ext cx="2336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Fitur</a:t>
            </a:r>
            <a:endParaRPr dirty="0"/>
          </a:p>
        </p:txBody>
      </p:sp>
      <p:sp>
        <p:nvSpPr>
          <p:cNvPr id="486" name="Google Shape;486;p39"/>
          <p:cNvSpPr txBox="1">
            <a:spLocks noGrp="1"/>
          </p:cNvSpPr>
          <p:nvPr>
            <p:ph type="subTitle" idx="14"/>
          </p:nvPr>
        </p:nvSpPr>
        <p:spPr>
          <a:xfrm>
            <a:off x="1908750" y="2775486"/>
            <a:ext cx="2336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</a:t>
            </a:r>
            <a:endParaRPr dirty="0"/>
          </a:p>
        </p:txBody>
      </p:sp>
      <p:sp>
        <p:nvSpPr>
          <p:cNvPr id="487" name="Google Shape;487;p39"/>
          <p:cNvSpPr txBox="1">
            <a:spLocks noGrp="1"/>
          </p:cNvSpPr>
          <p:nvPr>
            <p:ph type="subTitle" idx="15"/>
          </p:nvPr>
        </p:nvSpPr>
        <p:spPr>
          <a:xfrm>
            <a:off x="5489450" y="3004368"/>
            <a:ext cx="2336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Kelebihan dan Kekurangan</a:t>
            </a:r>
            <a:endParaRPr dirty="0"/>
          </a:p>
        </p:txBody>
      </p:sp>
      <p:cxnSp>
        <p:nvCxnSpPr>
          <p:cNvPr id="488" name="Google Shape;488;p39"/>
          <p:cNvCxnSpPr/>
          <p:nvPr/>
        </p:nvCxnSpPr>
        <p:spPr>
          <a:xfrm rot="10800000">
            <a:off x="722050" y="1268050"/>
            <a:ext cx="771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9" name="Google Shape;489;p39"/>
          <p:cNvSpPr/>
          <p:nvPr/>
        </p:nvSpPr>
        <p:spPr>
          <a:xfrm>
            <a:off x="7694100" y="-1263071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3B6DB9-BF37-C7A4-BD36-0330D047B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51" y="-1112837"/>
            <a:ext cx="3072650" cy="3072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8413F1-AEE7-B420-D710-004B8575A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0" y="3784116"/>
            <a:ext cx="823031" cy="816935"/>
          </a:xfrm>
          <a:prstGeom prst="rect">
            <a:avLst/>
          </a:prstGeom>
        </p:spPr>
      </p:pic>
      <p:sp>
        <p:nvSpPr>
          <p:cNvPr id="12" name="Google Shape;479;p39">
            <a:extLst>
              <a:ext uri="{FF2B5EF4-FFF2-40B4-BE49-F238E27FC236}">
                <a16:creationId xmlns:a16="http://schemas.microsoft.com/office/drawing/2014/main" id="{A116D9BE-F861-F301-4C10-C481F55E2958}"/>
              </a:ext>
            </a:extLst>
          </p:cNvPr>
          <p:cNvSpPr txBox="1">
            <a:spLocks/>
          </p:cNvSpPr>
          <p:nvPr/>
        </p:nvSpPr>
        <p:spPr>
          <a:xfrm>
            <a:off x="981865" y="3845092"/>
            <a:ext cx="6858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skervville"/>
              <a:buNone/>
              <a:defRPr sz="3500" b="0" i="1" u="none" strike="noStrike" cap="none">
                <a:solidFill>
                  <a:schemeClr val="accent4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3" name="Google Shape;486;p39">
            <a:extLst>
              <a:ext uri="{FF2B5EF4-FFF2-40B4-BE49-F238E27FC236}">
                <a16:creationId xmlns:a16="http://schemas.microsoft.com/office/drawing/2014/main" id="{17DB83EA-72C8-B6E1-07F3-0B3802B83577}"/>
              </a:ext>
            </a:extLst>
          </p:cNvPr>
          <p:cNvSpPr txBox="1">
            <a:spLocks/>
          </p:cNvSpPr>
          <p:nvPr/>
        </p:nvSpPr>
        <p:spPr>
          <a:xfrm>
            <a:off x="1908750" y="3856788"/>
            <a:ext cx="2336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0" i="1" u="none" strike="noStrike" cap="none">
                <a:solidFill>
                  <a:schemeClr val="dk1"/>
                </a:solidFill>
                <a:latin typeface="Baskervville"/>
                <a:ea typeface="Baskervville"/>
                <a:cs typeface="Baskervville"/>
                <a:sym typeface="Baskervvill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M</a:t>
            </a:r>
            <a:r>
              <a:rPr lang="en-ID" dirty="0" err="1"/>
              <a:t>anfaat</a:t>
            </a: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5F6882-16D2-6433-A75E-72B235BAD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425" y="3630416"/>
            <a:ext cx="2951452" cy="15756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B88E1D-B8BA-1047-09B4-A51EF22B2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9458" y="2689106"/>
            <a:ext cx="188992" cy="2743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2216A7-1B87-7F22-33E7-88A2DE53C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7705" y="2586424"/>
            <a:ext cx="195089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title"/>
          </p:nvPr>
        </p:nvSpPr>
        <p:spPr>
          <a:xfrm>
            <a:off x="7151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Pengertian</a:t>
            </a:r>
            <a:endParaRPr dirty="0"/>
          </a:p>
        </p:txBody>
      </p:sp>
      <p:sp>
        <p:nvSpPr>
          <p:cNvPr id="521" name="Google Shape;521;p42"/>
          <p:cNvSpPr txBox="1">
            <a:spLocks noGrp="1"/>
          </p:cNvSpPr>
          <p:nvPr>
            <p:ph type="title" idx="2"/>
          </p:nvPr>
        </p:nvSpPr>
        <p:spPr>
          <a:xfrm>
            <a:off x="715100" y="1064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2" name="Google Shape;522;p42"/>
          <p:cNvSpPr txBox="1">
            <a:spLocks noGrp="1"/>
          </p:cNvSpPr>
          <p:nvPr>
            <p:ph type="subTitle" idx="1"/>
          </p:nvPr>
        </p:nvSpPr>
        <p:spPr>
          <a:xfrm>
            <a:off x="715100" y="3254919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RDBMS (MySQL)</a:t>
            </a:r>
            <a:endParaRPr dirty="0"/>
          </a:p>
        </p:txBody>
      </p:sp>
      <p:grpSp>
        <p:nvGrpSpPr>
          <p:cNvPr id="523" name="Google Shape;523;p42"/>
          <p:cNvGrpSpPr/>
          <p:nvPr/>
        </p:nvGrpSpPr>
        <p:grpSpPr>
          <a:xfrm>
            <a:off x="6312750" y="-51200"/>
            <a:ext cx="2504100" cy="5303450"/>
            <a:chOff x="6701850" y="-51200"/>
            <a:chExt cx="2504100" cy="5303450"/>
          </a:xfrm>
        </p:grpSpPr>
        <p:sp>
          <p:nvSpPr>
            <p:cNvPr id="524" name="Google Shape;524;p42"/>
            <p:cNvSpPr/>
            <p:nvPr/>
          </p:nvSpPr>
          <p:spPr>
            <a:xfrm>
              <a:off x="6701850" y="-512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6701850" y="14889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6701850" y="308655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27" name="Google Shape;527;p42"/>
          <p:cNvCxnSpPr/>
          <p:nvPr/>
        </p:nvCxnSpPr>
        <p:spPr>
          <a:xfrm rot="10800000">
            <a:off x="7151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8" name="Google Shape;528;p42"/>
          <p:cNvGrpSpPr/>
          <p:nvPr/>
        </p:nvGrpSpPr>
        <p:grpSpPr>
          <a:xfrm>
            <a:off x="3775250" y="534993"/>
            <a:ext cx="409357" cy="409357"/>
            <a:chOff x="1393875" y="-1823657"/>
            <a:chExt cx="409357" cy="409357"/>
          </a:xfrm>
        </p:grpSpPr>
        <p:cxnSp>
          <p:nvCxnSpPr>
            <p:cNvPr id="529" name="Google Shape;529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3" name="Google Shape;533;p42"/>
          <p:cNvGrpSpPr/>
          <p:nvPr/>
        </p:nvGrpSpPr>
        <p:grpSpPr>
          <a:xfrm>
            <a:off x="715100" y="4403818"/>
            <a:ext cx="409357" cy="409357"/>
            <a:chOff x="1393875" y="-1823657"/>
            <a:chExt cx="409357" cy="409357"/>
          </a:xfrm>
        </p:grpSpPr>
        <p:cxnSp>
          <p:nvCxnSpPr>
            <p:cNvPr id="534" name="Google Shape;534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>
            <a:spLocks noGrp="1"/>
          </p:cNvSpPr>
          <p:nvPr>
            <p:ph type="title"/>
          </p:nvPr>
        </p:nvSpPr>
        <p:spPr>
          <a:xfrm>
            <a:off x="-382800" y="104600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Pengertian MySQL</a:t>
            </a:r>
            <a:endParaRPr sz="4000" dirty="0"/>
          </a:p>
        </p:txBody>
      </p:sp>
      <p:sp>
        <p:nvSpPr>
          <p:cNvPr id="508" name="Google Shape;508;p41"/>
          <p:cNvSpPr txBox="1">
            <a:spLocks noGrp="1"/>
          </p:cNvSpPr>
          <p:nvPr>
            <p:ph type="subTitle" idx="1"/>
          </p:nvPr>
        </p:nvSpPr>
        <p:spPr>
          <a:xfrm>
            <a:off x="1976306" y="1369118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MySQL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dibaca</a:t>
            </a:r>
            <a:r>
              <a:rPr lang="en-ID" dirty="0"/>
              <a:t> My Sequel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Database Management System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disingkat</a:t>
            </a:r>
            <a:r>
              <a:rPr lang="en-ID" dirty="0"/>
              <a:t> DBMS yang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SQL (Structured Query Language) yang </a:t>
            </a:r>
            <a:r>
              <a:rPr lang="en-ID" dirty="0" err="1"/>
              <a:t>populer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website.</a:t>
            </a:r>
            <a:endParaRPr dirty="0"/>
          </a:p>
        </p:txBody>
      </p:sp>
      <p:cxnSp>
        <p:nvCxnSpPr>
          <p:cNvPr id="509" name="Google Shape;509;p41"/>
          <p:cNvCxnSpPr/>
          <p:nvPr/>
        </p:nvCxnSpPr>
        <p:spPr>
          <a:xfrm rot="10800000">
            <a:off x="2241900" y="1116659"/>
            <a:ext cx="466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>
            <a:spLocks noGrp="1"/>
          </p:cNvSpPr>
          <p:nvPr>
            <p:ph type="title"/>
          </p:nvPr>
        </p:nvSpPr>
        <p:spPr>
          <a:xfrm>
            <a:off x="-382800" y="104600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Pengertian RDBMS</a:t>
            </a:r>
            <a:endParaRPr sz="4000" dirty="0"/>
          </a:p>
        </p:txBody>
      </p:sp>
      <p:sp>
        <p:nvSpPr>
          <p:cNvPr id="508" name="Google Shape;508;p41"/>
          <p:cNvSpPr txBox="1">
            <a:spLocks noGrp="1"/>
          </p:cNvSpPr>
          <p:nvPr>
            <p:ph type="subTitle" idx="1"/>
          </p:nvPr>
        </p:nvSpPr>
        <p:spPr>
          <a:xfrm>
            <a:off x="1976306" y="1369118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Relational Database Management System </a:t>
            </a:r>
            <a:r>
              <a:rPr lang="en-ID" dirty="0" err="1"/>
              <a:t>atau</a:t>
            </a:r>
            <a:r>
              <a:rPr lang="en-ID" dirty="0"/>
              <a:t> yang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disebut</a:t>
            </a:r>
            <a:r>
              <a:rPr lang="en-ID" dirty="0"/>
              <a:t> RDBMS </a:t>
            </a:r>
            <a:r>
              <a:rPr lang="en-ID" dirty="0" err="1"/>
              <a:t>adalah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database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ataupun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data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tablenya</a:t>
            </a:r>
            <a:endParaRPr dirty="0"/>
          </a:p>
        </p:txBody>
      </p:sp>
      <p:cxnSp>
        <p:nvCxnSpPr>
          <p:cNvPr id="509" name="Google Shape;509;p41"/>
          <p:cNvCxnSpPr/>
          <p:nvPr/>
        </p:nvCxnSpPr>
        <p:spPr>
          <a:xfrm rot="10800000">
            <a:off x="2241900" y="1116659"/>
            <a:ext cx="466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369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title"/>
          </p:nvPr>
        </p:nvSpPr>
        <p:spPr>
          <a:xfrm>
            <a:off x="7151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Fitur</a:t>
            </a:r>
            <a:endParaRPr dirty="0"/>
          </a:p>
        </p:txBody>
      </p:sp>
      <p:sp>
        <p:nvSpPr>
          <p:cNvPr id="521" name="Google Shape;521;p42"/>
          <p:cNvSpPr txBox="1">
            <a:spLocks noGrp="1"/>
          </p:cNvSpPr>
          <p:nvPr>
            <p:ph type="title" idx="2"/>
          </p:nvPr>
        </p:nvSpPr>
        <p:spPr>
          <a:xfrm>
            <a:off x="715100" y="1064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22" name="Google Shape;522;p42"/>
          <p:cNvSpPr txBox="1">
            <a:spLocks noGrp="1"/>
          </p:cNvSpPr>
          <p:nvPr>
            <p:ph type="subTitle" idx="1"/>
          </p:nvPr>
        </p:nvSpPr>
        <p:spPr>
          <a:xfrm>
            <a:off x="715100" y="3254919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RDBMS (MySQL)</a:t>
            </a:r>
            <a:endParaRPr dirty="0"/>
          </a:p>
        </p:txBody>
      </p:sp>
      <p:grpSp>
        <p:nvGrpSpPr>
          <p:cNvPr id="523" name="Google Shape;523;p42"/>
          <p:cNvGrpSpPr/>
          <p:nvPr/>
        </p:nvGrpSpPr>
        <p:grpSpPr>
          <a:xfrm>
            <a:off x="6312750" y="-51200"/>
            <a:ext cx="2504100" cy="5303450"/>
            <a:chOff x="6701850" y="-51200"/>
            <a:chExt cx="2504100" cy="5303450"/>
          </a:xfrm>
        </p:grpSpPr>
        <p:sp>
          <p:nvSpPr>
            <p:cNvPr id="524" name="Google Shape;524;p42"/>
            <p:cNvSpPr/>
            <p:nvPr/>
          </p:nvSpPr>
          <p:spPr>
            <a:xfrm>
              <a:off x="6701850" y="-512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6701850" y="14889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6701850" y="308655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27" name="Google Shape;527;p42"/>
          <p:cNvCxnSpPr/>
          <p:nvPr/>
        </p:nvCxnSpPr>
        <p:spPr>
          <a:xfrm rot="10800000">
            <a:off x="7151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8" name="Google Shape;528;p42"/>
          <p:cNvGrpSpPr/>
          <p:nvPr/>
        </p:nvGrpSpPr>
        <p:grpSpPr>
          <a:xfrm>
            <a:off x="3775250" y="534993"/>
            <a:ext cx="409357" cy="409357"/>
            <a:chOff x="1393875" y="-1823657"/>
            <a:chExt cx="409357" cy="409357"/>
          </a:xfrm>
        </p:grpSpPr>
        <p:cxnSp>
          <p:nvCxnSpPr>
            <p:cNvPr id="529" name="Google Shape;529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3" name="Google Shape;533;p42"/>
          <p:cNvGrpSpPr/>
          <p:nvPr/>
        </p:nvGrpSpPr>
        <p:grpSpPr>
          <a:xfrm>
            <a:off x="715100" y="4403818"/>
            <a:ext cx="409357" cy="409357"/>
            <a:chOff x="1393875" y="-1823657"/>
            <a:chExt cx="409357" cy="409357"/>
          </a:xfrm>
        </p:grpSpPr>
        <p:cxnSp>
          <p:nvCxnSpPr>
            <p:cNvPr id="534" name="Google Shape;534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2264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4"/>
          <p:cNvSpPr txBox="1">
            <a:spLocks noGrp="1"/>
          </p:cNvSpPr>
          <p:nvPr>
            <p:ph type="title"/>
          </p:nvPr>
        </p:nvSpPr>
        <p:spPr>
          <a:xfrm>
            <a:off x="720000" y="172925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Fitur </a:t>
            </a:r>
            <a:endParaRPr dirty="0"/>
          </a:p>
        </p:txBody>
      </p:sp>
      <p:cxnSp>
        <p:nvCxnSpPr>
          <p:cNvPr id="1096" name="Google Shape;1096;p64"/>
          <p:cNvCxnSpPr/>
          <p:nvPr/>
        </p:nvCxnSpPr>
        <p:spPr>
          <a:xfrm rot="10800000">
            <a:off x="720000" y="852299"/>
            <a:ext cx="771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38B51F-337D-8875-000A-CF006B4D8A5C}"/>
              </a:ext>
            </a:extLst>
          </p:cNvPr>
          <p:cNvCxnSpPr>
            <a:cxnSpLocks/>
          </p:cNvCxnSpPr>
          <p:nvPr/>
        </p:nvCxnSpPr>
        <p:spPr>
          <a:xfrm>
            <a:off x="4572000" y="868499"/>
            <a:ext cx="0" cy="3958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542;p43">
            <a:extLst>
              <a:ext uri="{FF2B5EF4-FFF2-40B4-BE49-F238E27FC236}">
                <a16:creationId xmlns:a16="http://schemas.microsoft.com/office/drawing/2014/main" id="{88E5063D-F60E-FCF9-D024-DF77A0075446}"/>
              </a:ext>
            </a:extLst>
          </p:cNvPr>
          <p:cNvSpPr txBox="1">
            <a:spLocks/>
          </p:cNvSpPr>
          <p:nvPr/>
        </p:nvSpPr>
        <p:spPr>
          <a:xfrm>
            <a:off x="1065132" y="1227901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Contraint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User-defined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Text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Partitioning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Backup &amp;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Dokumentasi</a:t>
            </a:r>
            <a:endParaRPr lang="en-US" dirty="0"/>
          </a:p>
        </p:txBody>
      </p:sp>
      <p:sp>
        <p:nvSpPr>
          <p:cNvPr id="6" name="Google Shape;563;p45">
            <a:extLst>
              <a:ext uri="{FF2B5EF4-FFF2-40B4-BE49-F238E27FC236}">
                <a16:creationId xmlns:a16="http://schemas.microsoft.com/office/drawing/2014/main" id="{FEAD5B28-B1D6-B5DA-8CE8-ADB810192E4E}"/>
              </a:ext>
            </a:extLst>
          </p:cNvPr>
          <p:cNvSpPr txBox="1">
            <a:spLocks/>
          </p:cNvSpPr>
          <p:nvPr/>
        </p:nvSpPr>
        <p:spPr>
          <a:xfrm>
            <a:off x="1065132" y="697501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R</a:t>
            </a:r>
            <a:r>
              <a:rPr lang="en-ID" dirty="0"/>
              <a:t>DBMS</a:t>
            </a:r>
          </a:p>
        </p:txBody>
      </p:sp>
      <p:sp>
        <p:nvSpPr>
          <p:cNvPr id="7" name="Google Shape;563;p45">
            <a:extLst>
              <a:ext uri="{FF2B5EF4-FFF2-40B4-BE49-F238E27FC236}">
                <a16:creationId xmlns:a16="http://schemas.microsoft.com/office/drawing/2014/main" id="{705B6291-27C9-18C9-1036-CC80278CA50B}"/>
              </a:ext>
            </a:extLst>
          </p:cNvPr>
          <p:cNvSpPr txBox="1">
            <a:spLocks/>
          </p:cNvSpPr>
          <p:nvPr/>
        </p:nvSpPr>
        <p:spPr>
          <a:xfrm>
            <a:off x="5379523" y="697501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M</a:t>
            </a:r>
            <a:r>
              <a:rPr lang="en-ID" dirty="0" err="1"/>
              <a:t>ySQL</a:t>
            </a:r>
            <a:endParaRPr lang="en-ID" dirty="0"/>
          </a:p>
        </p:txBody>
      </p:sp>
      <p:sp>
        <p:nvSpPr>
          <p:cNvPr id="8" name="Google Shape;542;p43">
            <a:extLst>
              <a:ext uri="{FF2B5EF4-FFF2-40B4-BE49-F238E27FC236}">
                <a16:creationId xmlns:a16="http://schemas.microsoft.com/office/drawing/2014/main" id="{B9825BDE-42D9-2F02-DBB4-5215ABCF6FD8}"/>
              </a:ext>
            </a:extLst>
          </p:cNvPr>
          <p:cNvSpPr txBox="1">
            <a:spLocks/>
          </p:cNvSpPr>
          <p:nvPr/>
        </p:nvSpPr>
        <p:spPr>
          <a:xfrm>
            <a:off x="4711500" y="1244102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Ease of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 txBox="1">
            <a:spLocks noGrp="1"/>
          </p:cNvSpPr>
          <p:nvPr>
            <p:ph type="title"/>
          </p:nvPr>
        </p:nvSpPr>
        <p:spPr>
          <a:xfrm>
            <a:off x="2663600" y="2179625"/>
            <a:ext cx="5765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 My SQL</a:t>
            </a:r>
            <a:endParaRPr dirty="0"/>
          </a:p>
        </p:txBody>
      </p:sp>
      <p:sp>
        <p:nvSpPr>
          <p:cNvPr id="672" name="Google Shape;672;p49"/>
          <p:cNvSpPr txBox="1">
            <a:spLocks noGrp="1"/>
          </p:cNvSpPr>
          <p:nvPr>
            <p:ph type="title" idx="2"/>
          </p:nvPr>
        </p:nvSpPr>
        <p:spPr>
          <a:xfrm>
            <a:off x="5278000" y="106483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73" name="Google Shape;673;p49"/>
          <p:cNvSpPr txBox="1">
            <a:spLocks noGrp="1"/>
          </p:cNvSpPr>
          <p:nvPr>
            <p:ph type="subTitle" idx="1"/>
          </p:nvPr>
        </p:nvSpPr>
        <p:spPr>
          <a:xfrm>
            <a:off x="3718600" y="3347200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cxnSp>
        <p:nvCxnSpPr>
          <p:cNvPr id="674" name="Google Shape;674;p49"/>
          <p:cNvCxnSpPr/>
          <p:nvPr/>
        </p:nvCxnSpPr>
        <p:spPr>
          <a:xfrm rot="10800000">
            <a:off x="35752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49"/>
          <p:cNvSpPr/>
          <p:nvPr/>
        </p:nvSpPr>
        <p:spPr>
          <a:xfrm rot="5400000">
            <a:off x="295075" y="403925"/>
            <a:ext cx="3198600" cy="27663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9"/>
          <p:cNvSpPr/>
          <p:nvPr/>
        </p:nvSpPr>
        <p:spPr>
          <a:xfrm rot="5400000">
            <a:off x="-318850" y="2071700"/>
            <a:ext cx="3198600" cy="27663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7" name="Google Shape;677;p49"/>
          <p:cNvGrpSpPr/>
          <p:nvPr/>
        </p:nvGrpSpPr>
        <p:grpSpPr>
          <a:xfrm>
            <a:off x="7855188" y="655493"/>
            <a:ext cx="409357" cy="409357"/>
            <a:chOff x="1393875" y="-1823657"/>
            <a:chExt cx="409357" cy="409357"/>
          </a:xfrm>
        </p:grpSpPr>
        <p:cxnSp>
          <p:nvCxnSpPr>
            <p:cNvPr id="678" name="Google Shape;678;p4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4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4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1" name="Google Shape;681;p4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2" name="Google Shape;682;p49"/>
          <p:cNvGrpSpPr/>
          <p:nvPr/>
        </p:nvGrpSpPr>
        <p:grpSpPr>
          <a:xfrm>
            <a:off x="7855188" y="4136193"/>
            <a:ext cx="409357" cy="409357"/>
            <a:chOff x="1393875" y="-1823657"/>
            <a:chExt cx="409357" cy="409357"/>
          </a:xfrm>
        </p:grpSpPr>
        <p:cxnSp>
          <p:nvCxnSpPr>
            <p:cNvPr id="683" name="Google Shape;683;p4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4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4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6" name="Google Shape;686;p4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>
            <a:spLocks noGrp="1"/>
          </p:cNvSpPr>
          <p:nvPr>
            <p:ph type="body" idx="1"/>
          </p:nvPr>
        </p:nvSpPr>
        <p:spPr>
          <a:xfrm>
            <a:off x="332508" y="923399"/>
            <a:ext cx="5362091" cy="3684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 err="1">
                <a:solidFill>
                  <a:schemeClr val="dk1"/>
                </a:solidFill>
              </a:rPr>
              <a:t>pertama</a:t>
            </a:r>
            <a:r>
              <a:rPr lang="en-ID" dirty="0">
                <a:solidFill>
                  <a:schemeClr val="dk1"/>
                </a:solidFill>
              </a:rPr>
              <a:t> kali </a:t>
            </a:r>
            <a:r>
              <a:rPr lang="en-ID" dirty="0" err="1">
                <a:solidFill>
                  <a:schemeClr val="dk1"/>
                </a:solidFill>
              </a:rPr>
              <a:t>mysql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dibangun</a:t>
            </a:r>
            <a:r>
              <a:rPr lang="en-ID" dirty="0">
                <a:solidFill>
                  <a:schemeClr val="dk1"/>
                </a:solidFill>
              </a:rPr>
              <a:t> pada </a:t>
            </a:r>
            <a:r>
              <a:rPr lang="en-ID" dirty="0" err="1">
                <a:solidFill>
                  <a:schemeClr val="dk1"/>
                </a:solidFill>
              </a:rPr>
              <a:t>tahun</a:t>
            </a:r>
            <a:r>
              <a:rPr lang="en-ID" dirty="0">
                <a:solidFill>
                  <a:schemeClr val="dk1"/>
                </a:solidFill>
              </a:rPr>
              <a:t> 1979 oleh </a:t>
            </a:r>
            <a:r>
              <a:rPr lang="en-ID" dirty="0" err="1">
                <a:solidFill>
                  <a:schemeClr val="dk1"/>
                </a:solidFill>
              </a:rPr>
              <a:t>seorang</a:t>
            </a:r>
            <a:r>
              <a:rPr lang="en-ID" dirty="0">
                <a:solidFill>
                  <a:schemeClr val="dk1"/>
                </a:solidFill>
              </a:rPr>
              <a:t> programmer </a:t>
            </a:r>
            <a:r>
              <a:rPr lang="en-ID" dirty="0" err="1">
                <a:solidFill>
                  <a:schemeClr val="dk1"/>
                </a:solidFill>
              </a:rPr>
              <a:t>komputer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asal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swedia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bernama</a:t>
            </a:r>
            <a:r>
              <a:rPr lang="en-ID" dirty="0">
                <a:solidFill>
                  <a:schemeClr val="dk1"/>
                </a:solidFill>
              </a:rPr>
              <a:t>  Michael “Monty” </a:t>
            </a:r>
            <a:r>
              <a:rPr lang="en-ID" dirty="0" err="1">
                <a:solidFill>
                  <a:schemeClr val="dk1"/>
                </a:solidFill>
              </a:rPr>
              <a:t>Widenius</a:t>
            </a:r>
            <a:r>
              <a:rPr lang="en-ID" dirty="0">
                <a:solidFill>
                  <a:schemeClr val="dk1"/>
                </a:solidFill>
              </a:rPr>
              <a:t>. </a:t>
            </a:r>
            <a:r>
              <a:rPr lang="en-ID" dirty="0" err="1">
                <a:solidFill>
                  <a:schemeClr val="dk1"/>
                </a:solidFill>
              </a:rPr>
              <a:t>saat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itu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mengembangkan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database yang </a:t>
            </a:r>
            <a:r>
              <a:rPr lang="en-ID" dirty="0" err="1">
                <a:solidFill>
                  <a:schemeClr val="dk1"/>
                </a:solidFill>
              </a:rPr>
              <a:t>dinamakan</a:t>
            </a:r>
            <a:r>
              <a:rPr lang="en-ID" dirty="0">
                <a:solidFill>
                  <a:schemeClr val="dk1"/>
                </a:solidFill>
              </a:rPr>
              <a:t> UNIREG.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pada </a:t>
            </a:r>
            <a:r>
              <a:rPr lang="en-ID" dirty="0" err="1">
                <a:solidFill>
                  <a:schemeClr val="dk1"/>
                </a:solidFill>
              </a:rPr>
              <a:t>tahun</a:t>
            </a:r>
            <a:r>
              <a:rPr lang="en-ID" dirty="0">
                <a:solidFill>
                  <a:schemeClr val="dk1"/>
                </a:solidFill>
              </a:rPr>
              <a:t> 1994 </a:t>
            </a:r>
            <a:r>
              <a:rPr lang="en-ID" dirty="0" err="1">
                <a:solidFill>
                  <a:schemeClr val="dk1"/>
                </a:solidFill>
              </a:rPr>
              <a:t>perusahaan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tempat</a:t>
            </a:r>
            <a:r>
              <a:rPr lang="en-ID" dirty="0">
                <a:solidFill>
                  <a:schemeClr val="dk1"/>
                </a:solidFill>
              </a:rPr>
              <a:t> Monty </a:t>
            </a:r>
            <a:r>
              <a:rPr lang="en-ID" dirty="0" err="1">
                <a:solidFill>
                  <a:schemeClr val="dk1"/>
                </a:solidFill>
              </a:rPr>
              <a:t>bekerja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ingin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membuat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aplikasi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berbasis</a:t>
            </a:r>
            <a:r>
              <a:rPr lang="en-ID" dirty="0">
                <a:solidFill>
                  <a:schemeClr val="dk1"/>
                </a:solidFill>
              </a:rPr>
              <a:t> web dan </a:t>
            </a:r>
            <a:r>
              <a:rPr lang="en-ID" dirty="0" err="1">
                <a:solidFill>
                  <a:schemeClr val="dk1"/>
                </a:solidFill>
              </a:rPr>
              <a:t>memelukan</a:t>
            </a:r>
            <a:r>
              <a:rPr lang="en-ID" dirty="0">
                <a:solidFill>
                  <a:schemeClr val="dk1"/>
                </a:solidFill>
              </a:rPr>
              <a:t> database, </a:t>
            </a:r>
            <a:r>
              <a:rPr lang="en-ID" dirty="0" err="1">
                <a:solidFill>
                  <a:schemeClr val="dk1"/>
                </a:solidFill>
              </a:rPr>
              <a:t>namun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sayangnya</a:t>
            </a:r>
            <a:r>
              <a:rPr lang="en-ID" dirty="0">
                <a:solidFill>
                  <a:schemeClr val="dk1"/>
                </a:solidFill>
              </a:rPr>
              <a:t> UNIREG </a:t>
            </a:r>
            <a:r>
              <a:rPr lang="en-ID" dirty="0" err="1">
                <a:solidFill>
                  <a:schemeClr val="dk1"/>
                </a:solidFill>
              </a:rPr>
              <a:t>dianggap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tidak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cocok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database </a:t>
            </a:r>
            <a:r>
              <a:rPr lang="en-ID" dirty="0" err="1">
                <a:solidFill>
                  <a:schemeClr val="dk1"/>
                </a:solidFill>
              </a:rPr>
              <a:t>aplikasi</a:t>
            </a:r>
            <a:r>
              <a:rPr lang="en-ID" dirty="0">
                <a:solidFill>
                  <a:schemeClr val="dk1"/>
                </a:solidFill>
              </a:rPr>
              <a:t> website.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 err="1">
                <a:solidFill>
                  <a:schemeClr val="dk1"/>
                </a:solidFill>
              </a:rPr>
              <a:t>Tcx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akhirnya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merancang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database </a:t>
            </a:r>
            <a:r>
              <a:rPr lang="en-ID" dirty="0" err="1">
                <a:solidFill>
                  <a:schemeClr val="dk1"/>
                </a:solidFill>
              </a:rPr>
              <a:t>sendiri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berasal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dari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gabungan</a:t>
            </a:r>
            <a:r>
              <a:rPr lang="en-ID" dirty="0">
                <a:solidFill>
                  <a:schemeClr val="dk1"/>
                </a:solidFill>
              </a:rPr>
              <a:t> UNIREG dan MSQL </a:t>
            </a:r>
            <a:r>
              <a:rPr lang="en-ID" dirty="0" err="1">
                <a:solidFill>
                  <a:schemeClr val="dk1"/>
                </a:solidFill>
              </a:rPr>
              <a:t>sehingga</a:t>
            </a:r>
            <a:r>
              <a:rPr lang="en-ID" dirty="0">
                <a:solidFill>
                  <a:schemeClr val="dk1"/>
                </a:solidFill>
              </a:rPr>
              <a:t> pada </a:t>
            </a:r>
            <a:r>
              <a:rPr lang="en-ID" dirty="0" err="1">
                <a:solidFill>
                  <a:schemeClr val="dk1"/>
                </a:solidFill>
              </a:rPr>
              <a:t>bulan</a:t>
            </a:r>
            <a:r>
              <a:rPr lang="en-ID" dirty="0">
                <a:solidFill>
                  <a:schemeClr val="dk1"/>
                </a:solidFill>
              </a:rPr>
              <a:t> may </a:t>
            </a:r>
            <a:r>
              <a:rPr lang="en-ID" dirty="0" err="1">
                <a:solidFill>
                  <a:schemeClr val="dk1"/>
                </a:solidFill>
              </a:rPr>
              <a:t>tahun</a:t>
            </a:r>
            <a:r>
              <a:rPr lang="en-ID" dirty="0">
                <a:solidFill>
                  <a:schemeClr val="dk1"/>
                </a:solidFill>
              </a:rPr>
              <a:t> 1995 </a:t>
            </a:r>
            <a:r>
              <a:rPr lang="en-ID" dirty="0" err="1">
                <a:solidFill>
                  <a:schemeClr val="dk1"/>
                </a:solidFill>
              </a:rPr>
              <a:t>keluarlah</a:t>
            </a:r>
            <a:r>
              <a:rPr lang="en-ID" dirty="0">
                <a:solidFill>
                  <a:schemeClr val="dk1"/>
                </a:solidFill>
              </a:rPr>
              <a:t> MYSQL.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Monty dan </a:t>
            </a:r>
            <a:r>
              <a:rPr lang="en-ID" dirty="0" err="1">
                <a:solidFill>
                  <a:schemeClr val="dk1"/>
                </a:solidFill>
              </a:rPr>
              <a:t>kawan-kawannya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mengusulkan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kepada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Tcx</a:t>
            </a:r>
            <a:r>
              <a:rPr lang="en-ID" dirty="0">
                <a:solidFill>
                  <a:schemeClr val="dk1"/>
                </a:solidFill>
              </a:rPr>
              <a:t> agar MYSQL </a:t>
            </a:r>
            <a:r>
              <a:rPr lang="en-ID" dirty="0" err="1">
                <a:solidFill>
                  <a:schemeClr val="dk1"/>
                </a:solidFill>
              </a:rPr>
              <a:t>dibuat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menjadi</a:t>
            </a:r>
            <a:r>
              <a:rPr lang="en-ID" dirty="0">
                <a:solidFill>
                  <a:schemeClr val="dk1"/>
                </a:solidFill>
              </a:rPr>
              <a:t> open source dan </a:t>
            </a:r>
            <a:r>
              <a:rPr lang="en-ID" dirty="0" err="1">
                <a:solidFill>
                  <a:schemeClr val="dk1"/>
                </a:solidFill>
              </a:rPr>
              <a:t>perusahaan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bisa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mendapatkan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penghasilan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dari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menjual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jasa</a:t>
            </a:r>
            <a:r>
              <a:rPr lang="en-ID" dirty="0">
                <a:solidFill>
                  <a:schemeClr val="dk1"/>
                </a:solidFill>
              </a:rPr>
              <a:t> support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perusahaan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ingin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menggunakan</a:t>
            </a:r>
            <a:r>
              <a:rPr lang="en-ID" dirty="0">
                <a:solidFill>
                  <a:schemeClr val="dk1"/>
                </a:solidFill>
              </a:rPr>
              <a:t> MYSQL.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title"/>
          </p:nvPr>
        </p:nvSpPr>
        <p:spPr>
          <a:xfrm>
            <a:off x="728350" y="14412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 My SQL</a:t>
            </a:r>
            <a:endParaRPr dirty="0"/>
          </a:p>
        </p:txBody>
      </p:sp>
      <p:cxnSp>
        <p:nvCxnSpPr>
          <p:cNvPr id="554" name="Google Shape;554;p44"/>
          <p:cNvCxnSpPr>
            <a:cxnSpLocks/>
          </p:cNvCxnSpPr>
          <p:nvPr/>
        </p:nvCxnSpPr>
        <p:spPr>
          <a:xfrm flipH="1">
            <a:off x="332509" y="854910"/>
            <a:ext cx="809464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4"/>
          <p:cNvSpPr/>
          <p:nvPr/>
        </p:nvSpPr>
        <p:spPr>
          <a:xfrm>
            <a:off x="5861525" y="107790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4"/>
          <p:cNvSpPr/>
          <p:nvPr/>
        </p:nvSpPr>
        <p:spPr>
          <a:xfrm>
            <a:off x="6311100" y="2310600"/>
            <a:ext cx="2832900" cy="2832900"/>
          </a:xfrm>
          <a:prstGeom prst="diamond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5A76BA-4451-7EC8-9D8A-E72D19FE5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4824" y1="29814" x2="34824" y2="29814"/>
                        <a14:foregroundMark x1="27476" y1="34783" x2="27476" y2="34783"/>
                        <a14:foregroundMark x1="23003" y1="37888" x2="23003" y2="37888"/>
                        <a14:foregroundMark x1="24601" y1="34161" x2="24601" y2="34161"/>
                        <a14:foregroundMark x1="24601" y1="30435" x2="24601" y2="30435"/>
                        <a14:foregroundMark x1="28754" y1="24224" x2="21406" y2="52795"/>
                        <a14:foregroundMark x1="21406" y1="52795" x2="30671" y2="80124"/>
                        <a14:foregroundMark x1="30671" y1="80124" x2="50479" y2="82609"/>
                        <a14:foregroundMark x1="50479" y1="82609" x2="67412" y2="81988"/>
                        <a14:foregroundMark x1="67412" y1="81988" x2="79553" y2="54658"/>
                        <a14:foregroundMark x1="79553" y1="54658" x2="71565" y2="24845"/>
                        <a14:foregroundMark x1="71565" y1="24845" x2="28115" y2="22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36887" y="3074079"/>
            <a:ext cx="2981325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>
            <a:spLocks noGrp="1"/>
          </p:cNvSpPr>
          <p:nvPr>
            <p:ph type="body" idx="1"/>
          </p:nvPr>
        </p:nvSpPr>
        <p:spPr>
          <a:xfrm>
            <a:off x="3282475" y="933780"/>
            <a:ext cx="5362091" cy="3684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Edgar F. Codd </a:t>
            </a:r>
            <a:r>
              <a:rPr lang="en-ID" dirty="0" err="1">
                <a:solidFill>
                  <a:schemeClr val="dk1"/>
                </a:solidFill>
              </a:rPr>
              <a:t>memperkenalkan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istilah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ini</a:t>
            </a:r>
            <a:r>
              <a:rPr lang="en-ID" dirty="0">
                <a:solidFill>
                  <a:schemeClr val="dk1"/>
                </a:solidFill>
              </a:rPr>
              <a:t> pada </a:t>
            </a:r>
            <a:r>
              <a:rPr lang="en-ID" dirty="0" err="1">
                <a:solidFill>
                  <a:schemeClr val="dk1"/>
                </a:solidFill>
              </a:rPr>
              <a:t>makalah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seminarnya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berjudul</a:t>
            </a:r>
            <a:r>
              <a:rPr lang="en-ID" dirty="0">
                <a:solidFill>
                  <a:schemeClr val="dk1"/>
                </a:solidFill>
              </a:rPr>
              <a:t> “A Relational Model of Data for Large Shared Data Banks”. Salah </a:t>
            </a:r>
            <a:r>
              <a:rPr lang="en-ID" dirty="0" err="1">
                <a:solidFill>
                  <a:schemeClr val="dk1"/>
                </a:solidFill>
              </a:rPr>
              <a:t>satu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definisi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cukup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dikenal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secara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luas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atas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basisdata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relasional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adalah</a:t>
            </a:r>
            <a:r>
              <a:rPr lang="en-ID" dirty="0">
                <a:solidFill>
                  <a:schemeClr val="dk1"/>
                </a:solidFill>
              </a:rPr>
              <a:t> 12 </a:t>
            </a:r>
            <a:r>
              <a:rPr lang="en-ID" dirty="0" err="1">
                <a:solidFill>
                  <a:schemeClr val="dk1"/>
                </a:solidFill>
              </a:rPr>
              <a:t>hukum</a:t>
            </a:r>
            <a:r>
              <a:rPr lang="en-ID" dirty="0">
                <a:solidFill>
                  <a:schemeClr val="dk1"/>
                </a:solidFill>
              </a:rPr>
              <a:t> Codd. </a:t>
            </a:r>
            <a:r>
              <a:rPr lang="en-ID" dirty="0" err="1">
                <a:solidFill>
                  <a:schemeClr val="dk1"/>
                </a:solidFill>
              </a:rPr>
              <a:t>Namun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demikian</a:t>
            </a:r>
            <a:r>
              <a:rPr lang="en-ID" dirty="0">
                <a:solidFill>
                  <a:schemeClr val="dk1"/>
                </a:solidFill>
              </a:rPr>
              <a:t>, pada </a:t>
            </a:r>
            <a:r>
              <a:rPr lang="en-ID" dirty="0" err="1">
                <a:solidFill>
                  <a:schemeClr val="dk1"/>
                </a:solidFill>
              </a:rPr>
              <a:t>awal-awal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implementasinya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banyak</a:t>
            </a:r>
            <a:r>
              <a:rPr lang="en-ID" dirty="0">
                <a:solidFill>
                  <a:schemeClr val="dk1"/>
                </a:solidFill>
              </a:rPr>
              <a:t> model </a:t>
            </a:r>
            <a:r>
              <a:rPr lang="en-ID" dirty="0" err="1">
                <a:solidFill>
                  <a:schemeClr val="dk1"/>
                </a:solidFill>
              </a:rPr>
              <a:t>relasional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tidak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mengikuti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seluruh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elemen-elemen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terdapat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dalam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hukum-hukum</a:t>
            </a:r>
            <a:r>
              <a:rPr lang="en-ID" dirty="0">
                <a:solidFill>
                  <a:schemeClr val="dk1"/>
                </a:solidFill>
              </a:rPr>
              <a:t> Codd </a:t>
            </a:r>
            <a:r>
              <a:rPr lang="en-ID" dirty="0" err="1">
                <a:solidFill>
                  <a:schemeClr val="dk1"/>
                </a:solidFill>
              </a:rPr>
              <a:t>tersebut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menjadikan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terminologinya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berkembang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mendeskripsikan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tipikal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basisdata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lebih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luas</a:t>
            </a:r>
            <a:r>
              <a:rPr lang="en-ID" dirty="0">
                <a:solidFill>
                  <a:schemeClr val="dk1"/>
                </a:solidFill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 err="1">
                <a:solidFill>
                  <a:schemeClr val="dk1"/>
                </a:solidFill>
              </a:rPr>
              <a:t>menyediakan</a:t>
            </a:r>
            <a:r>
              <a:rPr lang="en-ID" dirty="0">
                <a:solidFill>
                  <a:schemeClr val="dk1"/>
                </a:solidFill>
              </a:rPr>
              <a:t> operator </a:t>
            </a:r>
            <a:r>
              <a:rPr lang="en-ID" dirty="0" err="1">
                <a:solidFill>
                  <a:schemeClr val="dk1"/>
                </a:solidFill>
              </a:rPr>
              <a:t>relasioanl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memanipulasi</a:t>
            </a:r>
            <a:r>
              <a:rPr lang="en-ID" dirty="0">
                <a:solidFill>
                  <a:schemeClr val="dk1"/>
                </a:solidFill>
              </a:rPr>
              <a:t> data </a:t>
            </a:r>
            <a:r>
              <a:rPr lang="en-ID" dirty="0" err="1">
                <a:solidFill>
                  <a:schemeClr val="dk1"/>
                </a:solidFill>
              </a:rPr>
              <a:t>dalam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bentuk</a:t>
            </a:r>
            <a:r>
              <a:rPr lang="en-ID" dirty="0">
                <a:solidFill>
                  <a:schemeClr val="dk1"/>
                </a:solidFill>
              </a:rPr>
              <a:t> tabular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pertama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kalinya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secara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relatif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memenuhi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implementasi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atas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sebuah</a:t>
            </a:r>
            <a:r>
              <a:rPr lang="en-ID" dirty="0">
                <a:solidFill>
                  <a:schemeClr val="dk1"/>
                </a:solidFill>
              </a:rPr>
              <a:t> model </a:t>
            </a:r>
            <a:r>
              <a:rPr lang="en-ID" dirty="0" err="1">
                <a:solidFill>
                  <a:schemeClr val="dk1"/>
                </a:solidFill>
              </a:rPr>
              <a:t>relasional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adalah</a:t>
            </a:r>
            <a:r>
              <a:rPr lang="en-ID" dirty="0">
                <a:solidFill>
                  <a:schemeClr val="dk1"/>
                </a:solidFill>
              </a:rPr>
              <a:t> Pusat </a:t>
            </a:r>
            <a:r>
              <a:rPr lang="en-ID" dirty="0" err="1">
                <a:solidFill>
                  <a:schemeClr val="dk1"/>
                </a:solidFill>
              </a:rPr>
              <a:t>Studi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Ilmiah</a:t>
            </a:r>
            <a:r>
              <a:rPr lang="en-ID" dirty="0">
                <a:solidFill>
                  <a:schemeClr val="dk1"/>
                </a:solidFill>
              </a:rPr>
              <a:t> IB, </a:t>
            </a:r>
            <a:r>
              <a:rPr lang="en-ID" dirty="0" err="1">
                <a:solidFill>
                  <a:schemeClr val="dk1"/>
                </a:solidFill>
              </a:rPr>
              <a:t>Inggris</a:t>
            </a:r>
            <a:r>
              <a:rPr lang="en-ID" dirty="0">
                <a:solidFill>
                  <a:schemeClr val="dk1"/>
                </a:solidFill>
              </a:rPr>
              <a:t>, di Peterlee; IS1 (1970-1972) dan </a:t>
            </a:r>
            <a:r>
              <a:rPr lang="en-ID" dirty="0" err="1">
                <a:solidFill>
                  <a:schemeClr val="dk1"/>
                </a:solidFill>
              </a:rPr>
              <a:t>implementasi</a:t>
            </a:r>
            <a:r>
              <a:rPr lang="en-ID" dirty="0"/>
              <a:t> </a:t>
            </a:r>
            <a:r>
              <a:rPr lang="en-ID" dirty="0">
                <a:solidFill>
                  <a:schemeClr val="dk1"/>
                </a:solidFill>
              </a:rPr>
              <a:t>PRTV (1973-1979).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pertama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kalinya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dijual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secara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komersil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sebagai</a:t>
            </a:r>
            <a:r>
              <a:rPr lang="en-ID" dirty="0">
                <a:solidFill>
                  <a:schemeClr val="dk1"/>
                </a:solidFill>
              </a:rPr>
              <a:t> RDBMS </a:t>
            </a:r>
            <a:r>
              <a:rPr lang="en-ID" dirty="0" err="1">
                <a:solidFill>
                  <a:schemeClr val="dk1"/>
                </a:solidFill>
              </a:rPr>
              <a:t>adalah</a:t>
            </a:r>
            <a:r>
              <a:rPr lang="en-ID" dirty="0">
                <a:solidFill>
                  <a:schemeClr val="dk1"/>
                </a:solidFill>
              </a:rPr>
              <a:t> Multics Relational Data </a:t>
            </a:r>
            <a:r>
              <a:rPr lang="en-ID" dirty="0" err="1">
                <a:solidFill>
                  <a:schemeClr val="dk1"/>
                </a:solidFill>
              </a:rPr>
              <a:t>Srore</a:t>
            </a:r>
            <a:r>
              <a:rPr lang="en-ID" dirty="0">
                <a:solidFill>
                  <a:schemeClr val="dk1"/>
                </a:solidFill>
              </a:rPr>
              <a:t> pada </a:t>
            </a:r>
            <a:r>
              <a:rPr lang="en-ID" dirty="0" err="1">
                <a:solidFill>
                  <a:schemeClr val="dk1"/>
                </a:solidFill>
              </a:rPr>
              <a:t>tahun</a:t>
            </a:r>
            <a:r>
              <a:rPr lang="en-ID" dirty="0">
                <a:solidFill>
                  <a:schemeClr val="dk1"/>
                </a:solidFill>
              </a:rPr>
              <a:t> 1978. Yang </a:t>
            </a:r>
            <a:r>
              <a:rPr lang="en-ID" dirty="0" err="1">
                <a:solidFill>
                  <a:schemeClr val="dk1"/>
                </a:solidFill>
              </a:rPr>
              <a:t>lainnya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adalah</a:t>
            </a:r>
            <a:r>
              <a:rPr lang="en-ID" dirty="0">
                <a:solidFill>
                  <a:schemeClr val="dk1"/>
                </a:solidFill>
              </a:rPr>
              <a:t> Berkeley Ingres QUEL dan IBM BS12.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title"/>
          </p:nvPr>
        </p:nvSpPr>
        <p:spPr>
          <a:xfrm>
            <a:off x="728350" y="14412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 RDBMS</a:t>
            </a:r>
            <a:endParaRPr dirty="0"/>
          </a:p>
        </p:txBody>
      </p:sp>
      <p:cxnSp>
        <p:nvCxnSpPr>
          <p:cNvPr id="554" name="Google Shape;554;p44"/>
          <p:cNvCxnSpPr>
            <a:cxnSpLocks/>
          </p:cNvCxnSpPr>
          <p:nvPr/>
        </p:nvCxnSpPr>
        <p:spPr>
          <a:xfrm flipH="1">
            <a:off x="332509" y="854910"/>
            <a:ext cx="809464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4"/>
          <p:cNvSpPr/>
          <p:nvPr/>
        </p:nvSpPr>
        <p:spPr>
          <a:xfrm>
            <a:off x="-411475" y="93378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44"/>
          <p:cNvSpPr/>
          <p:nvPr/>
        </p:nvSpPr>
        <p:spPr>
          <a:xfrm>
            <a:off x="0" y="2166480"/>
            <a:ext cx="2832900" cy="2832900"/>
          </a:xfrm>
          <a:prstGeom prst="diamond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19470-4215-B385-F7CA-B177632A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50" y="3209970"/>
            <a:ext cx="1367150" cy="82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60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>
            <a:spLocks noGrp="1"/>
          </p:cNvSpPr>
          <p:nvPr>
            <p:ph type="title"/>
          </p:nvPr>
        </p:nvSpPr>
        <p:spPr>
          <a:xfrm>
            <a:off x="1283913" y="1693083"/>
            <a:ext cx="65760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Kelebihan dan kekurangan</a:t>
            </a:r>
            <a:br>
              <a:rPr lang="en" sz="4000" dirty="0"/>
            </a:br>
            <a:r>
              <a:rPr lang="en" sz="4000" dirty="0"/>
              <a:t>My SQL</a:t>
            </a:r>
            <a:endParaRPr sz="4000" dirty="0"/>
          </a:p>
        </p:txBody>
      </p:sp>
      <p:cxnSp>
        <p:nvCxnSpPr>
          <p:cNvPr id="756" name="Google Shape;756;p54"/>
          <p:cNvCxnSpPr/>
          <p:nvPr/>
        </p:nvCxnSpPr>
        <p:spPr>
          <a:xfrm rot="10800000">
            <a:off x="2145150" y="295192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54"/>
          <p:cNvGrpSpPr/>
          <p:nvPr/>
        </p:nvGrpSpPr>
        <p:grpSpPr>
          <a:xfrm>
            <a:off x="4367313" y="534993"/>
            <a:ext cx="409357" cy="409357"/>
            <a:chOff x="1393875" y="-1823657"/>
            <a:chExt cx="409357" cy="409357"/>
          </a:xfrm>
        </p:grpSpPr>
        <p:cxnSp>
          <p:nvCxnSpPr>
            <p:cNvPr id="758" name="Google Shape;758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2" name="Google Shape;762;p54"/>
          <p:cNvGrpSpPr/>
          <p:nvPr/>
        </p:nvGrpSpPr>
        <p:grpSpPr>
          <a:xfrm>
            <a:off x="4367313" y="4199143"/>
            <a:ext cx="409357" cy="409357"/>
            <a:chOff x="1393875" y="-1823657"/>
            <a:chExt cx="409357" cy="409357"/>
          </a:xfrm>
        </p:grpSpPr>
        <p:cxnSp>
          <p:nvCxnSpPr>
            <p:cNvPr id="763" name="Google Shape;763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7" name="Google Shape;767;p54"/>
          <p:cNvGrpSpPr/>
          <p:nvPr/>
        </p:nvGrpSpPr>
        <p:grpSpPr>
          <a:xfrm>
            <a:off x="-1421225" y="1759650"/>
            <a:ext cx="3282475" cy="4065600"/>
            <a:chOff x="-1421225" y="1759650"/>
            <a:chExt cx="3282475" cy="4065600"/>
          </a:xfrm>
        </p:grpSpPr>
        <p:sp>
          <p:nvSpPr>
            <p:cNvPr id="768" name="Google Shape;768;p54"/>
            <p:cNvSpPr/>
            <p:nvPr/>
          </p:nvSpPr>
          <p:spPr>
            <a:xfrm>
              <a:off x="-1421225" y="17596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-971650" y="29923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54"/>
          <p:cNvSpPr/>
          <p:nvPr/>
        </p:nvSpPr>
        <p:spPr>
          <a:xfrm>
            <a:off x="7227000" y="-88145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36031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bersifat</a:t>
            </a:r>
            <a:r>
              <a:rPr lang="en-ID" dirty="0"/>
              <a:t> General Public License dan Open Source,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gratis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source code </a:t>
            </a:r>
            <a:r>
              <a:rPr lang="en-ID" dirty="0" err="1"/>
              <a:t>didalamnya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takut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sanksi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oprasi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kebebasan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, </a:t>
            </a:r>
            <a:r>
              <a:rPr lang="en-ID" dirty="0" err="1"/>
              <a:t>selain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MYSQL juga </a:t>
            </a:r>
            <a:r>
              <a:rPr lang="en-ID" dirty="0" err="1"/>
              <a:t>didukung</a:t>
            </a:r>
            <a:r>
              <a:rPr lang="en-ID" dirty="0"/>
              <a:t> oleh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hosting.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komunitas</a:t>
            </a:r>
            <a:r>
              <a:rPr lang="en-ID" dirty="0"/>
              <a:t> yang sangat </a:t>
            </a:r>
            <a:r>
              <a:rPr lang="en-ID" dirty="0" err="1"/>
              <a:t>besar</a:t>
            </a:r>
            <a:r>
              <a:rPr lang="en-ID" dirty="0"/>
              <a:t> dan </a:t>
            </a:r>
            <a:r>
              <a:rPr lang="en-ID" dirty="0" err="1"/>
              <a:t>dokumentasi</a:t>
            </a:r>
            <a:r>
              <a:rPr lang="en-ID" dirty="0"/>
              <a:t> yang sangat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mempelajarinya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kemanan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mensetting</a:t>
            </a:r>
            <a:r>
              <a:rPr lang="en-ID" dirty="0"/>
              <a:t> berbagai </a:t>
            </a:r>
            <a:r>
              <a:rPr lang="en-ID" dirty="0" err="1"/>
              <a:t>hal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bisa</a:t>
            </a:r>
            <a:r>
              <a:rPr lang="en-ID" dirty="0"/>
              <a:t> di </a:t>
            </a:r>
            <a:r>
              <a:rPr lang="en-ID" dirty="0" err="1"/>
              <a:t>gabungkan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mengaksesnya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PHP </a:t>
            </a:r>
            <a:r>
              <a:rPr lang="en-ID" dirty="0" err="1"/>
              <a:t>ataupun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lainnya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 SQL </a:t>
            </a:r>
            <a:r>
              <a:rPr lang="en-ID" dirty="0" err="1"/>
              <a:t>memiliki</a:t>
            </a:r>
            <a:r>
              <a:rPr lang="en-ID" dirty="0"/>
              <a:t> system </a:t>
            </a:r>
            <a:r>
              <a:rPr lang="en-ID" dirty="0" err="1"/>
              <a:t>reqruitment</a:t>
            </a:r>
            <a:r>
              <a:rPr lang="en-ID" dirty="0"/>
              <a:t> yang </a:t>
            </a:r>
            <a:r>
              <a:rPr lang="en-ID" dirty="0" err="1"/>
              <a:t>rendah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anda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spesifikasi</a:t>
            </a:r>
            <a:r>
              <a:rPr lang="en-ID" dirty="0"/>
              <a:t> </a:t>
            </a:r>
            <a:r>
              <a:rPr lang="en-ID" dirty="0" err="1"/>
              <a:t>rendah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388862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Kelebihan</a:t>
            </a:r>
            <a:r>
              <a:rPr lang="en-US" sz="2800" dirty="0"/>
              <a:t> MySQL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36031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MYSQL </a:t>
            </a:r>
            <a:r>
              <a:rPr lang="en-ID" dirty="0" err="1"/>
              <a:t>buruk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mengolah</a:t>
            </a:r>
            <a:r>
              <a:rPr lang="en-ID" dirty="0"/>
              <a:t> database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data yang sangat </a:t>
            </a:r>
            <a:r>
              <a:rPr lang="en-ID" dirty="0" err="1"/>
              <a:t>cepat</a:t>
            </a:r>
            <a:r>
              <a:rPr lang="en-ID" dirty="0"/>
              <a:t>, oleh </a:t>
            </a:r>
            <a:r>
              <a:rPr lang="en-ID" dirty="0" err="1"/>
              <a:t>sebab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keperluan</a:t>
            </a:r>
            <a:r>
              <a:rPr lang="en-ID" dirty="0"/>
              <a:t> </a:t>
            </a:r>
            <a:r>
              <a:rPr lang="en-ID" dirty="0" err="1"/>
              <a:t>komersial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perbankan</a:t>
            </a:r>
            <a:r>
              <a:rPr lang="en-ID" dirty="0"/>
              <a:t>, </a:t>
            </a:r>
            <a:r>
              <a:rPr lang="en-ID" dirty="0" err="1"/>
              <a:t>dll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Mysql</a:t>
            </a:r>
            <a:r>
              <a:rPr lang="en-ID" dirty="0"/>
              <a:t> </a:t>
            </a:r>
            <a:r>
              <a:rPr lang="en-ID" dirty="0" err="1"/>
              <a:t>buruk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database mobile dan </a:t>
            </a:r>
            <a:r>
              <a:rPr lang="en-ID" dirty="0" err="1"/>
              <a:t>aplikasi</a:t>
            </a:r>
            <a:r>
              <a:rPr lang="en-ID" dirty="0"/>
              <a:t> game,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terkoneksi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database </a:t>
            </a:r>
            <a:r>
              <a:rPr lang="en-ID" dirty="0" err="1"/>
              <a:t>secara</a:t>
            </a:r>
            <a:r>
              <a:rPr lang="en-ID" dirty="0"/>
              <a:t> online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menggunakannya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SQLite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60261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Kekurangan</a:t>
            </a:r>
            <a:r>
              <a:rPr lang="en-US" sz="2800" dirty="0"/>
              <a:t> MySQL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342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>
            <a:spLocks noGrp="1"/>
          </p:cNvSpPr>
          <p:nvPr>
            <p:ph type="title"/>
          </p:nvPr>
        </p:nvSpPr>
        <p:spPr>
          <a:xfrm>
            <a:off x="1283913" y="1693083"/>
            <a:ext cx="65760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Kelebihan dan kekurangan</a:t>
            </a:r>
            <a:br>
              <a:rPr lang="en" sz="4000" dirty="0"/>
            </a:br>
            <a:r>
              <a:rPr lang="en" sz="4000" dirty="0"/>
              <a:t>RDBMS</a:t>
            </a:r>
            <a:endParaRPr sz="4000" dirty="0"/>
          </a:p>
        </p:txBody>
      </p:sp>
      <p:cxnSp>
        <p:nvCxnSpPr>
          <p:cNvPr id="756" name="Google Shape;756;p54"/>
          <p:cNvCxnSpPr/>
          <p:nvPr/>
        </p:nvCxnSpPr>
        <p:spPr>
          <a:xfrm rot="10800000">
            <a:off x="2145150" y="295192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54"/>
          <p:cNvGrpSpPr/>
          <p:nvPr/>
        </p:nvGrpSpPr>
        <p:grpSpPr>
          <a:xfrm>
            <a:off x="4367313" y="534993"/>
            <a:ext cx="409357" cy="409357"/>
            <a:chOff x="1393875" y="-1823657"/>
            <a:chExt cx="409357" cy="409357"/>
          </a:xfrm>
        </p:grpSpPr>
        <p:cxnSp>
          <p:nvCxnSpPr>
            <p:cNvPr id="758" name="Google Shape;758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2" name="Google Shape;762;p54"/>
          <p:cNvGrpSpPr/>
          <p:nvPr/>
        </p:nvGrpSpPr>
        <p:grpSpPr>
          <a:xfrm>
            <a:off x="4367313" y="4199143"/>
            <a:ext cx="409357" cy="409357"/>
            <a:chOff x="1393875" y="-1823657"/>
            <a:chExt cx="409357" cy="409357"/>
          </a:xfrm>
        </p:grpSpPr>
        <p:cxnSp>
          <p:nvCxnSpPr>
            <p:cNvPr id="763" name="Google Shape;763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7" name="Google Shape;767;p54"/>
          <p:cNvGrpSpPr/>
          <p:nvPr/>
        </p:nvGrpSpPr>
        <p:grpSpPr>
          <a:xfrm>
            <a:off x="-1421225" y="1759650"/>
            <a:ext cx="3282475" cy="4065600"/>
            <a:chOff x="-1421225" y="1759650"/>
            <a:chExt cx="3282475" cy="4065600"/>
          </a:xfrm>
        </p:grpSpPr>
        <p:sp>
          <p:nvSpPr>
            <p:cNvPr id="768" name="Google Shape;768;p54"/>
            <p:cNvSpPr/>
            <p:nvPr/>
          </p:nvSpPr>
          <p:spPr>
            <a:xfrm>
              <a:off x="-1421225" y="17596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-971650" y="29923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54"/>
          <p:cNvSpPr/>
          <p:nvPr/>
        </p:nvSpPr>
        <p:spPr>
          <a:xfrm>
            <a:off x="7227000" y="-88145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547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66820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RDBMS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yang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,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disusun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rapi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membacanya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RDBMS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program dan server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sedemikian</a:t>
            </a:r>
            <a:r>
              <a:rPr lang="en-ID" dirty="0"/>
              <a:t> </a:t>
            </a:r>
            <a:r>
              <a:rPr lang="en-ID" dirty="0" err="1"/>
              <a:t>rupa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permintaan</a:t>
            </a:r>
            <a:r>
              <a:rPr lang="en-ID" dirty="0"/>
              <a:t> yang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.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user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database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manapun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server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database.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RDBMS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SQL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sangat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dimengerti</a:t>
            </a:r>
            <a:r>
              <a:rPr lang="en-ID" dirty="0"/>
              <a:t> dan </a:t>
            </a:r>
            <a:r>
              <a:rPr lang="en-ID" dirty="0" err="1"/>
              <a:t>dipelajari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sintaksnya</a:t>
            </a:r>
            <a:r>
              <a:rPr lang="en-ID" dirty="0"/>
              <a:t> yang </a:t>
            </a:r>
            <a:r>
              <a:rPr lang="en-ID" dirty="0" err="1"/>
              <a:t>sederhana</a:t>
            </a:r>
            <a:r>
              <a:rPr lang="en-ID" dirty="0"/>
              <a:t> dan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inggris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Meskipun</a:t>
            </a:r>
            <a:r>
              <a:rPr lang="en-ID" dirty="0"/>
              <a:t> RDBMS </a:t>
            </a:r>
            <a:r>
              <a:rPr lang="en-ID" dirty="0" err="1"/>
              <a:t>bukanlah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database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 paling </a:t>
            </a:r>
            <a:r>
              <a:rPr lang="en-ID" dirty="0" err="1"/>
              <a:t>tinggi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setidaknya</a:t>
            </a:r>
            <a:r>
              <a:rPr lang="en-ID" dirty="0"/>
              <a:t> </a:t>
            </a:r>
            <a:r>
              <a:rPr lang="en-ID" dirty="0" err="1"/>
              <a:t>rdbms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. </a:t>
            </a:r>
            <a:r>
              <a:rPr lang="en-ID" dirty="0" err="1"/>
              <a:t>dibnding</a:t>
            </a:r>
            <a:r>
              <a:rPr lang="en-ID" dirty="0"/>
              <a:t> </a:t>
            </a:r>
            <a:r>
              <a:rPr lang="en-ID" dirty="0" err="1"/>
              <a:t>kebanyakan</a:t>
            </a:r>
            <a:r>
              <a:rPr lang="en-ID" dirty="0"/>
              <a:t> DBMS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Pemeliharaan</a:t>
            </a:r>
            <a:r>
              <a:rPr lang="en-ID" dirty="0"/>
              <a:t> database yang </a:t>
            </a:r>
            <a:r>
              <a:rPr lang="en-ID" dirty="0" err="1"/>
              <a:t>menggunakan</a:t>
            </a:r>
            <a:r>
              <a:rPr lang="en-ID" dirty="0"/>
              <a:t> RDBMS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management database </a:t>
            </a:r>
            <a:r>
              <a:rPr lang="en-ID" dirty="0" err="1"/>
              <a:t>lainnya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datanya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rapih</a:t>
            </a:r>
            <a:r>
              <a:rPr lang="en-ID" dirty="0"/>
              <a:t> dan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yang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RDBMS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role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mensetting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database yang </a:t>
            </a:r>
            <a:r>
              <a:rPr lang="en-ID" dirty="0" err="1"/>
              <a:t>kita</a:t>
            </a:r>
            <a:r>
              <a:rPr lang="en-ID" dirty="0"/>
              <a:t> buat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388862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Kelebihan</a:t>
            </a:r>
            <a:r>
              <a:rPr lang="en-US" sz="2800" dirty="0"/>
              <a:t> RDBMS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873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36031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rdbms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ahli</a:t>
            </a:r>
            <a:r>
              <a:rPr lang="en-ID" dirty="0"/>
              <a:t> dan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, </a:t>
            </a:r>
            <a:r>
              <a:rPr lang="en-ID" dirty="0" err="1"/>
              <a:t>inilah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perancangan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mahal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RDBMS </a:t>
            </a:r>
            <a:r>
              <a:rPr lang="en-ID" dirty="0" err="1"/>
              <a:t>memerluka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memasukan</a:t>
            </a:r>
            <a:r>
              <a:rPr lang="en-ID" dirty="0"/>
              <a:t> data,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nosql</a:t>
            </a:r>
            <a:r>
              <a:rPr lang="en-ID" dirty="0"/>
              <a:t> </a:t>
            </a:r>
            <a:r>
              <a:rPr lang="en-ID" dirty="0" err="1"/>
              <a:t>dimana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dibebaskan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data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sebelumnya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60261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Kekurangan</a:t>
            </a:r>
            <a:r>
              <a:rPr lang="en-US" sz="2800" dirty="0"/>
              <a:t> RDBMS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855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>
            <a:spLocks noGrp="1"/>
          </p:cNvSpPr>
          <p:nvPr>
            <p:ph type="title"/>
          </p:nvPr>
        </p:nvSpPr>
        <p:spPr>
          <a:xfrm>
            <a:off x="2324167" y="1467050"/>
            <a:ext cx="4682273" cy="14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Manfaat</a:t>
            </a:r>
            <a:endParaRPr sz="6600" dirty="0"/>
          </a:p>
        </p:txBody>
      </p:sp>
      <p:cxnSp>
        <p:nvCxnSpPr>
          <p:cNvPr id="496" name="Google Shape;496;p40"/>
          <p:cNvCxnSpPr/>
          <p:nvPr/>
        </p:nvCxnSpPr>
        <p:spPr>
          <a:xfrm rot="10800000">
            <a:off x="2740500" y="2940050"/>
            <a:ext cx="366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7" name="Google Shape;497;p40"/>
          <p:cNvGrpSpPr/>
          <p:nvPr/>
        </p:nvGrpSpPr>
        <p:grpSpPr>
          <a:xfrm>
            <a:off x="6314117" y="4022106"/>
            <a:ext cx="3437258" cy="1970100"/>
            <a:chOff x="5028217" y="-848394"/>
            <a:chExt cx="3437258" cy="1970100"/>
          </a:xfrm>
        </p:grpSpPr>
        <p:sp>
          <p:nvSpPr>
            <p:cNvPr id="498" name="Google Shape;498;p40"/>
            <p:cNvSpPr/>
            <p:nvPr/>
          </p:nvSpPr>
          <p:spPr>
            <a:xfrm rot="5400000">
              <a:off x="6495375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 rot="5400000">
              <a:off x="5028217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40"/>
          <p:cNvGrpSpPr/>
          <p:nvPr/>
        </p:nvGrpSpPr>
        <p:grpSpPr>
          <a:xfrm>
            <a:off x="-308608" y="-900844"/>
            <a:ext cx="3437258" cy="1970100"/>
            <a:chOff x="5028217" y="-848394"/>
            <a:chExt cx="3437258" cy="1970100"/>
          </a:xfrm>
        </p:grpSpPr>
        <p:sp>
          <p:nvSpPr>
            <p:cNvPr id="501" name="Google Shape;501;p40"/>
            <p:cNvSpPr/>
            <p:nvPr/>
          </p:nvSpPr>
          <p:spPr>
            <a:xfrm rot="5400000">
              <a:off x="6495375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 rot="5400000">
              <a:off x="5028217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 txBox="1">
            <a:spLocks noGrp="1"/>
          </p:cNvSpPr>
          <p:nvPr>
            <p:ph type="subTitle" idx="1"/>
          </p:nvPr>
        </p:nvSpPr>
        <p:spPr>
          <a:xfrm>
            <a:off x="1448244" y="1715450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MySQL</a:t>
            </a:r>
            <a:endParaRPr dirty="0"/>
          </a:p>
        </p:txBody>
      </p:sp>
      <p:sp>
        <p:nvSpPr>
          <p:cNvPr id="564" name="Google Shape;564;p45"/>
          <p:cNvSpPr txBox="1">
            <a:spLocks noGrp="1"/>
          </p:cNvSpPr>
          <p:nvPr>
            <p:ph type="subTitle" idx="2"/>
          </p:nvPr>
        </p:nvSpPr>
        <p:spPr>
          <a:xfrm>
            <a:off x="5099421" y="1788118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RDBMS</a:t>
            </a:r>
            <a:endParaRPr dirty="0"/>
          </a:p>
        </p:txBody>
      </p:sp>
      <p:sp>
        <p:nvSpPr>
          <p:cNvPr id="565" name="Google Shape;565;p45"/>
          <p:cNvSpPr txBox="1">
            <a:spLocks noGrp="1"/>
          </p:cNvSpPr>
          <p:nvPr>
            <p:ph type="subTitle" idx="3"/>
          </p:nvPr>
        </p:nvSpPr>
        <p:spPr>
          <a:xfrm>
            <a:off x="1149095" y="2318518"/>
            <a:ext cx="3366397" cy="17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Secara</a:t>
            </a:r>
            <a:r>
              <a:rPr lang="en-ID" dirty="0"/>
              <a:t> garis </a:t>
            </a:r>
            <a:r>
              <a:rPr lang="en-ID" dirty="0" err="1"/>
              <a:t>besar</a:t>
            </a:r>
            <a:r>
              <a:rPr lang="en-ID" dirty="0"/>
              <a:t>, MySQL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dan </a:t>
            </a:r>
            <a:r>
              <a:rPr lang="en-ID" dirty="0" err="1"/>
              <a:t>membuat</a:t>
            </a:r>
            <a:r>
              <a:rPr lang="en-ID" dirty="0"/>
              <a:t> database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server yang </a:t>
            </a:r>
            <a:r>
              <a:rPr lang="en-ID" dirty="0" err="1"/>
              <a:t>memuat</a:t>
            </a:r>
            <a:r>
              <a:rPr lang="en-ID" dirty="0"/>
              <a:t> berbagai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SQL. </a:t>
            </a:r>
            <a:r>
              <a:rPr lang="en-ID" dirty="0" err="1"/>
              <a:t>Dalam</a:t>
            </a:r>
            <a:r>
              <a:rPr lang="en-ID" dirty="0"/>
              <a:t> data science </a:t>
            </a:r>
            <a:r>
              <a:rPr lang="en-ID" dirty="0" err="1"/>
              <a:t>fungsi</a:t>
            </a:r>
            <a:r>
              <a:rPr lang="en-ID" dirty="0"/>
              <a:t> lain </a:t>
            </a:r>
            <a:r>
              <a:rPr lang="en-ID" dirty="0" err="1"/>
              <a:t>dari</a:t>
            </a:r>
            <a:r>
              <a:rPr lang="en-ID" dirty="0"/>
              <a:t> MySQL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query dataset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agar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dataset</a:t>
            </a:r>
            <a:endParaRPr dirty="0"/>
          </a:p>
        </p:txBody>
      </p:sp>
      <p:sp>
        <p:nvSpPr>
          <p:cNvPr id="566" name="Google Shape;566;p45"/>
          <p:cNvSpPr txBox="1">
            <a:spLocks noGrp="1"/>
          </p:cNvSpPr>
          <p:nvPr>
            <p:ph type="subTitle" idx="4"/>
          </p:nvPr>
        </p:nvSpPr>
        <p:spPr>
          <a:xfrm>
            <a:off x="5011387" y="2355053"/>
            <a:ext cx="3135085" cy="2616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RDBMS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, </a:t>
            </a:r>
            <a:r>
              <a:rPr lang="en-ID" dirty="0" err="1"/>
              <a:t>integritas</a:t>
            </a:r>
            <a:r>
              <a:rPr lang="en-ID" dirty="0"/>
              <a:t> data, </a:t>
            </a:r>
            <a:r>
              <a:rPr lang="en-ID" dirty="0" err="1"/>
              <a:t>akurasi</a:t>
            </a:r>
            <a:r>
              <a:rPr lang="en-ID" dirty="0"/>
              <a:t> dan </a:t>
            </a:r>
            <a:r>
              <a:rPr lang="en-ID" dirty="0" err="1"/>
              <a:t>konsistensi</a:t>
            </a:r>
            <a:r>
              <a:rPr lang="en-ID" dirty="0"/>
              <a:t> data, </a:t>
            </a:r>
            <a:r>
              <a:rPr lang="en-ID" dirty="0" err="1"/>
              <a:t>sehingga</a:t>
            </a:r>
            <a:r>
              <a:rPr lang="en-ID" dirty="0"/>
              <a:t> Anda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r>
              <a:rPr lang="en-ID" dirty="0"/>
              <a:t> dan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database.</a:t>
            </a:r>
            <a:endParaRPr dirty="0"/>
          </a:p>
        </p:txBody>
      </p:sp>
      <p:sp>
        <p:nvSpPr>
          <p:cNvPr id="567" name="Google Shape;567;p45"/>
          <p:cNvSpPr txBox="1">
            <a:spLocks noGrp="1"/>
          </p:cNvSpPr>
          <p:nvPr>
            <p:ph type="title"/>
          </p:nvPr>
        </p:nvSpPr>
        <p:spPr>
          <a:xfrm>
            <a:off x="720000" y="172411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Manfaat</a:t>
            </a:r>
            <a:endParaRPr dirty="0"/>
          </a:p>
        </p:txBody>
      </p:sp>
      <p:sp>
        <p:nvSpPr>
          <p:cNvPr id="562" name="Google Shape;562;p45"/>
          <p:cNvSpPr/>
          <p:nvPr/>
        </p:nvSpPr>
        <p:spPr>
          <a:xfrm>
            <a:off x="6007842" y="938218"/>
            <a:ext cx="849900" cy="8499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5"/>
          <p:cNvSpPr/>
          <p:nvPr/>
        </p:nvSpPr>
        <p:spPr>
          <a:xfrm>
            <a:off x="2407345" y="938218"/>
            <a:ext cx="849900" cy="8499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0" name="Google Shape;570;p45"/>
          <p:cNvCxnSpPr/>
          <p:nvPr/>
        </p:nvCxnSpPr>
        <p:spPr>
          <a:xfrm rot="10800000">
            <a:off x="713700" y="844356"/>
            <a:ext cx="771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1" name="Google Shape;571;p45"/>
          <p:cNvGrpSpPr/>
          <p:nvPr/>
        </p:nvGrpSpPr>
        <p:grpSpPr>
          <a:xfrm>
            <a:off x="0" y="2245850"/>
            <a:ext cx="1213500" cy="1766400"/>
            <a:chOff x="0" y="3380425"/>
            <a:chExt cx="1213500" cy="1766400"/>
          </a:xfrm>
        </p:grpSpPr>
        <p:sp>
          <p:nvSpPr>
            <p:cNvPr id="572" name="Google Shape;572;p45"/>
            <p:cNvSpPr/>
            <p:nvPr/>
          </p:nvSpPr>
          <p:spPr>
            <a:xfrm>
              <a:off x="0" y="3380425"/>
              <a:ext cx="1213500" cy="17664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5"/>
            <p:cNvSpPr/>
            <p:nvPr/>
          </p:nvSpPr>
          <p:spPr>
            <a:xfrm>
              <a:off x="102900" y="3530125"/>
              <a:ext cx="1007700" cy="14670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74" name="Google Shape;574;p45"/>
          <p:cNvCxnSpPr/>
          <p:nvPr/>
        </p:nvCxnSpPr>
        <p:spPr>
          <a:xfrm rot="10800000">
            <a:off x="1821047" y="2227497"/>
            <a:ext cx="19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45"/>
          <p:cNvCxnSpPr/>
          <p:nvPr/>
        </p:nvCxnSpPr>
        <p:spPr>
          <a:xfrm rot="10800000">
            <a:off x="5510721" y="2245850"/>
            <a:ext cx="19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BD3DB81-B7FC-4C80-1083-38C296780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345" y="938218"/>
            <a:ext cx="849900" cy="84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D2747A-E2D0-3D85-C689-EE2F1C0D2B0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321" b="96296" l="26367" r="73955">
                        <a14:foregroundMark x1="42765" y1="20988" x2="42765" y2="20988"/>
                        <a14:foregroundMark x1="45338" y1="19753" x2="28617" y2="33951"/>
                        <a14:foregroundMark x1="28617" y1="33951" x2="29260" y2="33951"/>
                        <a14:foregroundMark x1="47588" y1="14198" x2="31511" y2="26543"/>
                        <a14:foregroundMark x1="31511" y1="26543" x2="29582" y2="30247"/>
                        <a14:foregroundMark x1="28296" y1="39506" x2="26688" y2="53704"/>
                        <a14:foregroundMark x1="43087" y1="9877" x2="47267" y2="9877"/>
                        <a14:foregroundMark x1="51447" y1="4938" x2="49518" y2="4938"/>
                        <a14:foregroundMark x1="36977" y1="68519" x2="45016" y2="81481"/>
                        <a14:foregroundMark x1="44373" y1="78395" x2="56592" y2="80247"/>
                        <a14:foregroundMark x1="44373" y1="87654" x2="50482" y2="90741"/>
                        <a14:foregroundMark x1="40836" y1="87037" x2="45016" y2="90741"/>
                        <a14:foregroundMark x1="45981" y1="93827" x2="51768" y2="96296"/>
                        <a14:foregroundMark x1="55627" y1="92593" x2="60450" y2="91358"/>
                        <a14:foregroundMark x1="55949" y1="96296" x2="56592" y2="95679"/>
                        <a14:foregroundMark x1="58199" y1="96296" x2="59486" y2="95679"/>
                      </a14:backgroundRemoval>
                    </a14:imgEffect>
                  </a14:imgLayer>
                </a14:imgProps>
              </a:ext>
            </a:extLst>
          </a:blip>
          <a:srcRect l="22810" t="1583" r="20257"/>
          <a:stretch/>
        </p:blipFill>
        <p:spPr>
          <a:xfrm>
            <a:off x="5938930" y="908778"/>
            <a:ext cx="1040990" cy="9373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title"/>
          </p:nvPr>
        </p:nvSpPr>
        <p:spPr>
          <a:xfrm>
            <a:off x="7151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Pengertian</a:t>
            </a:r>
            <a:endParaRPr dirty="0"/>
          </a:p>
        </p:txBody>
      </p:sp>
      <p:sp>
        <p:nvSpPr>
          <p:cNvPr id="521" name="Google Shape;521;p42"/>
          <p:cNvSpPr txBox="1">
            <a:spLocks noGrp="1"/>
          </p:cNvSpPr>
          <p:nvPr>
            <p:ph type="title" idx="2"/>
          </p:nvPr>
        </p:nvSpPr>
        <p:spPr>
          <a:xfrm>
            <a:off x="715100" y="1064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2" name="Google Shape;522;p42"/>
          <p:cNvSpPr txBox="1">
            <a:spLocks noGrp="1"/>
          </p:cNvSpPr>
          <p:nvPr>
            <p:ph type="subTitle" idx="1"/>
          </p:nvPr>
        </p:nvSpPr>
        <p:spPr>
          <a:xfrm>
            <a:off x="715100" y="3254919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DBMS (Mongo DB)</a:t>
            </a:r>
            <a:endParaRPr dirty="0"/>
          </a:p>
        </p:txBody>
      </p:sp>
      <p:grpSp>
        <p:nvGrpSpPr>
          <p:cNvPr id="523" name="Google Shape;523;p42"/>
          <p:cNvGrpSpPr/>
          <p:nvPr/>
        </p:nvGrpSpPr>
        <p:grpSpPr>
          <a:xfrm>
            <a:off x="6312750" y="-51200"/>
            <a:ext cx="2504100" cy="5303450"/>
            <a:chOff x="6701850" y="-51200"/>
            <a:chExt cx="2504100" cy="5303450"/>
          </a:xfrm>
        </p:grpSpPr>
        <p:sp>
          <p:nvSpPr>
            <p:cNvPr id="524" name="Google Shape;524;p42"/>
            <p:cNvSpPr/>
            <p:nvPr/>
          </p:nvSpPr>
          <p:spPr>
            <a:xfrm>
              <a:off x="6701850" y="-512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6701850" y="14889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6701850" y="308655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27" name="Google Shape;527;p42"/>
          <p:cNvCxnSpPr/>
          <p:nvPr/>
        </p:nvCxnSpPr>
        <p:spPr>
          <a:xfrm rot="10800000">
            <a:off x="7151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8" name="Google Shape;528;p42"/>
          <p:cNvGrpSpPr/>
          <p:nvPr/>
        </p:nvGrpSpPr>
        <p:grpSpPr>
          <a:xfrm>
            <a:off x="3775250" y="534993"/>
            <a:ext cx="409357" cy="409357"/>
            <a:chOff x="1393875" y="-1823657"/>
            <a:chExt cx="409357" cy="409357"/>
          </a:xfrm>
        </p:grpSpPr>
        <p:cxnSp>
          <p:nvCxnSpPr>
            <p:cNvPr id="529" name="Google Shape;529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3" name="Google Shape;533;p42"/>
          <p:cNvGrpSpPr/>
          <p:nvPr/>
        </p:nvGrpSpPr>
        <p:grpSpPr>
          <a:xfrm>
            <a:off x="715100" y="4403818"/>
            <a:ext cx="409357" cy="409357"/>
            <a:chOff x="1393875" y="-1823657"/>
            <a:chExt cx="409357" cy="409357"/>
          </a:xfrm>
        </p:grpSpPr>
        <p:cxnSp>
          <p:nvCxnSpPr>
            <p:cNvPr id="534" name="Google Shape;534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5981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>
            <a:spLocks noGrp="1"/>
          </p:cNvSpPr>
          <p:nvPr>
            <p:ph type="title"/>
          </p:nvPr>
        </p:nvSpPr>
        <p:spPr>
          <a:xfrm>
            <a:off x="0" y="98115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Pengertian MongoDB</a:t>
            </a:r>
            <a:endParaRPr sz="4000" dirty="0"/>
          </a:p>
        </p:txBody>
      </p:sp>
      <p:sp>
        <p:nvSpPr>
          <p:cNvPr id="508" name="Google Shape;508;p41"/>
          <p:cNvSpPr txBox="1">
            <a:spLocks noGrp="1"/>
          </p:cNvSpPr>
          <p:nvPr>
            <p:ph type="subTitle" idx="1"/>
          </p:nvPr>
        </p:nvSpPr>
        <p:spPr>
          <a:xfrm>
            <a:off x="1976306" y="1369118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MongoDB </a:t>
            </a:r>
            <a:r>
              <a:rPr lang="en-ID" dirty="0" err="1"/>
              <a:t>merupakan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database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website </a:t>
            </a:r>
            <a:r>
              <a:rPr lang="en-ID" dirty="0" err="1"/>
              <a:t>berjenis</a:t>
            </a:r>
            <a:r>
              <a:rPr lang="en-ID" dirty="0"/>
              <a:t> NoSQL dan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C++. </a:t>
            </a:r>
            <a:r>
              <a:rPr lang="en-ID" dirty="0" err="1"/>
              <a:t>Pengembangan</a:t>
            </a:r>
            <a:r>
              <a:rPr lang="en-ID" dirty="0"/>
              <a:t> database yang paling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MongoDB dan SQL.</a:t>
            </a:r>
            <a:endParaRPr dirty="0"/>
          </a:p>
        </p:txBody>
      </p:sp>
      <p:cxnSp>
        <p:nvCxnSpPr>
          <p:cNvPr id="509" name="Google Shape;509;p41"/>
          <p:cNvCxnSpPr/>
          <p:nvPr/>
        </p:nvCxnSpPr>
        <p:spPr>
          <a:xfrm rot="10800000">
            <a:off x="2241900" y="1116659"/>
            <a:ext cx="466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1600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>
            <a:spLocks noGrp="1"/>
          </p:cNvSpPr>
          <p:nvPr>
            <p:ph type="title"/>
          </p:nvPr>
        </p:nvSpPr>
        <p:spPr>
          <a:xfrm>
            <a:off x="0" y="104600"/>
            <a:ext cx="5249400" cy="7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Pengertian DBMS</a:t>
            </a:r>
            <a:endParaRPr sz="4000" dirty="0"/>
          </a:p>
        </p:txBody>
      </p:sp>
      <p:sp>
        <p:nvSpPr>
          <p:cNvPr id="508" name="Google Shape;508;p41"/>
          <p:cNvSpPr txBox="1">
            <a:spLocks noGrp="1"/>
          </p:cNvSpPr>
          <p:nvPr>
            <p:ph type="subTitle" idx="1"/>
          </p:nvPr>
        </p:nvSpPr>
        <p:spPr>
          <a:xfrm>
            <a:off x="1947300" y="1369118"/>
            <a:ext cx="5249400" cy="13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Database Management System </a:t>
            </a:r>
            <a:r>
              <a:rPr lang="en-ID" dirty="0" err="1"/>
              <a:t>atau</a:t>
            </a:r>
            <a:r>
              <a:rPr lang="en-ID" dirty="0"/>
              <a:t> DBMS </a:t>
            </a:r>
            <a:r>
              <a:rPr lang="en-ID" dirty="0" err="1"/>
              <a:t>adalah</a:t>
            </a:r>
            <a:r>
              <a:rPr lang="en-ID" dirty="0"/>
              <a:t> software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, </a:t>
            </a:r>
            <a:r>
              <a:rPr lang="en-ID" dirty="0" err="1"/>
              <a:t>menyimpan</a:t>
            </a:r>
            <a:r>
              <a:rPr lang="en-ID" dirty="0"/>
              <a:t>, dan </a:t>
            </a:r>
            <a:r>
              <a:rPr lang="en-ID" dirty="0" err="1"/>
              <a:t>mengambil</a:t>
            </a:r>
            <a:r>
              <a:rPr lang="en-ID" dirty="0"/>
              <a:t> database. Software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antarmuka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user </a:t>
            </a:r>
            <a:r>
              <a:rPr lang="en-ID" dirty="0" err="1"/>
              <a:t>membaca</a:t>
            </a:r>
            <a:r>
              <a:rPr lang="en-ID" dirty="0"/>
              <a:t>, </a:t>
            </a:r>
            <a:r>
              <a:rPr lang="en-ID" dirty="0" err="1"/>
              <a:t>membuat</a:t>
            </a:r>
            <a:r>
              <a:rPr lang="en-ID" dirty="0"/>
              <a:t>, </a:t>
            </a:r>
            <a:r>
              <a:rPr lang="en-ID" dirty="0" err="1"/>
              <a:t>menghapus</a:t>
            </a:r>
            <a:r>
              <a:rPr lang="en-ID" dirty="0"/>
              <a:t>, dan </a:t>
            </a:r>
            <a:r>
              <a:rPr lang="en-ID" dirty="0" err="1"/>
              <a:t>memperbarui</a:t>
            </a:r>
            <a:r>
              <a:rPr lang="en-ID" dirty="0"/>
              <a:t> data.</a:t>
            </a:r>
            <a:endParaRPr dirty="0"/>
          </a:p>
        </p:txBody>
      </p:sp>
      <p:cxnSp>
        <p:nvCxnSpPr>
          <p:cNvPr id="509" name="Google Shape;509;p41"/>
          <p:cNvCxnSpPr/>
          <p:nvPr/>
        </p:nvCxnSpPr>
        <p:spPr>
          <a:xfrm rot="10800000">
            <a:off x="2241900" y="1116659"/>
            <a:ext cx="466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0" name="Google Shape;510;p41"/>
          <p:cNvGrpSpPr/>
          <p:nvPr/>
        </p:nvGrpSpPr>
        <p:grpSpPr>
          <a:xfrm>
            <a:off x="0" y="3933491"/>
            <a:ext cx="4300610" cy="1105409"/>
            <a:chOff x="-87025" y="3954291"/>
            <a:chExt cx="4300610" cy="1105409"/>
          </a:xfrm>
        </p:grpSpPr>
        <p:sp>
          <p:nvSpPr>
            <p:cNvPr id="511" name="Google Shape;511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1"/>
          <p:cNvGrpSpPr/>
          <p:nvPr/>
        </p:nvGrpSpPr>
        <p:grpSpPr>
          <a:xfrm rot="5400000">
            <a:off x="6278600" y="-534709"/>
            <a:ext cx="4300610" cy="1105409"/>
            <a:chOff x="-87025" y="3954291"/>
            <a:chExt cx="4300610" cy="1105409"/>
          </a:xfrm>
        </p:grpSpPr>
        <p:sp>
          <p:nvSpPr>
            <p:cNvPr id="514" name="Google Shape;514;p41"/>
            <p:cNvSpPr/>
            <p:nvPr/>
          </p:nvSpPr>
          <p:spPr>
            <a:xfrm>
              <a:off x="-87025" y="4196000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414085" y="3954291"/>
              <a:ext cx="3799500" cy="8637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775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title"/>
          </p:nvPr>
        </p:nvSpPr>
        <p:spPr>
          <a:xfrm>
            <a:off x="715100" y="2179625"/>
            <a:ext cx="478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Fitur</a:t>
            </a:r>
            <a:endParaRPr dirty="0"/>
          </a:p>
        </p:txBody>
      </p:sp>
      <p:sp>
        <p:nvSpPr>
          <p:cNvPr id="521" name="Google Shape;521;p42"/>
          <p:cNvSpPr txBox="1">
            <a:spLocks noGrp="1"/>
          </p:cNvSpPr>
          <p:nvPr>
            <p:ph type="title" idx="2"/>
          </p:nvPr>
        </p:nvSpPr>
        <p:spPr>
          <a:xfrm>
            <a:off x="715100" y="1064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22" name="Google Shape;522;p42"/>
          <p:cNvSpPr txBox="1">
            <a:spLocks noGrp="1"/>
          </p:cNvSpPr>
          <p:nvPr>
            <p:ph type="subTitle" idx="1"/>
          </p:nvPr>
        </p:nvSpPr>
        <p:spPr>
          <a:xfrm>
            <a:off x="715100" y="3254919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DBMS (Mongo DB)</a:t>
            </a:r>
            <a:endParaRPr dirty="0"/>
          </a:p>
        </p:txBody>
      </p:sp>
      <p:grpSp>
        <p:nvGrpSpPr>
          <p:cNvPr id="523" name="Google Shape;523;p42"/>
          <p:cNvGrpSpPr/>
          <p:nvPr/>
        </p:nvGrpSpPr>
        <p:grpSpPr>
          <a:xfrm>
            <a:off x="6312750" y="-51200"/>
            <a:ext cx="2504100" cy="5303450"/>
            <a:chOff x="6701850" y="-51200"/>
            <a:chExt cx="2504100" cy="5303450"/>
          </a:xfrm>
        </p:grpSpPr>
        <p:sp>
          <p:nvSpPr>
            <p:cNvPr id="524" name="Google Shape;524;p42"/>
            <p:cNvSpPr/>
            <p:nvPr/>
          </p:nvSpPr>
          <p:spPr>
            <a:xfrm>
              <a:off x="6701850" y="-512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6701850" y="148890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6701850" y="3086550"/>
              <a:ext cx="2504100" cy="216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27" name="Google Shape;527;p42"/>
          <p:cNvCxnSpPr/>
          <p:nvPr/>
        </p:nvCxnSpPr>
        <p:spPr>
          <a:xfrm rot="10800000">
            <a:off x="7151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8" name="Google Shape;528;p42"/>
          <p:cNvGrpSpPr/>
          <p:nvPr/>
        </p:nvGrpSpPr>
        <p:grpSpPr>
          <a:xfrm>
            <a:off x="3775250" y="534993"/>
            <a:ext cx="409357" cy="409357"/>
            <a:chOff x="1393875" y="-1823657"/>
            <a:chExt cx="409357" cy="409357"/>
          </a:xfrm>
        </p:grpSpPr>
        <p:cxnSp>
          <p:nvCxnSpPr>
            <p:cNvPr id="529" name="Google Shape;529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3" name="Google Shape;533;p42"/>
          <p:cNvGrpSpPr/>
          <p:nvPr/>
        </p:nvGrpSpPr>
        <p:grpSpPr>
          <a:xfrm>
            <a:off x="715100" y="4403818"/>
            <a:ext cx="409357" cy="409357"/>
            <a:chOff x="1393875" y="-1823657"/>
            <a:chExt cx="409357" cy="409357"/>
          </a:xfrm>
        </p:grpSpPr>
        <p:cxnSp>
          <p:nvCxnSpPr>
            <p:cNvPr id="534" name="Google Shape;534;p42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42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42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42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27507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4"/>
          <p:cNvSpPr txBox="1">
            <a:spLocks noGrp="1"/>
          </p:cNvSpPr>
          <p:nvPr>
            <p:ph type="title"/>
          </p:nvPr>
        </p:nvSpPr>
        <p:spPr>
          <a:xfrm>
            <a:off x="720000" y="172925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Fitur </a:t>
            </a:r>
            <a:endParaRPr dirty="0"/>
          </a:p>
        </p:txBody>
      </p:sp>
      <p:cxnSp>
        <p:nvCxnSpPr>
          <p:cNvPr id="1096" name="Google Shape;1096;p64"/>
          <p:cNvCxnSpPr/>
          <p:nvPr/>
        </p:nvCxnSpPr>
        <p:spPr>
          <a:xfrm rot="10800000">
            <a:off x="720000" y="852299"/>
            <a:ext cx="771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38B51F-337D-8875-000A-CF006B4D8A5C}"/>
              </a:ext>
            </a:extLst>
          </p:cNvPr>
          <p:cNvCxnSpPr>
            <a:cxnSpLocks/>
          </p:cNvCxnSpPr>
          <p:nvPr/>
        </p:nvCxnSpPr>
        <p:spPr>
          <a:xfrm>
            <a:off x="4572000" y="868499"/>
            <a:ext cx="0" cy="3958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542;p43">
            <a:extLst>
              <a:ext uri="{FF2B5EF4-FFF2-40B4-BE49-F238E27FC236}">
                <a16:creationId xmlns:a16="http://schemas.microsoft.com/office/drawing/2014/main" id="{88E5063D-F60E-FCF9-D024-DF77A0075446}"/>
              </a:ext>
            </a:extLst>
          </p:cNvPr>
          <p:cNvSpPr txBox="1">
            <a:spLocks/>
          </p:cNvSpPr>
          <p:nvPr/>
        </p:nvSpPr>
        <p:spPr>
          <a:xfrm>
            <a:off x="1065132" y="1227901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User-defined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Keamanan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Independensi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Konkruensi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Integritas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Pemulihan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Kamus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Produktivitas</a:t>
            </a:r>
            <a:endParaRPr lang="en-US" dirty="0"/>
          </a:p>
        </p:txBody>
      </p:sp>
      <p:sp>
        <p:nvSpPr>
          <p:cNvPr id="6" name="Google Shape;563;p45">
            <a:extLst>
              <a:ext uri="{FF2B5EF4-FFF2-40B4-BE49-F238E27FC236}">
                <a16:creationId xmlns:a16="http://schemas.microsoft.com/office/drawing/2014/main" id="{FEAD5B28-B1D6-B5DA-8CE8-ADB810192E4E}"/>
              </a:ext>
            </a:extLst>
          </p:cNvPr>
          <p:cNvSpPr txBox="1">
            <a:spLocks/>
          </p:cNvSpPr>
          <p:nvPr/>
        </p:nvSpPr>
        <p:spPr>
          <a:xfrm>
            <a:off x="1065132" y="697501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D" dirty="0"/>
              <a:t>DBMS</a:t>
            </a:r>
          </a:p>
        </p:txBody>
      </p:sp>
      <p:sp>
        <p:nvSpPr>
          <p:cNvPr id="7" name="Google Shape;563;p45">
            <a:extLst>
              <a:ext uri="{FF2B5EF4-FFF2-40B4-BE49-F238E27FC236}">
                <a16:creationId xmlns:a16="http://schemas.microsoft.com/office/drawing/2014/main" id="{705B6291-27C9-18C9-1036-CC80278CA50B}"/>
              </a:ext>
            </a:extLst>
          </p:cNvPr>
          <p:cNvSpPr txBox="1">
            <a:spLocks/>
          </p:cNvSpPr>
          <p:nvPr/>
        </p:nvSpPr>
        <p:spPr>
          <a:xfrm>
            <a:off x="5379523" y="697501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M</a:t>
            </a:r>
            <a:r>
              <a:rPr lang="en-ID" dirty="0" err="1"/>
              <a:t>ongo</a:t>
            </a:r>
            <a:r>
              <a:rPr lang="en-ID" dirty="0"/>
              <a:t> DB</a:t>
            </a:r>
          </a:p>
        </p:txBody>
      </p:sp>
      <p:sp>
        <p:nvSpPr>
          <p:cNvPr id="8" name="Google Shape;542;p43">
            <a:extLst>
              <a:ext uri="{FF2B5EF4-FFF2-40B4-BE49-F238E27FC236}">
                <a16:creationId xmlns:a16="http://schemas.microsoft.com/office/drawing/2014/main" id="{B9825BDE-42D9-2F02-DBB4-5215ABCF6FD8}"/>
              </a:ext>
            </a:extLst>
          </p:cNvPr>
          <p:cNvSpPr txBox="1">
            <a:spLocks/>
          </p:cNvSpPr>
          <p:nvPr/>
        </p:nvSpPr>
        <p:spPr>
          <a:xfrm>
            <a:off x="4711500" y="1244102"/>
            <a:ext cx="2907600" cy="30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Schema-less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Document-oriented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Skalabilitas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Replikasi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Agregasi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72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 txBox="1">
            <a:spLocks noGrp="1"/>
          </p:cNvSpPr>
          <p:nvPr>
            <p:ph type="title"/>
          </p:nvPr>
        </p:nvSpPr>
        <p:spPr>
          <a:xfrm>
            <a:off x="2663600" y="2179625"/>
            <a:ext cx="5765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 Mongo DB</a:t>
            </a:r>
            <a:endParaRPr dirty="0"/>
          </a:p>
        </p:txBody>
      </p:sp>
      <p:sp>
        <p:nvSpPr>
          <p:cNvPr id="672" name="Google Shape;672;p49"/>
          <p:cNvSpPr txBox="1">
            <a:spLocks noGrp="1"/>
          </p:cNvSpPr>
          <p:nvPr>
            <p:ph type="title" idx="2"/>
          </p:nvPr>
        </p:nvSpPr>
        <p:spPr>
          <a:xfrm>
            <a:off x="5278000" y="106483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73" name="Google Shape;673;p49"/>
          <p:cNvSpPr txBox="1">
            <a:spLocks noGrp="1"/>
          </p:cNvSpPr>
          <p:nvPr>
            <p:ph type="subTitle" idx="1"/>
          </p:nvPr>
        </p:nvSpPr>
        <p:spPr>
          <a:xfrm>
            <a:off x="3718600" y="3347200"/>
            <a:ext cx="47103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cxnSp>
        <p:nvCxnSpPr>
          <p:cNvPr id="674" name="Google Shape;674;p49"/>
          <p:cNvCxnSpPr/>
          <p:nvPr/>
        </p:nvCxnSpPr>
        <p:spPr>
          <a:xfrm rot="10800000">
            <a:off x="3575200" y="313217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49"/>
          <p:cNvSpPr/>
          <p:nvPr/>
        </p:nvSpPr>
        <p:spPr>
          <a:xfrm rot="5400000">
            <a:off x="295075" y="403925"/>
            <a:ext cx="3198600" cy="27663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9"/>
          <p:cNvSpPr/>
          <p:nvPr/>
        </p:nvSpPr>
        <p:spPr>
          <a:xfrm rot="5400000">
            <a:off x="-318850" y="2071700"/>
            <a:ext cx="3198600" cy="27663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7" name="Google Shape;677;p49"/>
          <p:cNvGrpSpPr/>
          <p:nvPr/>
        </p:nvGrpSpPr>
        <p:grpSpPr>
          <a:xfrm>
            <a:off x="7855188" y="655493"/>
            <a:ext cx="409357" cy="409357"/>
            <a:chOff x="1393875" y="-1823657"/>
            <a:chExt cx="409357" cy="409357"/>
          </a:xfrm>
        </p:grpSpPr>
        <p:cxnSp>
          <p:nvCxnSpPr>
            <p:cNvPr id="678" name="Google Shape;678;p4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4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4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1" name="Google Shape;681;p4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2" name="Google Shape;682;p49"/>
          <p:cNvGrpSpPr/>
          <p:nvPr/>
        </p:nvGrpSpPr>
        <p:grpSpPr>
          <a:xfrm>
            <a:off x="7855188" y="4136193"/>
            <a:ext cx="409357" cy="409357"/>
            <a:chOff x="1393875" y="-1823657"/>
            <a:chExt cx="409357" cy="409357"/>
          </a:xfrm>
        </p:grpSpPr>
        <p:cxnSp>
          <p:nvCxnSpPr>
            <p:cNvPr id="683" name="Google Shape;683;p49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49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49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6" name="Google Shape;686;p49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51C37B1-5BFA-DBF4-4425-838FC09ED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33" y="1321961"/>
            <a:ext cx="4682134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9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>
            <a:spLocks noGrp="1"/>
          </p:cNvSpPr>
          <p:nvPr>
            <p:ph type="body" idx="1"/>
          </p:nvPr>
        </p:nvSpPr>
        <p:spPr>
          <a:xfrm>
            <a:off x="332508" y="923399"/>
            <a:ext cx="5362091" cy="3684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MongoDB </a:t>
            </a:r>
            <a:r>
              <a:rPr lang="en-ID" dirty="0" err="1">
                <a:solidFill>
                  <a:schemeClr val="dk1"/>
                </a:solidFill>
              </a:rPr>
              <a:t>dikembangkan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sejak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Oktober</a:t>
            </a:r>
            <a:r>
              <a:rPr lang="en-ID" dirty="0">
                <a:solidFill>
                  <a:schemeClr val="dk1"/>
                </a:solidFill>
              </a:rPr>
              <a:t> 2007 oleh 10Gen, </a:t>
            </a:r>
            <a:r>
              <a:rPr lang="en-ID" dirty="0" err="1">
                <a:solidFill>
                  <a:schemeClr val="dk1"/>
                </a:solidFill>
              </a:rPr>
              <a:t>dirilis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publik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sejak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Februari</a:t>
            </a:r>
            <a:r>
              <a:rPr lang="en-ID" dirty="0">
                <a:solidFill>
                  <a:schemeClr val="dk1"/>
                </a:solidFill>
              </a:rPr>
              <a:t> 2009 dan </a:t>
            </a:r>
            <a:r>
              <a:rPr lang="en-ID" dirty="0" err="1">
                <a:solidFill>
                  <a:schemeClr val="dk1"/>
                </a:solidFill>
              </a:rPr>
              <a:t>dilepas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dengan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lisensi</a:t>
            </a:r>
            <a:r>
              <a:rPr lang="en-ID" dirty="0">
                <a:solidFill>
                  <a:schemeClr val="dk1"/>
                </a:solidFill>
              </a:rPr>
              <a:t> GNU AGPL 3.0 dan Apache License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drivernya</a:t>
            </a:r>
            <a:r>
              <a:rPr lang="en-ID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MongoDB </a:t>
            </a:r>
            <a:r>
              <a:rPr lang="en-ID" dirty="0" err="1">
                <a:solidFill>
                  <a:schemeClr val="dk1"/>
                </a:solidFill>
              </a:rPr>
              <a:t>sendiri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ditulis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dengan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bahasa</a:t>
            </a:r>
            <a:r>
              <a:rPr lang="en-ID" dirty="0">
                <a:solidFill>
                  <a:schemeClr val="dk1"/>
                </a:solidFill>
              </a:rPr>
              <a:t> C++ dan </a:t>
            </a:r>
            <a:r>
              <a:rPr lang="en-ID" dirty="0" err="1">
                <a:solidFill>
                  <a:schemeClr val="dk1"/>
                </a:solidFill>
              </a:rPr>
              <a:t>telah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tersedia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untuk</a:t>
            </a:r>
            <a:r>
              <a:rPr lang="en-ID" dirty="0">
                <a:solidFill>
                  <a:schemeClr val="dk1"/>
                </a:solidFill>
              </a:rPr>
              <a:t> berbagai </a:t>
            </a:r>
            <a:r>
              <a:rPr lang="en-ID" dirty="0" err="1">
                <a:solidFill>
                  <a:schemeClr val="dk1"/>
                </a:solidFill>
              </a:rPr>
              <a:t>jenis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bahasa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pemrograman</a:t>
            </a:r>
            <a:r>
              <a:rPr lang="en-ID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4"/>
          <p:cNvSpPr txBox="1">
            <a:spLocks noGrp="1"/>
          </p:cNvSpPr>
          <p:nvPr>
            <p:ph type="title"/>
          </p:nvPr>
        </p:nvSpPr>
        <p:spPr>
          <a:xfrm>
            <a:off x="728350" y="14412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Sejarah Mongo DB</a:t>
            </a:r>
            <a:endParaRPr dirty="0"/>
          </a:p>
        </p:txBody>
      </p:sp>
      <p:cxnSp>
        <p:nvCxnSpPr>
          <p:cNvPr id="554" name="Google Shape;554;p44"/>
          <p:cNvCxnSpPr>
            <a:cxnSpLocks/>
          </p:cNvCxnSpPr>
          <p:nvPr/>
        </p:nvCxnSpPr>
        <p:spPr>
          <a:xfrm flipH="1">
            <a:off x="332509" y="854910"/>
            <a:ext cx="809464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4"/>
          <p:cNvSpPr/>
          <p:nvPr/>
        </p:nvSpPr>
        <p:spPr>
          <a:xfrm>
            <a:off x="5861525" y="107790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4"/>
          <p:cNvSpPr/>
          <p:nvPr/>
        </p:nvSpPr>
        <p:spPr>
          <a:xfrm>
            <a:off x="6311100" y="2310600"/>
            <a:ext cx="2832900" cy="2832900"/>
          </a:xfrm>
          <a:prstGeom prst="diamond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04F2BD-59D8-1490-D33C-92685B96F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300" y="2583089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91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5"/>
          <p:cNvSpPr/>
          <p:nvPr/>
        </p:nvSpPr>
        <p:spPr>
          <a:xfrm>
            <a:off x="6665067" y="795646"/>
            <a:ext cx="2196007" cy="2196007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5" name="Google Shape;785;p55"/>
          <p:cNvSpPr/>
          <p:nvPr/>
        </p:nvSpPr>
        <p:spPr>
          <a:xfrm>
            <a:off x="6665067" y="2395216"/>
            <a:ext cx="2196008" cy="2196008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F7A188D-A676-0AFE-5AD5-23DB3F9519F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28264" y="810228"/>
            <a:ext cx="5984712" cy="3558071"/>
          </a:xfrm>
        </p:spPr>
        <p:txBody>
          <a:bodyPr/>
          <a:lstStyle/>
          <a:p>
            <a:pPr algn="l"/>
            <a:r>
              <a:rPr lang="en-ID" dirty="0" err="1"/>
              <a:t>Tahun</a:t>
            </a:r>
            <a:r>
              <a:rPr lang="en-ID" dirty="0"/>
              <a:t> 1960 Network Database Sejarah </a:t>
            </a:r>
            <a:r>
              <a:rPr lang="en-ID" dirty="0" err="1"/>
              <a:t>sebuah</a:t>
            </a:r>
            <a:r>
              <a:rPr lang="en-ID" dirty="0"/>
              <a:t> basis data </a:t>
            </a:r>
            <a:r>
              <a:rPr lang="en-ID" dirty="0" err="1"/>
              <a:t>diawali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1960. Pada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Charles Bachman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DBMS </a:t>
            </a:r>
            <a:r>
              <a:rPr lang="en-ID" dirty="0" err="1"/>
              <a:t>pertama</a:t>
            </a:r>
            <a:r>
              <a:rPr lang="en-ID" dirty="0"/>
              <a:t> yang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data </a:t>
            </a:r>
            <a:r>
              <a:rPr lang="en-ID" dirty="0" err="1"/>
              <a:t>terintegrasi</a:t>
            </a:r>
            <a:r>
              <a:rPr lang="en-ID" dirty="0"/>
              <a:t>. Desain DBMS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berbentuk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model </a:t>
            </a:r>
            <a:r>
              <a:rPr lang="en-ID" dirty="0" err="1"/>
              <a:t>jaringan</a:t>
            </a:r>
            <a:r>
              <a:rPr lang="en-ID" dirty="0"/>
              <a:t> basis data (network database)</a:t>
            </a:r>
          </a:p>
          <a:p>
            <a:pPr algn="l"/>
            <a:endParaRPr lang="en-ID" dirty="0"/>
          </a:p>
          <a:p>
            <a:pPr algn="l"/>
            <a:r>
              <a:rPr lang="en-US" dirty="0" err="1"/>
              <a:t>Tahun</a:t>
            </a:r>
            <a:r>
              <a:rPr lang="en-US" dirty="0"/>
              <a:t> 1971 First Generation – Hierarchical Model</a:t>
            </a:r>
          </a:p>
          <a:p>
            <a:pPr algn="l"/>
            <a:r>
              <a:rPr lang="en-ID" dirty="0" err="1"/>
              <a:t>Tahun</a:t>
            </a:r>
            <a:r>
              <a:rPr lang="en-ID" dirty="0"/>
              <a:t> 1976 Second Generation – Relational Model</a:t>
            </a:r>
          </a:p>
          <a:p>
            <a:pPr algn="l"/>
            <a:r>
              <a:rPr lang="en-US" dirty="0" err="1"/>
              <a:t>Tahun</a:t>
            </a:r>
            <a:r>
              <a:rPr lang="en-US" dirty="0"/>
              <a:t> 1990 Third Generation – Object </a:t>
            </a:r>
            <a:r>
              <a:rPr lang="en-US" dirty="0" err="1"/>
              <a:t>Reletional</a:t>
            </a:r>
            <a:r>
              <a:rPr lang="en-US" dirty="0"/>
              <a:t> dan Object Oriented</a:t>
            </a:r>
          </a:p>
          <a:p>
            <a:pPr algn="l"/>
            <a:endParaRPr lang="en-ID" dirty="0"/>
          </a:p>
        </p:txBody>
      </p:sp>
      <p:cxnSp>
        <p:nvCxnSpPr>
          <p:cNvPr id="15" name="Google Shape;554;p44">
            <a:extLst>
              <a:ext uri="{FF2B5EF4-FFF2-40B4-BE49-F238E27FC236}">
                <a16:creationId xmlns:a16="http://schemas.microsoft.com/office/drawing/2014/main" id="{1D8C45BD-C0CF-4F7D-255F-DF9E88ACA2B4}"/>
              </a:ext>
            </a:extLst>
          </p:cNvPr>
          <p:cNvCxnSpPr>
            <a:cxnSpLocks/>
          </p:cNvCxnSpPr>
          <p:nvPr/>
        </p:nvCxnSpPr>
        <p:spPr>
          <a:xfrm flipH="1">
            <a:off x="320634" y="664905"/>
            <a:ext cx="809464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553;p44">
            <a:extLst>
              <a:ext uri="{FF2B5EF4-FFF2-40B4-BE49-F238E27FC236}">
                <a16:creationId xmlns:a16="http://schemas.microsoft.com/office/drawing/2014/main" id="{35B5B812-C972-4E65-247C-A4A33C395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8725" y="0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Sejarah DBMS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484DCB-464C-0F42-85D4-CD6569923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91" y="2991653"/>
            <a:ext cx="1180758" cy="10251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>
            <a:spLocks noGrp="1"/>
          </p:cNvSpPr>
          <p:nvPr>
            <p:ph type="title"/>
          </p:nvPr>
        </p:nvSpPr>
        <p:spPr>
          <a:xfrm>
            <a:off x="1283913" y="1693083"/>
            <a:ext cx="65760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Kelebihan dan kekurangan</a:t>
            </a:r>
            <a:br>
              <a:rPr lang="en" sz="4000" dirty="0"/>
            </a:br>
            <a:r>
              <a:rPr lang="en" sz="4000" dirty="0"/>
              <a:t>Mongo DB</a:t>
            </a:r>
            <a:endParaRPr sz="4000" dirty="0"/>
          </a:p>
        </p:txBody>
      </p:sp>
      <p:cxnSp>
        <p:nvCxnSpPr>
          <p:cNvPr id="756" name="Google Shape;756;p54"/>
          <p:cNvCxnSpPr/>
          <p:nvPr/>
        </p:nvCxnSpPr>
        <p:spPr>
          <a:xfrm rot="10800000">
            <a:off x="2145150" y="295192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54"/>
          <p:cNvGrpSpPr/>
          <p:nvPr/>
        </p:nvGrpSpPr>
        <p:grpSpPr>
          <a:xfrm>
            <a:off x="4367313" y="534993"/>
            <a:ext cx="409357" cy="409357"/>
            <a:chOff x="1393875" y="-1823657"/>
            <a:chExt cx="409357" cy="409357"/>
          </a:xfrm>
        </p:grpSpPr>
        <p:cxnSp>
          <p:nvCxnSpPr>
            <p:cNvPr id="758" name="Google Shape;758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2" name="Google Shape;762;p54"/>
          <p:cNvGrpSpPr/>
          <p:nvPr/>
        </p:nvGrpSpPr>
        <p:grpSpPr>
          <a:xfrm>
            <a:off x="4367313" y="4199143"/>
            <a:ext cx="409357" cy="409357"/>
            <a:chOff x="1393875" y="-1823657"/>
            <a:chExt cx="409357" cy="409357"/>
          </a:xfrm>
        </p:grpSpPr>
        <p:cxnSp>
          <p:nvCxnSpPr>
            <p:cNvPr id="763" name="Google Shape;763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7" name="Google Shape;767;p54"/>
          <p:cNvGrpSpPr/>
          <p:nvPr/>
        </p:nvGrpSpPr>
        <p:grpSpPr>
          <a:xfrm>
            <a:off x="-1421225" y="1759650"/>
            <a:ext cx="3282475" cy="4065600"/>
            <a:chOff x="-1421225" y="1759650"/>
            <a:chExt cx="3282475" cy="4065600"/>
          </a:xfrm>
        </p:grpSpPr>
        <p:sp>
          <p:nvSpPr>
            <p:cNvPr id="768" name="Google Shape;768;p54"/>
            <p:cNvSpPr/>
            <p:nvPr/>
          </p:nvSpPr>
          <p:spPr>
            <a:xfrm>
              <a:off x="-1421225" y="17596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-971650" y="29923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54"/>
          <p:cNvSpPr/>
          <p:nvPr/>
        </p:nvSpPr>
        <p:spPr>
          <a:xfrm>
            <a:off x="7227000" y="-88145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115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66820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/>
              <a:t>Kinerja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Efisien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Database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Banyak Data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Mengelola</a:t>
            </a:r>
            <a:r>
              <a:rPr lang="en-ID" dirty="0"/>
              <a:t> Query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Skalabilitas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Memperbarui</a:t>
            </a:r>
            <a:r>
              <a:rPr lang="en-ID" dirty="0"/>
              <a:t> Skema Data </a:t>
            </a:r>
            <a:r>
              <a:rPr lang="en-ID" dirty="0" err="1"/>
              <a:t>Tanpa</a:t>
            </a:r>
            <a:r>
              <a:rPr lang="en-ID" dirty="0"/>
              <a:t> Downtime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/>
              <a:t>Gratis </a:t>
            </a:r>
            <a:r>
              <a:rPr lang="en-ID" dirty="0" err="1"/>
              <a:t>Pemakaian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Berbagai </a:t>
            </a:r>
            <a:r>
              <a:rPr lang="en-ID" dirty="0" err="1"/>
              <a:t>Variasi</a:t>
            </a:r>
            <a:r>
              <a:rPr lang="en-ID" dirty="0"/>
              <a:t> Data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Fleksibilitas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72467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Kelebihan</a:t>
            </a:r>
            <a:r>
              <a:rPr lang="en-US" sz="2800" dirty="0"/>
              <a:t> Mongo DB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607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66820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transaksi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Membutuhkan</a:t>
            </a:r>
            <a:r>
              <a:rPr lang="en-ID" dirty="0"/>
              <a:t> Banyak Ruang </a:t>
            </a:r>
            <a:r>
              <a:rPr lang="en-ID" dirty="0" err="1"/>
              <a:t>Memori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Terbatasnya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Data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Pengindeksan</a:t>
            </a:r>
            <a:endParaRPr lang="en-ID"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19999" y="544400"/>
            <a:ext cx="4002471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Kekurangan</a:t>
            </a:r>
            <a:r>
              <a:rPr lang="en-US" sz="2800" dirty="0"/>
              <a:t> Mongo DB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522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>
            <a:spLocks noGrp="1"/>
          </p:cNvSpPr>
          <p:nvPr>
            <p:ph type="title"/>
          </p:nvPr>
        </p:nvSpPr>
        <p:spPr>
          <a:xfrm>
            <a:off x="1283913" y="1693083"/>
            <a:ext cx="6576000" cy="11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Kelebihan dan kekurangan</a:t>
            </a:r>
            <a:br>
              <a:rPr lang="en" sz="4000" dirty="0"/>
            </a:br>
            <a:r>
              <a:rPr lang="en" sz="4000" dirty="0"/>
              <a:t>DBMS</a:t>
            </a:r>
            <a:endParaRPr sz="4000" dirty="0"/>
          </a:p>
        </p:txBody>
      </p:sp>
      <p:cxnSp>
        <p:nvCxnSpPr>
          <p:cNvPr id="756" name="Google Shape;756;p54"/>
          <p:cNvCxnSpPr/>
          <p:nvPr/>
        </p:nvCxnSpPr>
        <p:spPr>
          <a:xfrm rot="10800000">
            <a:off x="2145150" y="2951925"/>
            <a:ext cx="485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54"/>
          <p:cNvGrpSpPr/>
          <p:nvPr/>
        </p:nvGrpSpPr>
        <p:grpSpPr>
          <a:xfrm>
            <a:off x="4367313" y="534993"/>
            <a:ext cx="409357" cy="409357"/>
            <a:chOff x="1393875" y="-1823657"/>
            <a:chExt cx="409357" cy="409357"/>
          </a:xfrm>
        </p:grpSpPr>
        <p:cxnSp>
          <p:nvCxnSpPr>
            <p:cNvPr id="758" name="Google Shape;758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2" name="Google Shape;762;p54"/>
          <p:cNvGrpSpPr/>
          <p:nvPr/>
        </p:nvGrpSpPr>
        <p:grpSpPr>
          <a:xfrm>
            <a:off x="4367313" y="4199143"/>
            <a:ext cx="409357" cy="409357"/>
            <a:chOff x="1393875" y="-1823657"/>
            <a:chExt cx="409357" cy="409357"/>
          </a:xfrm>
        </p:grpSpPr>
        <p:cxnSp>
          <p:nvCxnSpPr>
            <p:cNvPr id="763" name="Google Shape;763;p54"/>
            <p:cNvCxnSpPr/>
            <p:nvPr/>
          </p:nvCxnSpPr>
          <p:spPr>
            <a:xfrm>
              <a:off x="145384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54"/>
            <p:cNvCxnSpPr/>
            <p:nvPr/>
          </p:nvCxnSpPr>
          <p:spPr>
            <a:xfrm rot="5400000">
              <a:off x="1453917" y="-1763842"/>
              <a:ext cx="289500" cy="289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4"/>
            <p:cNvCxnSpPr/>
            <p:nvPr/>
          </p:nvCxnSpPr>
          <p:spPr>
            <a:xfrm rot="-8100000" flipH="1">
              <a:off x="1453801" y="-1763731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4"/>
            <p:cNvCxnSpPr/>
            <p:nvPr/>
          </p:nvCxnSpPr>
          <p:spPr>
            <a:xfrm rot="8100000" flipH="1">
              <a:off x="1453958" y="-1763574"/>
              <a:ext cx="289348" cy="289348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7" name="Google Shape;767;p54"/>
          <p:cNvGrpSpPr/>
          <p:nvPr/>
        </p:nvGrpSpPr>
        <p:grpSpPr>
          <a:xfrm>
            <a:off x="-1421225" y="1759650"/>
            <a:ext cx="3282475" cy="4065600"/>
            <a:chOff x="-1421225" y="1759650"/>
            <a:chExt cx="3282475" cy="4065600"/>
          </a:xfrm>
        </p:grpSpPr>
        <p:sp>
          <p:nvSpPr>
            <p:cNvPr id="768" name="Google Shape;768;p54"/>
            <p:cNvSpPr/>
            <p:nvPr/>
          </p:nvSpPr>
          <p:spPr>
            <a:xfrm>
              <a:off x="-1421225" y="17596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-971650" y="29923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54"/>
          <p:cNvSpPr/>
          <p:nvPr/>
        </p:nvSpPr>
        <p:spPr>
          <a:xfrm>
            <a:off x="7227000" y="-881450"/>
            <a:ext cx="2832900" cy="2832900"/>
          </a:xfrm>
          <a:prstGeom prst="diamond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475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66820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Integritas</a:t>
            </a:r>
            <a:r>
              <a:rPr lang="en-ID" dirty="0"/>
              <a:t> data yang </a:t>
            </a:r>
            <a:r>
              <a:rPr lang="en-ID" dirty="0" err="1"/>
              <a:t>baik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Keamanan</a:t>
            </a:r>
            <a:r>
              <a:rPr lang="en-ID" dirty="0"/>
              <a:t> data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Akses</a:t>
            </a:r>
            <a:r>
              <a:rPr lang="en-ID" dirty="0"/>
              <a:t> data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pemulihan</a:t>
            </a:r>
            <a:r>
              <a:rPr lang="en-ID" dirty="0"/>
              <a:t> dan </a:t>
            </a:r>
            <a:r>
              <a:rPr lang="en-ID" dirty="0" err="1"/>
              <a:t>cadangan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Modifikasi</a:t>
            </a:r>
            <a:r>
              <a:rPr lang="en-ID" dirty="0"/>
              <a:t> yang </a:t>
            </a:r>
            <a:r>
              <a:rPr lang="en-ID" dirty="0" err="1"/>
              <a:t>mudah</a:t>
            </a:r>
            <a:endParaRPr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20000" y="544400"/>
            <a:ext cx="372467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Kelebihan</a:t>
            </a:r>
            <a:r>
              <a:rPr lang="en-US" sz="2800" dirty="0"/>
              <a:t> DBMS 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573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>
            <a:spLocks noGrp="1"/>
          </p:cNvSpPr>
          <p:nvPr>
            <p:ph type="subTitle" idx="1"/>
          </p:nvPr>
        </p:nvSpPr>
        <p:spPr>
          <a:xfrm>
            <a:off x="1072030" y="1329339"/>
            <a:ext cx="7668209" cy="3279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manajemen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biaya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Keandalan</a:t>
            </a:r>
            <a:r>
              <a:rPr lang="en-ID" dirty="0"/>
              <a:t> yang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kuat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ID" dirty="0" err="1"/>
              <a:t>Ukuran</a:t>
            </a:r>
            <a:r>
              <a:rPr lang="en-ID" dirty="0"/>
              <a:t> yang </a:t>
            </a:r>
            <a:r>
              <a:rPr lang="en-ID" dirty="0" err="1"/>
              <a:t>menyita</a:t>
            </a:r>
            <a:r>
              <a:rPr lang="en-ID" dirty="0"/>
              <a:t> </a:t>
            </a:r>
            <a:r>
              <a:rPr lang="en-ID" dirty="0" err="1"/>
              <a:t>tempat</a:t>
            </a:r>
            <a:endParaRPr lang="en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ID" dirty="0"/>
          </a:p>
        </p:txBody>
      </p:sp>
      <p:sp>
        <p:nvSpPr>
          <p:cNvPr id="544" name="Google Shape;544;p43"/>
          <p:cNvSpPr txBox="1">
            <a:spLocks noGrp="1"/>
          </p:cNvSpPr>
          <p:nvPr>
            <p:ph type="title"/>
          </p:nvPr>
        </p:nvSpPr>
        <p:spPr>
          <a:xfrm>
            <a:off x="719999" y="544400"/>
            <a:ext cx="4002471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Kekurangan</a:t>
            </a:r>
            <a:r>
              <a:rPr lang="en-US" sz="2800" dirty="0"/>
              <a:t> DBMS</a:t>
            </a:r>
            <a:endParaRPr sz="2800" dirty="0"/>
          </a:p>
        </p:txBody>
      </p:sp>
      <p:cxnSp>
        <p:nvCxnSpPr>
          <p:cNvPr id="545" name="Google Shape;545;p43"/>
          <p:cNvCxnSpPr>
            <a:cxnSpLocks/>
          </p:cNvCxnSpPr>
          <p:nvPr/>
        </p:nvCxnSpPr>
        <p:spPr>
          <a:xfrm flipH="1">
            <a:off x="722050" y="1268050"/>
            <a:ext cx="80181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Google Shape;546;p43"/>
          <p:cNvSpPr/>
          <p:nvPr/>
        </p:nvSpPr>
        <p:spPr>
          <a:xfrm>
            <a:off x="-2119000" y="-1373746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-2119000" y="848254"/>
            <a:ext cx="3061800" cy="30618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490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>
            <a:spLocks noGrp="1"/>
          </p:cNvSpPr>
          <p:nvPr>
            <p:ph type="title"/>
          </p:nvPr>
        </p:nvSpPr>
        <p:spPr>
          <a:xfrm>
            <a:off x="2324167" y="1467050"/>
            <a:ext cx="4682273" cy="14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Manfaat</a:t>
            </a:r>
            <a:endParaRPr sz="6600" dirty="0"/>
          </a:p>
        </p:txBody>
      </p:sp>
      <p:cxnSp>
        <p:nvCxnSpPr>
          <p:cNvPr id="496" name="Google Shape;496;p40"/>
          <p:cNvCxnSpPr/>
          <p:nvPr/>
        </p:nvCxnSpPr>
        <p:spPr>
          <a:xfrm rot="10800000">
            <a:off x="2740500" y="2940050"/>
            <a:ext cx="366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7" name="Google Shape;497;p40"/>
          <p:cNvGrpSpPr/>
          <p:nvPr/>
        </p:nvGrpSpPr>
        <p:grpSpPr>
          <a:xfrm>
            <a:off x="6314117" y="4022106"/>
            <a:ext cx="3437258" cy="1970100"/>
            <a:chOff x="5028217" y="-848394"/>
            <a:chExt cx="3437258" cy="1970100"/>
          </a:xfrm>
        </p:grpSpPr>
        <p:sp>
          <p:nvSpPr>
            <p:cNvPr id="498" name="Google Shape;498;p40"/>
            <p:cNvSpPr/>
            <p:nvPr/>
          </p:nvSpPr>
          <p:spPr>
            <a:xfrm rot="5400000">
              <a:off x="6495375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 rot="5400000">
              <a:off x="5028217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40"/>
          <p:cNvGrpSpPr/>
          <p:nvPr/>
        </p:nvGrpSpPr>
        <p:grpSpPr>
          <a:xfrm>
            <a:off x="-308608" y="-900844"/>
            <a:ext cx="3437258" cy="1970100"/>
            <a:chOff x="5028217" y="-848394"/>
            <a:chExt cx="3437258" cy="1970100"/>
          </a:xfrm>
        </p:grpSpPr>
        <p:sp>
          <p:nvSpPr>
            <p:cNvPr id="501" name="Google Shape;501;p40"/>
            <p:cNvSpPr/>
            <p:nvPr/>
          </p:nvSpPr>
          <p:spPr>
            <a:xfrm rot="5400000">
              <a:off x="6495375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 rot="5400000">
              <a:off x="5028217" y="-848394"/>
              <a:ext cx="1970100" cy="197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38034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 txBox="1">
            <a:spLocks noGrp="1"/>
          </p:cNvSpPr>
          <p:nvPr>
            <p:ph type="subTitle" idx="1"/>
          </p:nvPr>
        </p:nvSpPr>
        <p:spPr>
          <a:xfrm>
            <a:off x="1448244" y="1715450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Mongo DB</a:t>
            </a:r>
            <a:endParaRPr dirty="0"/>
          </a:p>
        </p:txBody>
      </p:sp>
      <p:sp>
        <p:nvSpPr>
          <p:cNvPr id="564" name="Google Shape;564;p45"/>
          <p:cNvSpPr txBox="1">
            <a:spLocks noGrp="1"/>
          </p:cNvSpPr>
          <p:nvPr>
            <p:ph type="subTitle" idx="2"/>
          </p:nvPr>
        </p:nvSpPr>
        <p:spPr>
          <a:xfrm>
            <a:off x="5099421" y="1788118"/>
            <a:ext cx="27681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DBMS</a:t>
            </a:r>
            <a:endParaRPr dirty="0"/>
          </a:p>
        </p:txBody>
      </p:sp>
      <p:sp>
        <p:nvSpPr>
          <p:cNvPr id="565" name="Google Shape;565;p45"/>
          <p:cNvSpPr txBox="1">
            <a:spLocks noGrp="1"/>
          </p:cNvSpPr>
          <p:nvPr>
            <p:ph type="subTitle" idx="3"/>
          </p:nvPr>
        </p:nvSpPr>
        <p:spPr>
          <a:xfrm>
            <a:off x="416689" y="2318518"/>
            <a:ext cx="4491798" cy="17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Performa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Pengelolaan</a:t>
            </a:r>
            <a:r>
              <a:rPr lang="en-ID" dirty="0"/>
              <a:t> Database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Mampu </a:t>
            </a:r>
            <a:r>
              <a:rPr lang="en-ID" dirty="0" err="1"/>
              <a:t>Menampung</a:t>
            </a:r>
            <a:r>
              <a:rPr lang="en-ID" dirty="0"/>
              <a:t> Banyak Data yang </a:t>
            </a:r>
            <a:r>
              <a:rPr lang="en-ID" dirty="0" err="1"/>
              <a:t>Bervariasi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Bisa </a:t>
            </a:r>
            <a:r>
              <a:rPr lang="en-ID" dirty="0" err="1"/>
              <a:t>Mengelola</a:t>
            </a:r>
            <a:r>
              <a:rPr lang="en-ID" dirty="0"/>
              <a:t> Query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i-FI" dirty="0"/>
              <a:t>Memiliki Kemampuan Skalabilitas Sesuai Kebutuhan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Memperbarui</a:t>
            </a:r>
            <a:r>
              <a:rPr lang="en-ID" dirty="0"/>
              <a:t> Skema Data </a:t>
            </a:r>
            <a:r>
              <a:rPr lang="en-ID" dirty="0" err="1"/>
              <a:t>Tanpa</a:t>
            </a:r>
            <a:r>
              <a:rPr lang="en-ID" dirty="0"/>
              <a:t> Downtime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/>
              <a:t>Bisa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Gratis </a:t>
            </a:r>
            <a:endParaRPr dirty="0"/>
          </a:p>
        </p:txBody>
      </p:sp>
      <p:sp>
        <p:nvSpPr>
          <p:cNvPr id="566" name="Google Shape;566;p45"/>
          <p:cNvSpPr txBox="1">
            <a:spLocks noGrp="1"/>
          </p:cNvSpPr>
          <p:nvPr>
            <p:ph type="subTitle" idx="4"/>
          </p:nvPr>
        </p:nvSpPr>
        <p:spPr>
          <a:xfrm>
            <a:off x="5011387" y="2355053"/>
            <a:ext cx="3135085" cy="2616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Redundansi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Keamanan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Pencarian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Inkonsistensi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Berbagi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Akses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dirty="0"/>
              <a:t>Integrasi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n-NO" dirty="0"/>
              <a:t>Cadangan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n-NO" dirty="0"/>
              <a:t>Pengambilan keputusan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n-NO" dirty="0"/>
              <a:t>Menghilangkan kehilangan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rendah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/>
              <a:t>Atomitas</a:t>
            </a:r>
            <a:r>
              <a:rPr lang="en-ID" dirty="0"/>
              <a:t> data</a:t>
            </a:r>
            <a:endParaRPr dirty="0"/>
          </a:p>
        </p:txBody>
      </p:sp>
      <p:sp>
        <p:nvSpPr>
          <p:cNvPr id="567" name="Google Shape;567;p45"/>
          <p:cNvSpPr txBox="1">
            <a:spLocks noGrp="1"/>
          </p:cNvSpPr>
          <p:nvPr>
            <p:ph type="title"/>
          </p:nvPr>
        </p:nvSpPr>
        <p:spPr>
          <a:xfrm>
            <a:off x="720000" y="172411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Manfaat</a:t>
            </a:r>
            <a:endParaRPr dirty="0"/>
          </a:p>
        </p:txBody>
      </p:sp>
      <p:cxnSp>
        <p:nvCxnSpPr>
          <p:cNvPr id="570" name="Google Shape;570;p45"/>
          <p:cNvCxnSpPr/>
          <p:nvPr/>
        </p:nvCxnSpPr>
        <p:spPr>
          <a:xfrm rot="10800000">
            <a:off x="713700" y="844356"/>
            <a:ext cx="771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1" name="Google Shape;571;p45"/>
          <p:cNvGrpSpPr/>
          <p:nvPr/>
        </p:nvGrpSpPr>
        <p:grpSpPr>
          <a:xfrm>
            <a:off x="0" y="2245850"/>
            <a:ext cx="1213500" cy="1766400"/>
            <a:chOff x="0" y="3380425"/>
            <a:chExt cx="1213500" cy="1766400"/>
          </a:xfrm>
        </p:grpSpPr>
        <p:sp>
          <p:nvSpPr>
            <p:cNvPr id="572" name="Google Shape;572;p45"/>
            <p:cNvSpPr/>
            <p:nvPr/>
          </p:nvSpPr>
          <p:spPr>
            <a:xfrm>
              <a:off x="0" y="3380425"/>
              <a:ext cx="1213500" cy="17664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5"/>
            <p:cNvSpPr/>
            <p:nvPr/>
          </p:nvSpPr>
          <p:spPr>
            <a:xfrm>
              <a:off x="102900" y="3530125"/>
              <a:ext cx="1007700" cy="14670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74" name="Google Shape;574;p45"/>
          <p:cNvCxnSpPr/>
          <p:nvPr/>
        </p:nvCxnSpPr>
        <p:spPr>
          <a:xfrm rot="10800000">
            <a:off x="1821047" y="2227497"/>
            <a:ext cx="19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45"/>
          <p:cNvCxnSpPr/>
          <p:nvPr/>
        </p:nvCxnSpPr>
        <p:spPr>
          <a:xfrm rot="10800000">
            <a:off x="5510721" y="2245850"/>
            <a:ext cx="19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1F3FFE-2B73-834D-9F91-62A6E4BF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6" y="1067478"/>
            <a:ext cx="2590445" cy="694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7DB20-C9E5-C5C6-F2BD-7A54ED6C9F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204"/>
          <a:stretch/>
        </p:blipFill>
        <p:spPr>
          <a:xfrm>
            <a:off x="6132598" y="988599"/>
            <a:ext cx="809222" cy="79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6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oogle Shape;1174;p68"/>
          <p:cNvGrpSpPr/>
          <p:nvPr/>
        </p:nvGrpSpPr>
        <p:grpSpPr>
          <a:xfrm>
            <a:off x="4709637" y="1131420"/>
            <a:ext cx="3651000" cy="2880659"/>
            <a:chOff x="4709637" y="1131420"/>
            <a:chExt cx="3651000" cy="2880659"/>
          </a:xfrm>
        </p:grpSpPr>
        <p:sp>
          <p:nvSpPr>
            <p:cNvPr id="1175" name="Google Shape;1175;p68"/>
            <p:cNvSpPr/>
            <p:nvPr/>
          </p:nvSpPr>
          <p:spPr>
            <a:xfrm>
              <a:off x="6143581" y="3491133"/>
              <a:ext cx="783000" cy="474900"/>
            </a:xfrm>
            <a:prstGeom prst="trapezoid">
              <a:avLst>
                <a:gd name="adj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8"/>
            <p:cNvSpPr/>
            <p:nvPr/>
          </p:nvSpPr>
          <p:spPr>
            <a:xfrm>
              <a:off x="4709637" y="1131420"/>
              <a:ext cx="3651000" cy="2528100"/>
            </a:xfrm>
            <a:prstGeom prst="roundRect">
              <a:avLst>
                <a:gd name="adj" fmla="val 8031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8"/>
            <p:cNvSpPr/>
            <p:nvPr/>
          </p:nvSpPr>
          <p:spPr>
            <a:xfrm>
              <a:off x="8017502" y="3342748"/>
              <a:ext cx="148200" cy="1482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68"/>
            <p:cNvSpPr/>
            <p:nvPr/>
          </p:nvSpPr>
          <p:spPr>
            <a:xfrm>
              <a:off x="6011419" y="3938348"/>
              <a:ext cx="1047300" cy="45600"/>
            </a:xfrm>
            <a:prstGeom prst="trapezoid">
              <a:avLst>
                <a:gd name="adj" fmla="val 300052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68"/>
            <p:cNvSpPr/>
            <p:nvPr/>
          </p:nvSpPr>
          <p:spPr>
            <a:xfrm>
              <a:off x="6010248" y="3980279"/>
              <a:ext cx="1047300" cy="318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8"/>
            <p:cNvSpPr/>
            <p:nvPr/>
          </p:nvSpPr>
          <p:spPr>
            <a:xfrm>
              <a:off x="7822876" y="3370599"/>
              <a:ext cx="92400" cy="92400"/>
            </a:xfrm>
            <a:prstGeom prst="ellipse">
              <a:avLst/>
            </a:pr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1" name="Google Shape;1181;p68"/>
          <p:cNvSpPr txBox="1">
            <a:spLocks noGrp="1"/>
          </p:cNvSpPr>
          <p:nvPr>
            <p:ph type="subTitle" idx="1"/>
          </p:nvPr>
        </p:nvSpPr>
        <p:spPr>
          <a:xfrm>
            <a:off x="720000" y="2455550"/>
            <a:ext cx="3861600" cy="9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WES</a:t>
            </a:r>
            <a:r>
              <a:rPr lang="en" dirty="0"/>
              <a:t> </a:t>
            </a:r>
            <a:endParaRPr dirty="0"/>
          </a:p>
        </p:txBody>
      </p:sp>
      <p:sp>
        <p:nvSpPr>
          <p:cNvPr id="1182" name="Google Shape;1182;p68"/>
          <p:cNvSpPr txBox="1">
            <a:spLocks noGrp="1"/>
          </p:cNvSpPr>
          <p:nvPr>
            <p:ph type="title"/>
          </p:nvPr>
        </p:nvSpPr>
        <p:spPr>
          <a:xfrm>
            <a:off x="720000" y="1611325"/>
            <a:ext cx="38616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T</a:t>
            </a:r>
            <a:r>
              <a:rPr lang="en" dirty="0"/>
              <a:t>erima Kasih</a:t>
            </a:r>
            <a:endParaRPr dirty="0"/>
          </a:p>
        </p:txBody>
      </p:sp>
      <p:cxnSp>
        <p:nvCxnSpPr>
          <p:cNvPr id="1184" name="Google Shape;1184;p68"/>
          <p:cNvCxnSpPr/>
          <p:nvPr/>
        </p:nvCxnSpPr>
        <p:spPr>
          <a:xfrm rot="10800000">
            <a:off x="720125" y="2379350"/>
            <a:ext cx="376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5" name="Google Shape;1185;p68"/>
          <p:cNvGrpSpPr/>
          <p:nvPr/>
        </p:nvGrpSpPr>
        <p:grpSpPr>
          <a:xfrm rot="5400000">
            <a:off x="748675" y="-2939525"/>
            <a:ext cx="2832900" cy="5089000"/>
            <a:chOff x="-2117800" y="-126050"/>
            <a:chExt cx="2832900" cy="5089000"/>
          </a:xfrm>
        </p:grpSpPr>
        <p:sp>
          <p:nvSpPr>
            <p:cNvPr id="1186" name="Google Shape;1186;p68"/>
            <p:cNvSpPr/>
            <p:nvPr/>
          </p:nvSpPr>
          <p:spPr>
            <a:xfrm>
              <a:off x="-2117800" y="100200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68"/>
            <p:cNvSpPr/>
            <p:nvPr/>
          </p:nvSpPr>
          <p:spPr>
            <a:xfrm>
              <a:off x="-2117800" y="2130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8"/>
            <p:cNvSpPr/>
            <p:nvPr/>
          </p:nvSpPr>
          <p:spPr>
            <a:xfrm>
              <a:off x="-2117800" y="-126050"/>
              <a:ext cx="2832900" cy="28329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C4CB4BE-131B-C686-06D5-BFE6CD1D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051" y="2624137"/>
            <a:ext cx="2591025" cy="6950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DF4D88-0DD2-F8E8-27A4-C513C8BEC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48" y="1313292"/>
            <a:ext cx="1206071" cy="12060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3 Business Bucket List by Slidesgo">
  <a:themeElements>
    <a:clrScheme name="Simple Light">
      <a:dk1>
        <a:srgbClr val="000000"/>
      </a:dk1>
      <a:lt1>
        <a:srgbClr val="FFFFFF"/>
      </a:lt1>
      <a:dk2>
        <a:srgbClr val="F4EDDA"/>
      </a:dk2>
      <a:lt2>
        <a:srgbClr val="F5E8C4"/>
      </a:lt2>
      <a:accent1>
        <a:srgbClr val="D3C5A3"/>
      </a:accent1>
      <a:accent2>
        <a:srgbClr val="B1AFE2"/>
      </a:accent2>
      <a:accent3>
        <a:srgbClr val="8E88BE"/>
      </a:accent3>
      <a:accent4>
        <a:srgbClr val="676494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1300</Words>
  <Application>Microsoft Office PowerPoint</Application>
  <PresentationFormat>On-screen Show (16:9)</PresentationFormat>
  <Paragraphs>180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Nunito</vt:lpstr>
      <vt:lpstr>Bebas Neue</vt:lpstr>
      <vt:lpstr>Baskervville</vt:lpstr>
      <vt:lpstr>2023 Business Bucket List by Slidesgo</vt:lpstr>
      <vt:lpstr>Perbedaan  RDMS(MySQL)   DBMS(MongoDB)</vt:lpstr>
      <vt:lpstr>01</vt:lpstr>
      <vt:lpstr>Pengertian</vt:lpstr>
      <vt:lpstr>Pengertian MySQL</vt:lpstr>
      <vt:lpstr>Pengertian RDBMS</vt:lpstr>
      <vt:lpstr>Fitur</vt:lpstr>
      <vt:lpstr>Fitur </vt:lpstr>
      <vt:lpstr>Sejarah My SQL</vt:lpstr>
      <vt:lpstr>Sejarah My SQL</vt:lpstr>
      <vt:lpstr>Sejarah RDBMS</vt:lpstr>
      <vt:lpstr>Kelebihan dan kekurangan My SQL</vt:lpstr>
      <vt:lpstr>Kelebihan MySQL </vt:lpstr>
      <vt:lpstr>Kekurangan MySQL </vt:lpstr>
      <vt:lpstr>Kelebihan dan kekurangan RDBMS</vt:lpstr>
      <vt:lpstr>Kelebihan RDBMS </vt:lpstr>
      <vt:lpstr>Kekurangan RDBMS </vt:lpstr>
      <vt:lpstr>Manfaat</vt:lpstr>
      <vt:lpstr>Manfaat</vt:lpstr>
      <vt:lpstr>Pengertian</vt:lpstr>
      <vt:lpstr>Pengertian MongoDB</vt:lpstr>
      <vt:lpstr>Pengertian DBMS</vt:lpstr>
      <vt:lpstr>Fitur</vt:lpstr>
      <vt:lpstr>Fitur </vt:lpstr>
      <vt:lpstr>Sejarah Mongo DB</vt:lpstr>
      <vt:lpstr>Sejarah Mongo DB</vt:lpstr>
      <vt:lpstr>Sejarah DBMS</vt:lpstr>
      <vt:lpstr>Kelebihan dan kekurangan Mongo DB</vt:lpstr>
      <vt:lpstr>Kelebihan Mongo DB </vt:lpstr>
      <vt:lpstr>Kekurangan Mongo DB </vt:lpstr>
      <vt:lpstr>Kelebihan dan kekurangan DBMS</vt:lpstr>
      <vt:lpstr>Kelebihan DBMS </vt:lpstr>
      <vt:lpstr>Kekurangan DBMS</vt:lpstr>
      <vt:lpstr>Manfaat</vt:lpstr>
      <vt:lpstr>Manfaat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Perbedaan  RDMS(MySQL)   DBMS(MongoDB)</dc:title>
  <cp:lastModifiedBy>DM-09</cp:lastModifiedBy>
  <cp:revision>8</cp:revision>
  <dcterms:modified xsi:type="dcterms:W3CDTF">2023-02-03T13:33:14Z</dcterms:modified>
</cp:coreProperties>
</file>