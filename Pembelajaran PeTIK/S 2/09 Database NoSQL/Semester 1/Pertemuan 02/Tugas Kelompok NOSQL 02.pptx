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sldIdLst>
    <p:sldId id="257" r:id="rId2"/>
    <p:sldId id="272" r:id="rId3"/>
    <p:sldId id="271" r:id="rId4"/>
    <p:sldId id="273" r:id="rId5"/>
    <p:sldId id="267" r:id="rId6"/>
    <p:sldId id="280" r:id="rId7"/>
    <p:sldId id="281" r:id="rId8"/>
    <p:sldId id="259" r:id="rId9"/>
    <p:sldId id="275" r:id="rId10"/>
    <p:sldId id="268" r:id="rId11"/>
    <p:sldId id="276" r:id="rId12"/>
    <p:sldId id="277" r:id="rId13"/>
    <p:sldId id="278" r:id="rId14"/>
    <p:sldId id="269" r:id="rId15"/>
    <p:sldId id="260" r:id="rId16"/>
    <p:sldId id="279" r:id="rId17"/>
    <p:sldId id="2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73" autoAdjust="0"/>
    <p:restoredTop sz="94660"/>
  </p:normalViewPr>
  <p:slideViewPr>
    <p:cSldViewPr snapToGrid="0">
      <p:cViewPr varScale="1">
        <p:scale>
          <a:sx n="55" d="100"/>
          <a:sy n="55" d="100"/>
        </p:scale>
        <p:origin x="2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678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2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669AF7-7BEB-44E4-9852-375E34362B5B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4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7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07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93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2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0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2/1/2023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4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86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89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8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lgorit.ma/blog/tipe-nosql-2022/" TargetMode="External"/><Relationship Id="rId2" Type="http://schemas.openxmlformats.org/officeDocument/2006/relationships/hyperlink" Target="https://aws.amazon.com/id/nosql/" TargetMode="Externa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9050" y="2097385"/>
            <a:ext cx="5939450" cy="1399031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Database no </a:t>
            </a:r>
            <a:r>
              <a:rPr lang="en-US" sz="8000" dirty="0" err="1"/>
              <a:t>sql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9050" y="3499989"/>
            <a:ext cx="5680165" cy="322519"/>
          </a:xfrm>
        </p:spPr>
        <p:txBody>
          <a:bodyPr>
            <a:normAutofit fontScale="92500"/>
          </a:bodyPr>
          <a:lstStyle/>
          <a:p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Moechammad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Feirdaus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Afriliyan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|| Abdullah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Qa'id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Mu'aadz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23C7AC-1D32-1536-C5E5-2DD33C56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19" y="2097385"/>
            <a:ext cx="3168369" cy="1303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3A7E79-DD8B-E6EF-52C6-C02D7316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702"/>
            <a:ext cx="1118420" cy="53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870630" y="3208526"/>
            <a:ext cx="42436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641CC1-490C-E5D2-B71E-056EB3AFCF29}"/>
              </a:ext>
            </a:extLst>
          </p:cNvPr>
          <p:cNvSpPr txBox="1"/>
          <p:nvPr/>
        </p:nvSpPr>
        <p:spPr>
          <a:xfrm>
            <a:off x="1771777" y="1999484"/>
            <a:ext cx="8648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5400" dirty="0" err="1"/>
              <a:t>Apa</a:t>
            </a:r>
            <a:r>
              <a:rPr lang="en-ID" sz="5400" dirty="0"/>
              <a:t> </a:t>
            </a:r>
            <a:r>
              <a:rPr lang="en-ID" sz="5400" dirty="0" err="1"/>
              <a:t>itu</a:t>
            </a:r>
            <a:r>
              <a:rPr lang="en-ID" sz="5400" dirty="0"/>
              <a:t> Database No SQL?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D88ED-2851-A194-D817-990B3DC83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5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EB54C-F214-60A1-DD5A-5C7872B68D8E}"/>
              </a:ext>
            </a:extLst>
          </p:cNvPr>
          <p:cNvSpPr txBox="1"/>
          <p:nvPr/>
        </p:nvSpPr>
        <p:spPr>
          <a:xfrm>
            <a:off x="1020338" y="527549"/>
            <a:ext cx="5075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Apa</a:t>
            </a:r>
            <a:r>
              <a:rPr lang="en-ID" sz="3200" dirty="0"/>
              <a:t> </a:t>
            </a:r>
            <a:r>
              <a:rPr lang="en-ID" sz="3200" dirty="0" err="1"/>
              <a:t>itu</a:t>
            </a:r>
            <a:r>
              <a:rPr lang="en-ID" sz="3200" dirty="0"/>
              <a:t> Database No SQL?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9" y="1602691"/>
            <a:ext cx="99771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Database NoSQL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dibuat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dengan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tujuan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khusus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untuk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model data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spesifik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dan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memiliki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skema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fleksibel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untuk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membuat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aplikasi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modern.</a:t>
            </a:r>
          </a:p>
          <a:p>
            <a:endParaRPr lang="en-ID" dirty="0">
              <a:solidFill>
                <a:srgbClr val="232F3E"/>
              </a:solidFill>
              <a:latin typeface="Rockwell (body)"/>
            </a:endParaRPr>
          </a:p>
          <a:p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hadirnya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NoSQL pada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tahun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1998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dimaksudkan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untuk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memperbaiki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kekurangan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SQL</a:t>
            </a:r>
          </a:p>
          <a:p>
            <a:endParaRPr lang="en-ID" dirty="0">
              <a:solidFill>
                <a:srgbClr val="232F3E"/>
              </a:solidFill>
              <a:latin typeface="Rockwell (body)"/>
            </a:endParaRPr>
          </a:p>
          <a:p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Database NoSQL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dikenal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secara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luas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karena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kemudahan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pengembangan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,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fungsionalitas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, dan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kinerja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dalam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berbagai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skala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. Halaman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ini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menyertakan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sumber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daya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untuk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membantu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Anda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memahami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lebih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baik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database NoSQL dan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mulai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 </a:t>
            </a:r>
            <a:r>
              <a:rPr lang="en-ID" b="0" i="0" dirty="0" err="1">
                <a:solidFill>
                  <a:srgbClr val="232F3E"/>
                </a:solidFill>
                <a:effectLst/>
                <a:latin typeface="Rockwell (body)"/>
              </a:rPr>
              <a:t>menggunakannya</a:t>
            </a:r>
            <a:r>
              <a:rPr lang="en-ID" b="0" i="0" dirty="0">
                <a:solidFill>
                  <a:srgbClr val="232F3E"/>
                </a:solidFill>
                <a:effectLst/>
                <a:latin typeface="Rockwell (body)"/>
              </a:rPr>
              <a:t>.</a:t>
            </a:r>
            <a:endParaRPr lang="en-ID" dirty="0">
              <a:latin typeface="Rockwell (body)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D94A63-1A5F-EA26-554C-5FEDCAA0CCC2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80292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9B5F661-DE35-1887-030A-5307EECF1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48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1059543" y="2481867"/>
            <a:ext cx="10072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Kenapa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database NoSQL? </a:t>
            </a:r>
            <a:endParaRPr lang="en-ID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4513943" y="3208526"/>
            <a:ext cx="358502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676A8BB-2951-7C7C-FF07-937ED13F9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8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05526F-C6C2-EC48-271A-8D446564A607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955544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DAA850-BA4B-BD38-2A20-1D091B733CA9}"/>
              </a:ext>
            </a:extLst>
          </p:cNvPr>
          <p:cNvSpPr txBox="1"/>
          <p:nvPr/>
        </p:nvSpPr>
        <p:spPr>
          <a:xfrm>
            <a:off x="1261487" y="1392225"/>
            <a:ext cx="156754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4000" dirty="0"/>
              <a:t>01</a:t>
            </a:r>
          </a:p>
          <a:p>
            <a:r>
              <a:rPr lang="en-ID" dirty="0" err="1"/>
              <a:t>Fleksibilitas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6278D0-0421-F8F9-07E1-3E7DDA4121F4}"/>
              </a:ext>
            </a:extLst>
          </p:cNvPr>
          <p:cNvSpPr txBox="1"/>
          <p:nvPr/>
        </p:nvSpPr>
        <p:spPr>
          <a:xfrm>
            <a:off x="3461657" y="1911505"/>
            <a:ext cx="1422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4000" dirty="0"/>
              <a:t>02</a:t>
            </a:r>
          </a:p>
          <a:p>
            <a:r>
              <a:rPr lang="en-ID" dirty="0" err="1"/>
              <a:t>Skalabilitas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85F99-0248-2997-EC35-E3F5BF07E61C}"/>
              </a:ext>
            </a:extLst>
          </p:cNvPr>
          <p:cNvSpPr txBox="1"/>
          <p:nvPr/>
        </p:nvSpPr>
        <p:spPr>
          <a:xfrm>
            <a:off x="5636672" y="2377109"/>
            <a:ext cx="165462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4000" dirty="0"/>
              <a:t>03</a:t>
            </a:r>
          </a:p>
          <a:p>
            <a:r>
              <a:rPr lang="en-ID" dirty="0"/>
              <a:t>Kinerja </a:t>
            </a:r>
            <a:r>
              <a:rPr lang="en-ID" dirty="0" err="1"/>
              <a:t>tinggi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72887-DB10-5E1C-397E-762904D5A255}"/>
              </a:ext>
            </a:extLst>
          </p:cNvPr>
          <p:cNvSpPr txBox="1"/>
          <p:nvPr/>
        </p:nvSpPr>
        <p:spPr>
          <a:xfrm>
            <a:off x="8043915" y="2756567"/>
            <a:ext cx="256902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4000" dirty="0"/>
              <a:t>04</a:t>
            </a:r>
          </a:p>
          <a:p>
            <a:r>
              <a:rPr lang="en-ID" dirty="0" err="1"/>
              <a:t>Fungsionalitas</a:t>
            </a:r>
            <a:r>
              <a:rPr lang="en-ID" dirty="0"/>
              <a:t> </a:t>
            </a:r>
            <a:r>
              <a:rPr lang="en-ID" dirty="0" err="1"/>
              <a:t>tinggi</a:t>
            </a:r>
            <a:endParaRPr lang="en-ID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9628D6-6574-64AE-5959-60368A269820}"/>
              </a:ext>
            </a:extLst>
          </p:cNvPr>
          <p:cNvSpPr txBox="1"/>
          <p:nvPr/>
        </p:nvSpPr>
        <p:spPr>
          <a:xfrm>
            <a:off x="798288" y="420837"/>
            <a:ext cx="10072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Kenapa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harus</a:t>
            </a:r>
            <a:r>
              <a:rPr lang="en-US" sz="3200" dirty="0"/>
              <a:t> </a:t>
            </a:r>
            <a:r>
              <a:rPr lang="en-US" sz="3200" dirty="0" err="1"/>
              <a:t>menggunakan</a:t>
            </a:r>
            <a:r>
              <a:rPr lang="en-US" sz="3200" dirty="0"/>
              <a:t> database NoSQL? </a:t>
            </a:r>
            <a:endParaRPr lang="en-ID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14E99-A2A8-A54C-C529-CFA9E86DA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24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2282719" y="2481867"/>
            <a:ext cx="7691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Bagaimana</a:t>
            </a:r>
            <a:r>
              <a:rPr lang="en-US" sz="3200" dirty="0"/>
              <a:t> Cara </a:t>
            </a:r>
            <a:r>
              <a:rPr lang="en-US" sz="3200" dirty="0" err="1"/>
              <a:t>kerja</a:t>
            </a:r>
            <a:r>
              <a:rPr lang="en-US" sz="3200" dirty="0"/>
              <a:t> database NoSQL? </a:t>
            </a:r>
            <a:endParaRPr lang="en-ID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860800" y="3208526"/>
            <a:ext cx="422365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2D77A1E-25DC-9D67-FA39-D06A5347F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59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05526F-C6C2-EC48-271A-8D446564A607}"/>
              </a:ext>
            </a:extLst>
          </p:cNvPr>
          <p:cNvCxnSpPr>
            <a:cxnSpLocks/>
          </p:cNvCxnSpPr>
          <p:nvPr/>
        </p:nvCxnSpPr>
        <p:spPr>
          <a:xfrm>
            <a:off x="2045258" y="1086199"/>
            <a:ext cx="74464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3DAA850-BA4B-BD38-2A20-1D091B733CA9}"/>
              </a:ext>
            </a:extLst>
          </p:cNvPr>
          <p:cNvSpPr txBox="1"/>
          <p:nvPr/>
        </p:nvSpPr>
        <p:spPr>
          <a:xfrm>
            <a:off x="1136069" y="1551214"/>
            <a:ext cx="99198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Database NoSQL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beragam</a:t>
            </a:r>
            <a:r>
              <a:rPr lang="en-ID" dirty="0"/>
              <a:t> model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dan </a:t>
            </a:r>
            <a:r>
              <a:rPr lang="en-ID" dirty="0" err="1"/>
              <a:t>mengelola</a:t>
            </a:r>
            <a:r>
              <a:rPr lang="en-ID" dirty="0"/>
              <a:t> data. </a:t>
            </a:r>
            <a:r>
              <a:rPr lang="en-ID" dirty="0" err="1"/>
              <a:t>Jenis</a:t>
            </a:r>
            <a:r>
              <a:rPr lang="en-ID" dirty="0"/>
              <a:t> database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dioptimalkan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memerlukan</a:t>
            </a:r>
            <a:r>
              <a:rPr lang="en-ID" dirty="0"/>
              <a:t> volume data </a:t>
            </a:r>
            <a:r>
              <a:rPr lang="en-ID" dirty="0" err="1"/>
              <a:t>besar</a:t>
            </a:r>
            <a:r>
              <a:rPr lang="en-ID" dirty="0"/>
              <a:t>, </a:t>
            </a:r>
            <a:r>
              <a:rPr lang="en-ID" dirty="0" err="1"/>
              <a:t>latensi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, dan model data </a:t>
            </a:r>
            <a:r>
              <a:rPr lang="en-ID" dirty="0" err="1"/>
              <a:t>fleksibel</a:t>
            </a:r>
            <a:r>
              <a:rPr lang="en-ID" dirty="0"/>
              <a:t>, yang </a:t>
            </a:r>
            <a:r>
              <a:rPr lang="en-ID" dirty="0" err="1"/>
              <a:t>dicapai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pembatasan</a:t>
            </a:r>
            <a:r>
              <a:rPr lang="en-ID" dirty="0"/>
              <a:t> </a:t>
            </a:r>
            <a:r>
              <a:rPr lang="en-ID" dirty="0" err="1"/>
              <a:t>konsistensi</a:t>
            </a:r>
            <a:r>
              <a:rPr lang="en-ID" dirty="0"/>
              <a:t> data </a:t>
            </a:r>
            <a:r>
              <a:rPr lang="en-ID" dirty="0" err="1"/>
              <a:t>dari</a:t>
            </a:r>
            <a:r>
              <a:rPr lang="en-ID" dirty="0"/>
              <a:t> database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Dalam</a:t>
            </a:r>
            <a:r>
              <a:rPr lang="en-ID" dirty="0"/>
              <a:t> database NoSQL, </a:t>
            </a:r>
            <a:r>
              <a:rPr lang="en-ID" dirty="0" err="1"/>
              <a:t>catatan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JSON.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, item, ISBN, </a:t>
            </a:r>
            <a:r>
              <a:rPr lang="en-ID" dirty="0" err="1"/>
              <a:t>Judul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, </a:t>
            </a:r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Edisi</a:t>
            </a:r>
            <a:r>
              <a:rPr lang="en-ID" dirty="0"/>
              <a:t>, Nama </a:t>
            </a:r>
            <a:r>
              <a:rPr lang="en-ID" dirty="0" err="1"/>
              <a:t>Penulis</a:t>
            </a:r>
            <a:r>
              <a:rPr lang="en-ID" dirty="0"/>
              <a:t>, dan </a:t>
            </a:r>
            <a:r>
              <a:rPr lang="en-ID" dirty="0" err="1"/>
              <a:t>IDPenulis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tunggal</a:t>
            </a:r>
            <a:r>
              <a:rPr lang="en-ID" dirty="0"/>
              <a:t>. </a:t>
            </a:r>
            <a:r>
              <a:rPr lang="en-ID" dirty="0" err="1"/>
              <a:t>Dalam</a:t>
            </a:r>
            <a:r>
              <a:rPr lang="en-ID" dirty="0"/>
              <a:t> model </a:t>
            </a:r>
            <a:r>
              <a:rPr lang="en-ID" dirty="0" err="1"/>
              <a:t>ini</a:t>
            </a:r>
            <a:r>
              <a:rPr lang="en-ID" dirty="0"/>
              <a:t>, data </a:t>
            </a:r>
            <a:r>
              <a:rPr lang="en-ID" dirty="0" err="1"/>
              <a:t>dioptimalkan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</a:t>
            </a:r>
            <a:r>
              <a:rPr lang="en-ID" dirty="0" err="1"/>
              <a:t>intuitif</a:t>
            </a:r>
            <a:r>
              <a:rPr lang="en-ID" dirty="0"/>
              <a:t> dan </a:t>
            </a:r>
            <a:r>
              <a:rPr lang="en-ID" dirty="0" err="1"/>
              <a:t>skalabilitas</a:t>
            </a:r>
            <a:r>
              <a:rPr lang="en-ID" dirty="0"/>
              <a:t> horizontal.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47B03A-756E-9B07-4D60-BC878E3D1CC0}"/>
              </a:ext>
            </a:extLst>
          </p:cNvPr>
          <p:cNvSpPr txBox="1"/>
          <p:nvPr/>
        </p:nvSpPr>
        <p:spPr>
          <a:xfrm>
            <a:off x="1968655" y="477562"/>
            <a:ext cx="76791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Bagaimana</a:t>
            </a:r>
            <a:r>
              <a:rPr lang="en-US" sz="3200" dirty="0"/>
              <a:t> Cara </a:t>
            </a:r>
            <a:r>
              <a:rPr lang="en-US" sz="3200" dirty="0" err="1"/>
              <a:t>kerja</a:t>
            </a:r>
            <a:r>
              <a:rPr lang="en-US" sz="3200" dirty="0"/>
              <a:t> database NoSQL? 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E57241-F57A-29FD-68F8-9F18E57BD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09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2427485" y="2285196"/>
            <a:ext cx="7337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/>
              <a:t>Jenis</a:t>
            </a:r>
            <a:r>
              <a:rPr lang="en-US" sz="5400" dirty="0"/>
              <a:t> Database No SQL</a:t>
            </a:r>
            <a:endParaRPr lang="en-ID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4862286" y="3208526"/>
            <a:ext cx="261257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9ABE17F-30E2-9CF6-746C-67B7B9D1D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91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344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3EC1D0-CFA8-2251-C6C7-779D3F29D6FA}"/>
              </a:ext>
            </a:extLst>
          </p:cNvPr>
          <p:cNvSpPr txBox="1"/>
          <p:nvPr/>
        </p:nvSpPr>
        <p:spPr>
          <a:xfrm>
            <a:off x="3738555" y="2005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Nilai-</a:t>
            </a:r>
            <a:r>
              <a:rPr lang="en-ID" b="1" dirty="0" err="1"/>
              <a:t>kunci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00CC-0312-6E35-AEAE-A8CCCE881556}"/>
              </a:ext>
            </a:extLst>
          </p:cNvPr>
          <p:cNvSpPr txBox="1"/>
          <p:nvPr/>
        </p:nvSpPr>
        <p:spPr>
          <a:xfrm>
            <a:off x="3738555" y="25085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 Database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dipartisi</a:t>
            </a:r>
            <a:r>
              <a:rPr lang="en-ID" dirty="0"/>
              <a:t> dan </a:t>
            </a:r>
            <a:r>
              <a:rPr lang="en-ID" dirty="0" err="1"/>
              <a:t>memungkinkan</a:t>
            </a:r>
            <a:r>
              <a:rPr lang="en-ID" dirty="0"/>
              <a:t> </a:t>
            </a:r>
            <a:r>
              <a:rPr lang="en-ID" dirty="0" err="1"/>
              <a:t>pengembangan</a:t>
            </a:r>
            <a:r>
              <a:rPr lang="en-ID" dirty="0"/>
              <a:t> horizontal pada </a:t>
            </a:r>
            <a:r>
              <a:rPr lang="en-ID" dirty="0" err="1"/>
              <a:t>skala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dicapai</a:t>
            </a:r>
            <a:r>
              <a:rPr lang="en-ID" dirty="0"/>
              <a:t> oleh </a:t>
            </a:r>
            <a:r>
              <a:rPr lang="en-ID" dirty="0" err="1"/>
              <a:t>jenis</a:t>
            </a:r>
            <a:r>
              <a:rPr lang="en-ID" dirty="0"/>
              <a:t> database lain.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9AA48-774E-048A-E3A2-6873DA90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9" y="2127556"/>
            <a:ext cx="1219199" cy="12191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85B539-76FC-DC43-0487-17A001017D52}"/>
              </a:ext>
            </a:extLst>
          </p:cNvPr>
          <p:cNvSpPr txBox="1"/>
          <p:nvPr/>
        </p:nvSpPr>
        <p:spPr>
          <a:xfrm>
            <a:off x="1083529" y="517707"/>
            <a:ext cx="4481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Jenis</a:t>
            </a:r>
            <a:r>
              <a:rPr lang="en-US" sz="3200" dirty="0"/>
              <a:t> Database No SQL</a:t>
            </a:r>
            <a:endParaRPr lang="en-ID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EFEC69-8209-7FA1-2B3F-BFB887C99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02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3EC1D0-CFA8-2251-C6C7-779D3F29D6FA}"/>
              </a:ext>
            </a:extLst>
          </p:cNvPr>
          <p:cNvSpPr txBox="1"/>
          <p:nvPr/>
        </p:nvSpPr>
        <p:spPr>
          <a:xfrm>
            <a:off x="3738555" y="2005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</a:t>
            </a:r>
            <a:r>
              <a:rPr lang="en-ID" b="1" dirty="0" err="1"/>
              <a:t>okumen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00CC-0312-6E35-AEAE-A8CCCE881556}"/>
              </a:ext>
            </a:extLst>
          </p:cNvPr>
          <p:cNvSpPr txBox="1"/>
          <p:nvPr/>
        </p:nvSpPr>
        <p:spPr>
          <a:xfrm>
            <a:off x="3738555" y="237459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, data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diwakilkan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JSON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model data yang </a:t>
            </a:r>
            <a:r>
              <a:rPr lang="en-ID" dirty="0" err="1"/>
              <a:t>efisien</a:t>
            </a:r>
            <a:r>
              <a:rPr lang="en-ID" dirty="0"/>
              <a:t> dan </a:t>
            </a:r>
            <a:r>
              <a:rPr lang="en-ID" dirty="0" err="1"/>
              <a:t>intuitif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pengembang</a:t>
            </a:r>
            <a:r>
              <a:rPr lang="en-ID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0F0B8-259C-507B-17FA-B760E09C5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120" y="2212756"/>
            <a:ext cx="1264920" cy="12649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42CB30-3CE8-B6C2-9B32-860E24D74309}"/>
              </a:ext>
            </a:extLst>
          </p:cNvPr>
          <p:cNvSpPr txBox="1"/>
          <p:nvPr/>
        </p:nvSpPr>
        <p:spPr>
          <a:xfrm>
            <a:off x="1083529" y="517707"/>
            <a:ext cx="4481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Jenis</a:t>
            </a:r>
            <a:r>
              <a:rPr lang="en-US" sz="3200" dirty="0"/>
              <a:t> Database No SQL</a:t>
            </a:r>
            <a:endParaRPr lang="en-ID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06A20-5070-6344-59AC-64D424DFC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7C5BC-D3D7-FD81-0263-1714F5FDEFBB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344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72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3EC1D0-CFA8-2251-C6C7-779D3F29D6FA}"/>
              </a:ext>
            </a:extLst>
          </p:cNvPr>
          <p:cNvSpPr txBox="1"/>
          <p:nvPr/>
        </p:nvSpPr>
        <p:spPr>
          <a:xfrm>
            <a:off x="3738555" y="2005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Grafik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00CC-0312-6E35-AEAE-A8CCCE881556}"/>
              </a:ext>
            </a:extLst>
          </p:cNvPr>
          <p:cNvSpPr txBox="1"/>
          <p:nvPr/>
        </p:nvSpPr>
        <p:spPr>
          <a:xfrm>
            <a:off x="3738555" y="23745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Database grafik bertujuan agar membuat dan menjalankan aplikasi yang berjalan dengan dataset yang selalu terhubung menjadi lebih mudah</a:t>
            </a: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27F260-5D76-E39A-05AF-65BB38E0D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096700"/>
            <a:ext cx="13716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681D23-0D72-70D1-2EE7-FE8EC3EE7E18}"/>
              </a:ext>
            </a:extLst>
          </p:cNvPr>
          <p:cNvSpPr txBox="1"/>
          <p:nvPr/>
        </p:nvSpPr>
        <p:spPr>
          <a:xfrm>
            <a:off x="1083529" y="517707"/>
            <a:ext cx="4481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Jenis</a:t>
            </a:r>
            <a:r>
              <a:rPr lang="en-US" sz="3200" dirty="0"/>
              <a:t> Database No SQL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CB3D6-784E-49A3-FE05-E534A206B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61F5B3-9351-D0F2-D068-6788509D30FB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344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632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3EC1D0-CFA8-2251-C6C7-779D3F29D6FA}"/>
              </a:ext>
            </a:extLst>
          </p:cNvPr>
          <p:cNvSpPr txBox="1"/>
          <p:nvPr/>
        </p:nvSpPr>
        <p:spPr>
          <a:xfrm>
            <a:off x="3738555" y="2005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memori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00CC-0312-6E35-AEAE-A8CCCE881556}"/>
              </a:ext>
            </a:extLst>
          </p:cNvPr>
          <p:cNvSpPr txBox="1"/>
          <p:nvPr/>
        </p:nvSpPr>
        <p:spPr>
          <a:xfrm>
            <a:off x="3738555" y="237459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Aplikasi gaming dan teknologi iklan memiliki kasus penggunaan seperti leaderboard, penyimpanan sesi, dan analisis real-time yang memerlukan waktu respons milidetik dan dapat setiap saat memiliki puncak lalu lintas yang besar.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62A134-B804-0276-E66C-335D67244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45" y="2129690"/>
            <a:ext cx="1066800" cy="1066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32D805-EEA9-FB2C-A657-D650FE800D30}"/>
              </a:ext>
            </a:extLst>
          </p:cNvPr>
          <p:cNvSpPr txBox="1"/>
          <p:nvPr/>
        </p:nvSpPr>
        <p:spPr>
          <a:xfrm>
            <a:off x="1083529" y="517707"/>
            <a:ext cx="4481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Jenis</a:t>
            </a:r>
            <a:r>
              <a:rPr lang="en-US" sz="3200" dirty="0"/>
              <a:t> Database No SQL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06F11-2304-F7C2-7016-75E89FEEF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C2B742-CAD7-DFD4-A455-BB6B16E85EF9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344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454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3EC1D0-CFA8-2251-C6C7-779D3F29D6FA}"/>
              </a:ext>
            </a:extLst>
          </p:cNvPr>
          <p:cNvSpPr txBox="1"/>
          <p:nvPr/>
        </p:nvSpPr>
        <p:spPr>
          <a:xfrm>
            <a:off x="3738555" y="2005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Pencarian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00CC-0312-6E35-AEAE-A8CCCE881556}"/>
              </a:ext>
            </a:extLst>
          </p:cNvPr>
          <p:cNvSpPr txBox="1"/>
          <p:nvPr/>
        </p:nvSpPr>
        <p:spPr>
          <a:xfrm>
            <a:off x="3738555" y="23745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Beberapa output aplikasi dicatat untuk membantu pengembang untuk memecahkan masalah</a:t>
            </a: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81171F-7792-6014-C74B-570887FC6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31" y="2189926"/>
            <a:ext cx="1239067" cy="1239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DCBF20-BA1C-5CEE-0935-E9C6ADD1560D}"/>
              </a:ext>
            </a:extLst>
          </p:cNvPr>
          <p:cNvSpPr txBox="1"/>
          <p:nvPr/>
        </p:nvSpPr>
        <p:spPr>
          <a:xfrm>
            <a:off x="1083529" y="517707"/>
            <a:ext cx="4481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Jenis</a:t>
            </a:r>
            <a:r>
              <a:rPr lang="en-US" sz="3200" dirty="0"/>
              <a:t> Database No SQL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1D285-50FD-C8CF-032A-1CA4E3E5B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EF2014-7662-61D7-7F46-F846CD8ED400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34481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2659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1732548" y="2200583"/>
            <a:ext cx="9240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Kelebihan</a:t>
            </a:r>
            <a:r>
              <a:rPr lang="en-ID" sz="5400" dirty="0"/>
              <a:t> dan </a:t>
            </a:r>
            <a:r>
              <a:rPr lang="en-ID" sz="5400" dirty="0" err="1"/>
              <a:t>kekurangan</a:t>
            </a:r>
            <a:endParaRPr lang="en-ID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4637314" y="3208526"/>
            <a:ext cx="28738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F3DD6FA-9B96-6262-445D-1AA2A3638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0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8" y="1602691"/>
            <a:ext cx="8947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skalabilitas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dan cost </a:t>
            </a:r>
            <a:r>
              <a:rPr lang="en-ID" dirty="0" err="1"/>
              <a:t>efektif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database dan sangat </a:t>
            </a:r>
            <a:r>
              <a:rPr lang="en-ID" dirty="0" err="1"/>
              <a:t>fleksibel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Performa </a:t>
            </a:r>
            <a:r>
              <a:rPr lang="en-ID" dirty="0" err="1"/>
              <a:t>tetap</a:t>
            </a:r>
            <a:r>
              <a:rPr lang="en-ID" dirty="0"/>
              <a:t> prima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besar</a:t>
            </a:r>
            <a:endParaRPr lang="en-ID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8FD79F-AB88-80E3-C84D-1F12C04EF9AD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201527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E95496-3405-6F8C-74D5-0859793B457A}"/>
              </a:ext>
            </a:extLst>
          </p:cNvPr>
          <p:cNvSpPr txBox="1"/>
          <p:nvPr/>
        </p:nvSpPr>
        <p:spPr>
          <a:xfrm>
            <a:off x="1020337" y="527549"/>
            <a:ext cx="2078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Kelebihan</a:t>
            </a:r>
            <a:endParaRPr lang="en-ID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A35993-7116-D300-45D8-0370BF090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8" y="1551214"/>
            <a:ext cx="8947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database </a:t>
            </a:r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dikelola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database </a:t>
            </a:r>
            <a:r>
              <a:rPr lang="en-ID" dirty="0" err="1"/>
              <a:t>menjadi</a:t>
            </a:r>
            <a:r>
              <a:rPr lang="en-ID" dirty="0"/>
              <a:t> sangat </a:t>
            </a:r>
            <a:r>
              <a:rPr lang="en-ID" dirty="0" err="1"/>
              <a:t>besar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2EE93-6DD3-181C-73B1-E182F515978A}"/>
              </a:ext>
            </a:extLst>
          </p:cNvPr>
          <p:cNvSpPr txBox="1"/>
          <p:nvPr/>
        </p:nvSpPr>
        <p:spPr>
          <a:xfrm>
            <a:off x="1020338" y="527549"/>
            <a:ext cx="357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Kekurangan</a:t>
            </a:r>
            <a:endParaRPr lang="en-ID" sz="32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8FD79F-AB88-80E3-C84D-1F12C04EF9AD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243437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A8EBB2F-1117-34BF-4586-245F5DD5B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4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EB54C-F214-60A1-DD5A-5C7872B68D8E}"/>
              </a:ext>
            </a:extLst>
          </p:cNvPr>
          <p:cNvSpPr txBox="1"/>
          <p:nvPr/>
        </p:nvSpPr>
        <p:spPr>
          <a:xfrm>
            <a:off x="888533" y="605480"/>
            <a:ext cx="2019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Referensi</a:t>
            </a:r>
            <a:endParaRPr lang="en-ID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929723" y="1618356"/>
            <a:ext cx="94911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https://aws.amazon.com/id/nosql/</a:t>
            </a:r>
            <a:endParaRPr lang="en-ID" dirty="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https://algorit.ma/blog/tipe-nosql-2022/</a:t>
            </a:r>
            <a:endParaRPr lang="en-ID" dirty="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A7F269-BA45-F73D-18B9-1249CA4F068A}"/>
              </a:ext>
            </a:extLst>
          </p:cNvPr>
          <p:cNvCxnSpPr>
            <a:cxnSpLocks/>
          </p:cNvCxnSpPr>
          <p:nvPr/>
        </p:nvCxnSpPr>
        <p:spPr>
          <a:xfrm>
            <a:off x="929723" y="1190255"/>
            <a:ext cx="18387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7BFA3A6-C1A8-FFFD-67F4-223860284E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24" b="96530" l="5962" r="90962">
                        <a14:foregroundMark x1="24423" y1="28391" x2="24423" y2="28391"/>
                        <a14:foregroundMark x1="24423" y1="28391" x2="24423" y2="28391"/>
                        <a14:foregroundMark x1="19808" y1="21293" x2="11346" y2="46372"/>
                        <a14:foregroundMark x1="26923" y1="19558" x2="14808" y2="61830"/>
                        <a14:foregroundMark x1="15577" y1="25868" x2="7692" y2="49842"/>
                        <a14:foregroundMark x1="12692" y1="19085" x2="6346" y2="52208"/>
                        <a14:foregroundMark x1="6346" y1="52208" x2="5962" y2="51893"/>
                        <a14:foregroundMark x1="10192" y1="19243" x2="9038" y2="42271"/>
                        <a14:foregroundMark x1="8462" y1="14669" x2="9038" y2="38013"/>
                        <a14:foregroundMark x1="14615" y1="14669" x2="10769" y2="27760"/>
                        <a14:foregroundMark x1="15000" y1="12303" x2="37500" y2="9621"/>
                        <a14:foregroundMark x1="11154" y1="12461" x2="28269" y2="5363"/>
                        <a14:foregroundMark x1="21154" y1="9148" x2="52692" y2="9621"/>
                        <a14:foregroundMark x1="35962" y1="6940" x2="64038" y2="8833"/>
                        <a14:foregroundMark x1="37692" y1="5836" x2="60192" y2="5994"/>
                        <a14:foregroundMark x1="41538" y1="4416" x2="70385" y2="8991"/>
                        <a14:foregroundMark x1="70385" y1="8991" x2="70577" y2="9148"/>
                        <a14:foregroundMark x1="46923" y1="2524" x2="58269" y2="4890"/>
                        <a14:foregroundMark x1="57308" y1="4890" x2="86538" y2="15457"/>
                        <a14:foregroundMark x1="79231" y1="11830" x2="85000" y2="33912"/>
                        <a14:foregroundMark x1="85000" y1="33912" x2="85000" y2="34385"/>
                        <a14:foregroundMark x1="84423" y1="18612" x2="78654" y2="53470"/>
                        <a14:foregroundMark x1="86538" y1="36593" x2="87692" y2="71136"/>
                        <a14:foregroundMark x1="87692" y1="71136" x2="87692" y2="71136"/>
                        <a14:foregroundMark x1="90962" y1="53470" x2="84231" y2="85804"/>
                        <a14:foregroundMark x1="87500" y1="81388" x2="60000" y2="89432"/>
                        <a14:foregroundMark x1="75769" y1="72240" x2="49808" y2="80284"/>
                        <a14:foregroundMark x1="72500" y1="54574" x2="67885" y2="82019"/>
                        <a14:foregroundMark x1="67885" y1="82019" x2="67885" y2="82019"/>
                        <a14:foregroundMark x1="74615" y1="49369" x2="68846" y2="70347"/>
                        <a14:foregroundMark x1="68846" y1="70347" x2="68846" y2="69243"/>
                        <a14:foregroundMark x1="69808" y1="47003" x2="51154" y2="75710"/>
                        <a14:foregroundMark x1="51154" y1="75710" x2="47692" y2="73028"/>
                        <a14:foregroundMark x1="25769" y1="49842" x2="23269" y2="77129"/>
                        <a14:foregroundMark x1="23269" y1="77129" x2="23269" y2="77129"/>
                        <a14:foregroundMark x1="29615" y1="46215" x2="29615" y2="83596"/>
                        <a14:foregroundMark x1="32885" y1="60252" x2="33654" y2="85331"/>
                        <a14:foregroundMark x1="33654" y1="85331" x2="33846" y2="85331"/>
                        <a14:foregroundMark x1="63077" y1="93218" x2="25192" y2="85647"/>
                        <a14:foregroundMark x1="47308" y1="96530" x2="43462" y2="96215"/>
                        <a14:foregroundMark x1="38654" y1="30757" x2="33077" y2="48423"/>
                        <a14:foregroundMark x1="33846" y1="37224" x2="23654" y2="56940"/>
                        <a14:foregroundMark x1="30192" y1="41325" x2="37500" y2="57098"/>
                        <a14:foregroundMark x1="75192" y1="44479" x2="75577" y2="58360"/>
                        <a14:foregroundMark x1="66731" y1="40536" x2="69423" y2="54101"/>
                        <a14:foregroundMark x1="42115" y1="18770" x2="25577" y2="18612"/>
                        <a14:foregroundMark x1="44615" y1="19243" x2="66154" y2="19716"/>
                        <a14:foregroundMark x1="60962" y1="16088" x2="27308" y2="14353"/>
                        <a14:foregroundMark x1="24808" y1="14511" x2="58654" y2="167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810" y="3904862"/>
            <a:ext cx="1373690" cy="167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0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379</TotalTime>
  <Words>420</Words>
  <Application>Microsoft Office PowerPoint</Application>
  <PresentationFormat>Widescreen</PresentationFormat>
  <Paragraphs>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Rockwell</vt:lpstr>
      <vt:lpstr>Rockwell (body)</vt:lpstr>
      <vt:lpstr>Rockwell Condensed</vt:lpstr>
      <vt:lpstr>Wingdings</vt:lpstr>
      <vt:lpstr>Wood Type</vt:lpstr>
      <vt:lpstr>Database no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creator>DM-05</dc:creator>
  <cp:lastModifiedBy>DM-05</cp:lastModifiedBy>
  <cp:revision>9</cp:revision>
  <dcterms:created xsi:type="dcterms:W3CDTF">2023-01-30T02:04:54Z</dcterms:created>
  <dcterms:modified xsi:type="dcterms:W3CDTF">2023-02-01T01:42:34Z</dcterms:modified>
</cp:coreProperties>
</file>