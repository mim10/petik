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4" r:id="rId2"/>
    <p:sldId id="256" r:id="rId3"/>
    <p:sldId id="323" r:id="rId4"/>
    <p:sldId id="257" r:id="rId5"/>
    <p:sldId id="286" r:id="rId6"/>
    <p:sldId id="334" r:id="rId7"/>
    <p:sldId id="335" r:id="rId8"/>
    <p:sldId id="336" r:id="rId9"/>
    <p:sldId id="337" r:id="rId10"/>
    <p:sldId id="338" r:id="rId11"/>
    <p:sldId id="339" r:id="rId12"/>
    <p:sldId id="340" r:id="rId13"/>
    <p:sldId id="341" r:id="rId14"/>
    <p:sldId id="342" r:id="rId15"/>
    <p:sldId id="346" r:id="rId16"/>
    <p:sldId id="343" r:id="rId17"/>
    <p:sldId id="347" r:id="rId18"/>
    <p:sldId id="344" r:id="rId19"/>
    <p:sldId id="348" r:id="rId20"/>
    <p:sldId id="349" r:id="rId21"/>
    <p:sldId id="350" r:id="rId22"/>
    <p:sldId id="354" r:id="rId23"/>
    <p:sldId id="355" r:id="rId24"/>
    <p:sldId id="356" r:id="rId25"/>
    <p:sldId id="357" r:id="rId26"/>
    <p:sldId id="358" r:id="rId27"/>
    <p:sldId id="359" r:id="rId28"/>
    <p:sldId id="283" r:id="rId29"/>
    <p:sldId id="285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002" autoAdjust="0"/>
    <p:restoredTop sz="94660"/>
  </p:normalViewPr>
  <p:slideViewPr>
    <p:cSldViewPr snapToGrid="0">
      <p:cViewPr varScale="1">
        <p:scale>
          <a:sx n="46" d="100"/>
          <a:sy n="46" d="100"/>
        </p:scale>
        <p:origin x="42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C8D7C-E196-4FCE-BC65-ABE10E9010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22E528-7C67-4AD2-AB1A-5F63CB8338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128C30-57B7-482A-85CB-3E955A096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F91B0-AF43-46A6-92A0-842F3ACF85D2}" type="datetimeFigureOut">
              <a:rPr lang="en-ID" smtClean="0"/>
              <a:t>06/02/2023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5D639E-87D7-4AD7-B7A5-613E0D7ED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C002BC-66FD-4FD9-83BD-2A7750B8D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F284E-1927-4BED-A96B-ED3F62A664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53803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9DE22-8CE0-40CF-81F3-7588BF2E4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E714B9-A143-4226-A399-183B70F8EB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21D3F9-3C02-46DD-B6F7-8C751EA68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F91B0-AF43-46A6-92A0-842F3ACF85D2}" type="datetimeFigureOut">
              <a:rPr lang="en-ID" smtClean="0"/>
              <a:t>06/02/2023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BEBC3E-FF20-4FF4-995C-C8A3606E4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E6A3F0-651F-4B66-B5BE-EC735BDB6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F284E-1927-4BED-A96B-ED3F62A664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569209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2A352-D1D8-4BCA-BFBB-7F772CB8C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5F17AE-FB5B-4FD7-B851-323FFCDD8D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0E1D5A-0BF0-46DF-8BC1-C7EDAEAEE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F91B0-AF43-46A6-92A0-842F3ACF85D2}" type="datetimeFigureOut">
              <a:rPr lang="en-ID" smtClean="0"/>
              <a:t>06/02/2023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7E131C-D9BE-4A6B-83AC-2A6BB0399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C22FF9-ED37-41E2-9E37-2E149E5EF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F284E-1927-4BED-A96B-ED3F62A664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685389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732E8-36B4-45C2-A19E-8FA5EC5F5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BEF204-FAD6-4661-A2AE-8ADC9A926F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1CAC53-53AD-4CB4-BE55-31D72BB78C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1EFFFA-E841-4949-8A0B-D11349E61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F91B0-AF43-46A6-92A0-842F3ACF85D2}" type="datetimeFigureOut">
              <a:rPr lang="en-ID" smtClean="0"/>
              <a:t>06/02/2023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47A413-050E-4959-99FE-A184BA2F8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B8EEA9-A3CC-4CB4-AAA1-C6A740E4C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F284E-1927-4BED-A96B-ED3F62A664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4803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F5E7C-D103-46A8-ACF2-12F7A898B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95DD30-1D24-4D21-9723-798FC95941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DBED1E-B6F1-4EE4-A0AF-17C9B18B95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A7523F-CCAB-4616-B3BD-3BAC5BC71F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908D60-EA69-47DB-957A-97C20962F2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96305FB-0852-4B1B-B0E9-20215C131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F91B0-AF43-46A6-92A0-842F3ACF85D2}" type="datetimeFigureOut">
              <a:rPr lang="en-ID" smtClean="0"/>
              <a:t>06/02/2023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C1928B-09C4-421F-A4A9-9BF9A136C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A39A6C8-8509-4207-B0EA-301B9F81A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F284E-1927-4BED-A96B-ED3F62A664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224634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E8C91-B742-4613-B780-14C986890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A33F9B-6947-4134-B253-8655FB6DE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F91B0-AF43-46A6-92A0-842F3ACF85D2}" type="datetimeFigureOut">
              <a:rPr lang="en-ID" smtClean="0"/>
              <a:t>06/02/2023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F8413E-A982-4E56-A70A-F3CE50801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A4C2F1-2B31-4F68-8344-7860405C4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F284E-1927-4BED-A96B-ED3F62A664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920052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464ABD-6691-4BA9-B353-9005D3B47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F91B0-AF43-46A6-92A0-842F3ACF85D2}" type="datetimeFigureOut">
              <a:rPr lang="en-ID" smtClean="0"/>
              <a:t>06/02/2023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2D2936-9C59-40E9-978F-AD030CCAD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BB4567-2EC1-4116-BFA8-24FD5598B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F284E-1927-4BED-A96B-ED3F62A664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702027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BD9FC-ACE7-417F-85E3-151932E4E3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A9789A-07F4-4957-BAA6-D8F7220B19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25825D-E301-4005-9C38-2D2D03101F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41EFD3-CC4F-4E34-9CD2-BC0C9F499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F91B0-AF43-46A6-92A0-842F3ACF85D2}" type="datetimeFigureOut">
              <a:rPr lang="en-ID" smtClean="0"/>
              <a:t>06/02/2023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81C5C0-687B-476C-B2CC-BDD7B0704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B759AD-D7F4-44F3-8609-428ECAC45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F284E-1927-4BED-A96B-ED3F62A664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58510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FEC51-9C75-4F5A-B737-3C9F548C0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2F2245-1B7F-4300-B9CE-92325F1106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4CD980-A148-42C3-ACB8-F982C0A297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29E6CA-7AB1-44BE-81C4-C44465932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F91B0-AF43-46A6-92A0-842F3ACF85D2}" type="datetimeFigureOut">
              <a:rPr lang="en-ID" smtClean="0"/>
              <a:t>06/02/2023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864951-2AD9-4D4B-82D4-FC5FD59F6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542C80-9144-4EBE-8613-79AE4849C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F284E-1927-4BED-A96B-ED3F62A664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834672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2553C-B9FA-49D2-BE9D-4362E5936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A5918E-B8CA-424E-B42C-B81105D6BA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213D8C-641E-4BAE-B7AE-EB704838C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F91B0-AF43-46A6-92A0-842F3ACF85D2}" type="datetimeFigureOut">
              <a:rPr lang="en-ID" smtClean="0"/>
              <a:t>06/02/2023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A8B841-CDBE-42AF-AABE-CE3F5B167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0478DC-49C2-41B0-B9F5-BEA1DEBF9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F284E-1927-4BED-A96B-ED3F62A664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690612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A92DA5-7543-4D56-82FD-A4ED215DC8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8A3434-924C-4F40-A15A-A5FD0DDDD3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9E4299-D757-4DEA-978B-5A51E2154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F91B0-AF43-46A6-92A0-842F3ACF85D2}" type="datetimeFigureOut">
              <a:rPr lang="en-ID" smtClean="0"/>
              <a:t>06/02/2023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E67D1D-E8C8-43C2-96B7-A770406BC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585C6E-BDC0-4825-8630-AEDFB2AD1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F284E-1927-4BED-A96B-ED3F62A664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12053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2FF5F45-7ACE-48CD-B398-84DDD1FF7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CA259D-6B51-41D9-A376-228489106E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DBD1F1-413E-445E-A3EB-F2622775AE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AF91B0-AF43-46A6-92A0-842F3ACF85D2}" type="datetimeFigureOut">
              <a:rPr lang="en-ID" smtClean="0"/>
              <a:t>06/02/2023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FC08A4-5930-4241-968A-D26A746D30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7896B5-5AE4-4078-B13B-1EDB08D906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0F284E-1927-4BED-A96B-ED3F62A664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68664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docs.mongodb.com/mongodb-shell/install/" TargetMode="Externa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20482" name="Picture 2" descr="Mengenal Big Data Analytic dan Big Data Services | TELKOMSIGMA">
            <a:extLst>
              <a:ext uri="{FF2B5EF4-FFF2-40B4-BE49-F238E27FC236}">
                <a16:creationId xmlns:a16="http://schemas.microsoft.com/office/drawing/2014/main" id="{0259B05C-C429-4034-AD40-8848CC57459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21"/>
          <a:stretch/>
        </p:blipFill>
        <p:spPr bwMode="auto">
          <a:xfrm>
            <a:off x="1219200" y="548640"/>
            <a:ext cx="9753600" cy="516154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523474123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FAFC6A-445D-4C99-B1CC-3B93878EED8A}"/>
              </a:ext>
            </a:extLst>
          </p:cNvPr>
          <p:cNvSpPr txBox="1"/>
          <p:nvPr/>
        </p:nvSpPr>
        <p:spPr>
          <a:xfrm>
            <a:off x="3215243" y="2721114"/>
            <a:ext cx="576151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DATABASE NOSQL</a:t>
            </a:r>
            <a:endParaRPr lang="en-ID" sz="4000" b="1" spc="6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74DF205-83EC-4745-89BD-5984C2D609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4085542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FAFC6A-445D-4C99-B1CC-3B93878EED8A}"/>
              </a:ext>
            </a:extLst>
          </p:cNvPr>
          <p:cNvSpPr txBox="1"/>
          <p:nvPr/>
        </p:nvSpPr>
        <p:spPr>
          <a:xfrm>
            <a:off x="1973180" y="837739"/>
            <a:ext cx="8245719" cy="22690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spc="6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Penilaian</a:t>
            </a:r>
            <a:r>
              <a:rPr lang="en-US" sz="2400" b="1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 Utama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Tidak </a:t>
            </a:r>
            <a:r>
              <a:rPr lang="en-US" spc="6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terdapat</a:t>
            </a:r>
            <a:r>
              <a:rPr lang="en-US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6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plagiasi</a:t>
            </a:r>
            <a:r>
              <a:rPr lang="en-US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6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isi</a:t>
            </a:r>
            <a:r>
              <a:rPr lang="en-US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6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konten</a:t>
            </a:r>
            <a:endParaRPr lang="en-US" spc="6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Tidak </a:t>
            </a:r>
            <a:r>
              <a:rPr lang="en-US" spc="6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memuat</a:t>
            </a:r>
            <a:r>
              <a:rPr lang="en-US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6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terlalu</a:t>
            </a:r>
            <a:r>
              <a:rPr lang="en-US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6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banyak</a:t>
            </a:r>
            <a:r>
              <a:rPr lang="en-US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6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penjelasan</a:t>
            </a:r>
            <a:endParaRPr lang="en-US" spc="6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pc="6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Memiliki</a:t>
            </a:r>
            <a:r>
              <a:rPr lang="en-US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6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desain</a:t>
            </a:r>
            <a:r>
              <a:rPr lang="en-US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6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menarik</a:t>
            </a:r>
            <a:r>
              <a:rPr lang="en-US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 dan simple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pc="6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Kecepatan</a:t>
            </a:r>
            <a:r>
              <a:rPr lang="en-US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6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waktu</a:t>
            </a:r>
            <a:r>
              <a:rPr lang="en-US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6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pengumpulan</a:t>
            </a:r>
            <a:endParaRPr lang="en-US" sz="2000" spc="6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74DF205-83EC-4745-89BD-5984C2D609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66CF86AE-8963-4F76-848F-1AFCA1FD36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34938" y="3429000"/>
            <a:ext cx="4122123" cy="3106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810750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39CB5C-D7E6-479C-BC23-D7F631182393}"/>
              </a:ext>
            </a:extLst>
          </p:cNvPr>
          <p:cNvSpPr txBox="1"/>
          <p:nvPr/>
        </p:nvSpPr>
        <p:spPr>
          <a:xfrm>
            <a:off x="2369420" y="2026914"/>
            <a:ext cx="4169569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Model</a:t>
            </a:r>
          </a:p>
          <a:p>
            <a:r>
              <a:rPr lang="en-US" sz="4400" b="1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CRUD Data</a:t>
            </a:r>
          </a:p>
          <a:p>
            <a:r>
              <a:rPr lang="en-US" sz="4400" b="1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Part 1</a:t>
            </a:r>
            <a:endParaRPr lang="en-ID" sz="4400" b="1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F23B361-3B27-452F-AC5E-C9FF2D711A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D87D4C12-02FF-499C-A6D0-FAB93A6C16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29212" y="943455"/>
            <a:ext cx="6402388" cy="4825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2717289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AA4654-49A4-4159-AE33-F659086F035E}"/>
              </a:ext>
            </a:extLst>
          </p:cNvPr>
          <p:cNvSpPr txBox="1"/>
          <p:nvPr/>
        </p:nvSpPr>
        <p:spPr>
          <a:xfrm>
            <a:off x="1575735" y="1926691"/>
            <a:ext cx="9040529" cy="21305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spc="300">
                <a:latin typeface="Poppins Medium" panose="00000600000000000000" pitchFamily="2" charset="0"/>
                <a:cs typeface="Poppins Medium" panose="00000600000000000000" pitchFamily="2" charset="0"/>
              </a:rPr>
              <a:t>"Saya percaya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setiap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manusia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memiliki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jumlah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detak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jantung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yang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terbatas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 Saya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tidak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bermaksud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menyia-nyiakan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detak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jantung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saya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.“</a:t>
            </a:r>
          </a:p>
          <a:p>
            <a:pPr algn="ctr">
              <a:lnSpc>
                <a:spcPct val="150000"/>
              </a:lnSpc>
            </a:pPr>
            <a:endParaRPr lang="en-ID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  <a:p>
            <a:pPr algn="ctr">
              <a:lnSpc>
                <a:spcPct val="150000"/>
              </a:lnSpc>
            </a:pP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- Neil Armstrong-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CE887C8-658C-4E2A-B929-B5196254D7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205277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E816A-7A73-4D4C-8054-E9AD5F1E78B9}"/>
              </a:ext>
            </a:extLst>
          </p:cNvPr>
          <p:cNvSpPr txBox="1"/>
          <p:nvPr/>
        </p:nvSpPr>
        <p:spPr>
          <a:xfrm>
            <a:off x="4620078" y="573540"/>
            <a:ext cx="28841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MongoDB Shell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5911DB-1451-4285-B3E8-422BFB522190}"/>
              </a:ext>
            </a:extLst>
          </p:cNvPr>
          <p:cNvSpPr txBox="1"/>
          <p:nvPr/>
        </p:nvSpPr>
        <p:spPr>
          <a:xfrm>
            <a:off x="1365290" y="1565274"/>
            <a:ext cx="9461415" cy="2546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MongoDB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hadir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dengan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shell JavaScript yang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memungkinkan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interaksi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dengan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instance MongoDB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dari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baris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perintah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 Shell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berguna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untuk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menjalankan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fungsi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administratif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memeriksa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instance yang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sedang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berjalan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atau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sekadar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bermain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-main. Shell mongo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adalah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alat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penting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untuk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menggunakan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MongoDB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20A63D-F291-48CA-A921-B008DB26A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5175180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E816A-7A73-4D4C-8054-E9AD5F1E78B9}"/>
              </a:ext>
            </a:extLst>
          </p:cNvPr>
          <p:cNvSpPr txBox="1"/>
          <p:nvPr/>
        </p:nvSpPr>
        <p:spPr>
          <a:xfrm>
            <a:off x="4620078" y="573540"/>
            <a:ext cx="28841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MongoDB Shell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5911DB-1451-4285-B3E8-422BFB522190}"/>
              </a:ext>
            </a:extLst>
          </p:cNvPr>
          <p:cNvSpPr txBox="1"/>
          <p:nvPr/>
        </p:nvSpPr>
        <p:spPr>
          <a:xfrm>
            <a:off x="1365290" y="1565274"/>
            <a:ext cx="9461415" cy="33770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Shell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secara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otomatis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mencoba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untuk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terhubung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server MongoDB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saat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startup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 Jika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terdapat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pesan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yang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menunjukkan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tool mongo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sudah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usang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(deprecated)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artinya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sebaiknya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Anda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menggunakan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versi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mongodb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shell yang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terbaru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, pada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versi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yang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baru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disarankan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menggunakan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tool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mongosh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petunjuk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instalasi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tool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mongosh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dapat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dilihat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pada </a:t>
            </a:r>
            <a:b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</a:b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  <a:hlinkClick r:id="rId2"/>
              </a:rPr>
              <a:t>https://docs.mongodb.com/mongodb-shell/install/</a:t>
            </a:r>
            <a:endParaRPr lang="en-ID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20A63D-F291-48CA-A921-B008DB26AE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6479600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E816A-7A73-4D4C-8054-E9AD5F1E78B9}"/>
              </a:ext>
            </a:extLst>
          </p:cNvPr>
          <p:cNvSpPr txBox="1"/>
          <p:nvPr/>
        </p:nvSpPr>
        <p:spPr>
          <a:xfrm>
            <a:off x="4620078" y="573540"/>
            <a:ext cx="28841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MongoDB Shell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20A63D-F291-48CA-A921-B008DB26A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4B1EBDD-D882-485C-AB0D-00CE52165E49}"/>
              </a:ext>
            </a:extLst>
          </p:cNvPr>
          <p:cNvSpPr txBox="1"/>
          <p:nvPr/>
        </p:nvSpPr>
        <p:spPr>
          <a:xfrm>
            <a:off x="3180776" y="1806047"/>
            <a:ext cx="5830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Ketik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>
                <a:solidFill>
                  <a:schemeClr val="bg2">
                    <a:lumMod val="50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“</a:t>
            </a:r>
            <a:r>
              <a:rPr lang="en-US" spc="300" dirty="0" err="1">
                <a:solidFill>
                  <a:schemeClr val="bg2">
                    <a:lumMod val="50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mongosh</a:t>
            </a:r>
            <a:r>
              <a:rPr lang="en-US" spc="300" dirty="0">
                <a:solidFill>
                  <a:schemeClr val="bg2">
                    <a:lumMod val="50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” 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pada command line</a:t>
            </a:r>
            <a:endParaRPr lang="en-ID" spc="300" dirty="0">
              <a:solidFill>
                <a:schemeClr val="tx1">
                  <a:lumMod val="95000"/>
                  <a:lumOff val="5000"/>
                </a:schemeClr>
              </a:solidFill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4114270-377C-4DF7-B553-6A411E5FF1DD}"/>
              </a:ext>
            </a:extLst>
          </p:cNvPr>
          <p:cNvSpPr txBox="1"/>
          <p:nvPr/>
        </p:nvSpPr>
        <p:spPr>
          <a:xfrm>
            <a:off x="2360464" y="2263575"/>
            <a:ext cx="7471067" cy="12995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Maka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terlihat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status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dari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server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mongodb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dan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versi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mongodb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/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mongoshell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yang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digunakan</a:t>
            </a:r>
            <a:endParaRPr lang="en-ID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5079644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E816A-7A73-4D4C-8054-E9AD5F1E78B9}"/>
              </a:ext>
            </a:extLst>
          </p:cNvPr>
          <p:cNvSpPr txBox="1"/>
          <p:nvPr/>
        </p:nvSpPr>
        <p:spPr>
          <a:xfrm>
            <a:off x="4620078" y="573540"/>
            <a:ext cx="28841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MongoDB Shell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20A63D-F291-48CA-A921-B008DB26A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D58B365-514D-455F-AD24-F8DE5DBEF2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2502" y="1509390"/>
            <a:ext cx="8919276" cy="4421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447415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E816A-7A73-4D4C-8054-E9AD5F1E78B9}"/>
              </a:ext>
            </a:extLst>
          </p:cNvPr>
          <p:cNvSpPr txBox="1"/>
          <p:nvPr/>
        </p:nvSpPr>
        <p:spPr>
          <a:xfrm>
            <a:off x="4620078" y="573540"/>
            <a:ext cx="28841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MongoDB Shell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20A63D-F291-48CA-A921-B008DB26A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4114270-377C-4DF7-B553-6A411E5FF1DD}"/>
              </a:ext>
            </a:extLst>
          </p:cNvPr>
          <p:cNvSpPr txBox="1"/>
          <p:nvPr/>
        </p:nvSpPr>
        <p:spPr>
          <a:xfrm>
            <a:off x="2106492" y="2376219"/>
            <a:ext cx="7911296" cy="12995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Mongoshell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dibangun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atas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arsitektur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dari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javascript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sehingga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memudahkan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kalian untuk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bisa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memahami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logical business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dari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mongodb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</a:t>
            </a:r>
            <a:endParaRPr lang="en-ID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1356145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E816A-7A73-4D4C-8054-E9AD5F1E78B9}"/>
              </a:ext>
            </a:extLst>
          </p:cNvPr>
          <p:cNvSpPr txBox="1"/>
          <p:nvPr/>
        </p:nvSpPr>
        <p:spPr>
          <a:xfrm>
            <a:off x="4620078" y="573540"/>
            <a:ext cx="28841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MongoDB Shell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20A63D-F291-48CA-A921-B008DB26A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8C23239-EEA3-452D-95A4-06B684F5FBD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115" b="4115"/>
          <a:stretch/>
        </p:blipFill>
        <p:spPr>
          <a:xfrm>
            <a:off x="6700345" y="2057838"/>
            <a:ext cx="3683176" cy="237656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D3DAF03-8C81-4270-8F2F-F3C9163ACFFE}"/>
              </a:ext>
            </a:extLst>
          </p:cNvPr>
          <p:cNvSpPr txBox="1"/>
          <p:nvPr/>
        </p:nvSpPr>
        <p:spPr>
          <a:xfrm>
            <a:off x="1973180" y="2292704"/>
            <a:ext cx="4559700" cy="1715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Kamu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bisa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melakukan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proses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operasi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logical business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sederhana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seperti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gambar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di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samping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endParaRPr lang="en-ID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2886527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E816A-7A73-4D4C-8054-E9AD5F1E78B9}"/>
              </a:ext>
            </a:extLst>
          </p:cNvPr>
          <p:cNvSpPr txBox="1"/>
          <p:nvPr/>
        </p:nvSpPr>
        <p:spPr>
          <a:xfrm>
            <a:off x="4620078" y="573540"/>
            <a:ext cx="28841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MongoDB Shell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20A63D-F291-48CA-A921-B008DB26A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D3DAF03-8C81-4270-8F2F-F3C9163ACFFE}"/>
              </a:ext>
            </a:extLst>
          </p:cNvPr>
          <p:cNvSpPr txBox="1"/>
          <p:nvPr/>
        </p:nvSpPr>
        <p:spPr>
          <a:xfrm>
            <a:off x="2536620" y="1550624"/>
            <a:ext cx="7051040" cy="12995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Pemanggilan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method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sederhana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pada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javascript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juga sangat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memudahkan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dalam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penggunaan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mongodb</a:t>
            </a:r>
            <a:endParaRPr lang="en-ID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78A9F65-1FB9-4300-B784-436F5EA964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1613" y="3086984"/>
            <a:ext cx="7308774" cy="2239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826424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E816A-7A73-4D4C-8054-E9AD5F1E78B9}"/>
              </a:ext>
            </a:extLst>
          </p:cNvPr>
          <p:cNvSpPr txBox="1"/>
          <p:nvPr/>
        </p:nvSpPr>
        <p:spPr>
          <a:xfrm>
            <a:off x="4620078" y="573540"/>
            <a:ext cx="28841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MongoDB Shell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20A63D-F291-48CA-A921-B008DB26A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D3DAF03-8C81-4270-8F2F-F3C9163ACFFE}"/>
              </a:ext>
            </a:extLst>
          </p:cNvPr>
          <p:cNvSpPr txBox="1"/>
          <p:nvPr/>
        </p:nvSpPr>
        <p:spPr>
          <a:xfrm>
            <a:off x="1896539" y="2571457"/>
            <a:ext cx="4565221" cy="1715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Selain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itu,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pemanggilan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fungsi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sederhana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pada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javascript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juga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dapat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dilakukan</a:t>
            </a:r>
            <a:endParaRPr lang="en-ID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B7917FB-F5DC-4154-AB97-849BD11C6D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195" y="2175258"/>
            <a:ext cx="4277592" cy="2711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342436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E816A-7A73-4D4C-8054-E9AD5F1E78B9}"/>
              </a:ext>
            </a:extLst>
          </p:cNvPr>
          <p:cNvSpPr txBox="1"/>
          <p:nvPr/>
        </p:nvSpPr>
        <p:spPr>
          <a:xfrm>
            <a:off x="4620078" y="573540"/>
            <a:ext cx="28841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MongoDB Shell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20A63D-F291-48CA-A921-B008DB26A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D3DAF03-8C81-4270-8F2F-F3C9163ACFFE}"/>
              </a:ext>
            </a:extLst>
          </p:cNvPr>
          <p:cNvSpPr txBox="1"/>
          <p:nvPr/>
        </p:nvSpPr>
        <p:spPr>
          <a:xfrm>
            <a:off x="2536620" y="1763984"/>
            <a:ext cx="7051040" cy="884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Untuk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melihat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database yang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digunakan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saat ini, kalian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bisa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mengetik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>
                <a:solidFill>
                  <a:schemeClr val="bg2">
                    <a:lumMod val="50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“</a:t>
            </a:r>
            <a:r>
              <a:rPr lang="en-US" spc="300" dirty="0" err="1">
                <a:solidFill>
                  <a:schemeClr val="bg2">
                    <a:lumMod val="50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db</a:t>
            </a:r>
            <a:r>
              <a:rPr lang="en-US" spc="300" dirty="0">
                <a:solidFill>
                  <a:schemeClr val="bg2">
                    <a:lumMod val="50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”</a:t>
            </a:r>
            <a:endParaRPr lang="en-ID" spc="300" dirty="0">
              <a:solidFill>
                <a:schemeClr val="bg2">
                  <a:lumMod val="50000"/>
                </a:schemeClr>
              </a:solidFill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8674A11-8BB2-4826-8712-48BB8EC37F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8291" y="2893903"/>
            <a:ext cx="2655418" cy="1529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268529"/>
      </p:ext>
    </p:extLst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E816A-7A73-4D4C-8054-E9AD5F1E78B9}"/>
              </a:ext>
            </a:extLst>
          </p:cNvPr>
          <p:cNvSpPr txBox="1"/>
          <p:nvPr/>
        </p:nvSpPr>
        <p:spPr>
          <a:xfrm>
            <a:off x="4620078" y="573540"/>
            <a:ext cx="28841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MongoDB Shell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20A63D-F291-48CA-A921-B008DB26A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D3DAF03-8C81-4270-8F2F-F3C9163ACFFE}"/>
              </a:ext>
            </a:extLst>
          </p:cNvPr>
          <p:cNvSpPr txBox="1"/>
          <p:nvPr/>
        </p:nvSpPr>
        <p:spPr>
          <a:xfrm>
            <a:off x="2536620" y="1763984"/>
            <a:ext cx="7051040" cy="884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Untuk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membuat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database pada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mongodb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kalian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bisa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mengetik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>
                <a:solidFill>
                  <a:schemeClr val="bg2">
                    <a:lumMod val="50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“use </a:t>
            </a:r>
            <a:r>
              <a:rPr lang="en-US" spc="300" dirty="0" err="1">
                <a:solidFill>
                  <a:schemeClr val="bg2">
                    <a:lumMod val="50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namaDatabase</a:t>
            </a:r>
            <a:r>
              <a:rPr lang="en-US" spc="300" dirty="0">
                <a:solidFill>
                  <a:schemeClr val="bg2">
                    <a:lumMod val="50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”</a:t>
            </a:r>
            <a:endParaRPr lang="en-ID" spc="300" dirty="0">
              <a:solidFill>
                <a:schemeClr val="bg2">
                  <a:lumMod val="50000"/>
                </a:schemeClr>
              </a:solidFill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D1107D7-DF97-449C-B77F-10DEB240F4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5223" y="2948803"/>
            <a:ext cx="4941554" cy="1261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940803"/>
      </p:ext>
    </p:extLst>
  </p:cSld>
  <p:clrMapOvr>
    <a:masterClrMapping/>
  </p:clrMapOvr>
  <p:transition spd="slow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E816A-7A73-4D4C-8054-E9AD5F1E78B9}"/>
              </a:ext>
            </a:extLst>
          </p:cNvPr>
          <p:cNvSpPr txBox="1"/>
          <p:nvPr/>
        </p:nvSpPr>
        <p:spPr>
          <a:xfrm>
            <a:off x="4620078" y="573540"/>
            <a:ext cx="28841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MongoDB Shell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20A63D-F291-48CA-A921-B008DB26A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D3DAF03-8C81-4270-8F2F-F3C9163ACFFE}"/>
              </a:ext>
            </a:extLst>
          </p:cNvPr>
          <p:cNvSpPr txBox="1"/>
          <p:nvPr/>
        </p:nvSpPr>
        <p:spPr>
          <a:xfrm>
            <a:off x="2536620" y="1550624"/>
            <a:ext cx="7051040" cy="12995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Untuk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menghapus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database, kalian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bisa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menggunakan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perintah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berikut</a:t>
            </a:r>
            <a:b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</a:br>
            <a:r>
              <a:rPr lang="en-US" spc="300" dirty="0">
                <a:solidFill>
                  <a:schemeClr val="bg2">
                    <a:lumMod val="50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“</a:t>
            </a:r>
            <a:r>
              <a:rPr lang="en-US" spc="300" dirty="0" err="1">
                <a:solidFill>
                  <a:schemeClr val="bg2">
                    <a:lumMod val="50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db.dropDatabase</a:t>
            </a:r>
            <a:r>
              <a:rPr lang="en-US" spc="300" dirty="0">
                <a:solidFill>
                  <a:schemeClr val="bg2">
                    <a:lumMod val="50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()”</a:t>
            </a:r>
            <a:endParaRPr lang="en-ID" spc="300" dirty="0">
              <a:solidFill>
                <a:schemeClr val="bg2">
                  <a:lumMod val="50000"/>
                </a:schemeClr>
              </a:solidFill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359E383-BAA6-4B62-81D7-6F0F1FBF32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9783" y="3215879"/>
            <a:ext cx="7203452" cy="1462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6582489"/>
      </p:ext>
    </p:extLst>
  </p:cSld>
  <p:clrMapOvr>
    <a:masterClrMapping/>
  </p:clrMapOvr>
  <p:transition spd="slow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E816A-7A73-4D4C-8054-E9AD5F1E78B9}"/>
              </a:ext>
            </a:extLst>
          </p:cNvPr>
          <p:cNvSpPr txBox="1"/>
          <p:nvPr/>
        </p:nvSpPr>
        <p:spPr>
          <a:xfrm>
            <a:off x="4620078" y="573540"/>
            <a:ext cx="28841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MongoDB Shell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20A63D-F291-48CA-A921-B008DB26A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D3DAF03-8C81-4270-8F2F-F3C9163ACFFE}"/>
              </a:ext>
            </a:extLst>
          </p:cNvPr>
          <p:cNvSpPr txBox="1"/>
          <p:nvPr/>
        </p:nvSpPr>
        <p:spPr>
          <a:xfrm>
            <a:off x="2536620" y="1550624"/>
            <a:ext cx="7051040" cy="12995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Untuk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melihat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daftar database, kalian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bisa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menggunakan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perintah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berikut</a:t>
            </a:r>
            <a:b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</a:br>
            <a:r>
              <a:rPr lang="en-US" spc="300" dirty="0">
                <a:solidFill>
                  <a:schemeClr val="bg2">
                    <a:lumMod val="50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“show </a:t>
            </a:r>
            <a:r>
              <a:rPr lang="en-US" spc="300" dirty="0" err="1">
                <a:solidFill>
                  <a:schemeClr val="bg2">
                    <a:lumMod val="50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dbs</a:t>
            </a:r>
            <a:r>
              <a:rPr lang="en-US" spc="300" dirty="0">
                <a:solidFill>
                  <a:schemeClr val="bg2">
                    <a:lumMod val="50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”</a:t>
            </a:r>
            <a:endParaRPr lang="en-ID" spc="300" dirty="0">
              <a:solidFill>
                <a:schemeClr val="bg2">
                  <a:lumMod val="50000"/>
                </a:schemeClr>
              </a:solidFill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443DFA8-3BFF-467B-83E1-AB2EFDA7A5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3910" y="3215879"/>
            <a:ext cx="3424180" cy="1868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671702"/>
      </p:ext>
    </p:extLst>
  </p:cSld>
  <p:clrMapOvr>
    <a:masterClrMapping/>
  </p:clrMapOvr>
  <p:transition spd="slow"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E816A-7A73-4D4C-8054-E9AD5F1E78B9}"/>
              </a:ext>
            </a:extLst>
          </p:cNvPr>
          <p:cNvSpPr txBox="1"/>
          <p:nvPr/>
        </p:nvSpPr>
        <p:spPr>
          <a:xfrm>
            <a:off x="4054222" y="573540"/>
            <a:ext cx="40158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CRUD Data MongoDB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20A63D-F291-48CA-A921-B008DB26A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D3DAF03-8C81-4270-8F2F-F3C9163ACFFE}"/>
              </a:ext>
            </a:extLst>
          </p:cNvPr>
          <p:cNvSpPr txBox="1"/>
          <p:nvPr/>
        </p:nvSpPr>
        <p:spPr>
          <a:xfrm>
            <a:off x="2177628" y="1848077"/>
            <a:ext cx="7836740" cy="1715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MongoDB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memungkinkan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kepada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pengguna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untuk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melakukan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create(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membuat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data), read(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membaca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data), update(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memperbaharui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data) dan delete(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menghapus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data).</a:t>
            </a:r>
            <a:endParaRPr lang="en-ID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9307505"/>
      </p:ext>
    </p:extLst>
  </p:cSld>
  <p:clrMapOvr>
    <a:masterClrMapping/>
  </p:clrMapOvr>
  <p:transition spd="slow"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E816A-7A73-4D4C-8054-E9AD5F1E78B9}"/>
              </a:ext>
            </a:extLst>
          </p:cNvPr>
          <p:cNvSpPr txBox="1"/>
          <p:nvPr/>
        </p:nvSpPr>
        <p:spPr>
          <a:xfrm>
            <a:off x="4054222" y="573540"/>
            <a:ext cx="40158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CRUD Data MongoDB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20A63D-F291-48CA-A921-B008DB26A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D3DAF03-8C81-4270-8F2F-F3C9163ACFFE}"/>
              </a:ext>
            </a:extLst>
          </p:cNvPr>
          <p:cNvSpPr txBox="1"/>
          <p:nvPr/>
        </p:nvSpPr>
        <p:spPr>
          <a:xfrm>
            <a:off x="2177628" y="1848077"/>
            <a:ext cx="7836740" cy="21305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MongoDB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menyimpan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dokumen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dalam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koleksi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Koleksi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analog dengan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tabel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dalam database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relasional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 Jika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koleksi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tidak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ada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MongoDB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membuat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koleksi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saat Anda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pertama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kali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menyimpan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data untuk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koleksi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itu.</a:t>
            </a:r>
            <a:endParaRPr lang="en-ID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8236906"/>
      </p:ext>
    </p:extLst>
  </p:cSld>
  <p:clrMapOvr>
    <a:masterClrMapping/>
  </p:clrMapOvr>
  <p:transition spd="slow">
    <p:wip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E816A-7A73-4D4C-8054-E9AD5F1E78B9}"/>
              </a:ext>
            </a:extLst>
          </p:cNvPr>
          <p:cNvSpPr txBox="1"/>
          <p:nvPr/>
        </p:nvSpPr>
        <p:spPr>
          <a:xfrm>
            <a:off x="4054222" y="573540"/>
            <a:ext cx="40158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CRUD Data MongoDB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20A63D-F291-48CA-A921-B008DB26A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53D117-E645-49AC-B3CB-32EEC9FC74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1780" y="3429000"/>
            <a:ext cx="7128435" cy="196726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78B4632-D4F5-4AF5-8EA4-2F3AD8312060}"/>
              </a:ext>
            </a:extLst>
          </p:cNvPr>
          <p:cNvSpPr txBox="1"/>
          <p:nvPr/>
        </p:nvSpPr>
        <p:spPr>
          <a:xfrm>
            <a:off x="2177628" y="1848077"/>
            <a:ext cx="7836740" cy="12995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Perintah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yang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digunakan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untuk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membuat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collection/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koleksi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adalah</a:t>
            </a:r>
            <a:b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</a:br>
            <a:r>
              <a:rPr lang="en-US" spc="300" dirty="0">
                <a:solidFill>
                  <a:schemeClr val="bg2">
                    <a:lumMod val="50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“</a:t>
            </a:r>
            <a:r>
              <a:rPr lang="en-US" spc="300" dirty="0" err="1">
                <a:solidFill>
                  <a:schemeClr val="bg2">
                    <a:lumMod val="50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db.createCollection</a:t>
            </a:r>
            <a:r>
              <a:rPr lang="en-US" spc="300" dirty="0">
                <a:solidFill>
                  <a:schemeClr val="bg2">
                    <a:lumMod val="50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(‘</a:t>
            </a:r>
            <a:r>
              <a:rPr lang="en-US" spc="300" dirty="0" err="1">
                <a:solidFill>
                  <a:schemeClr val="bg2">
                    <a:lumMod val="50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namaKoleksi</a:t>
            </a:r>
            <a:r>
              <a:rPr lang="en-US" spc="300" dirty="0">
                <a:solidFill>
                  <a:schemeClr val="bg2">
                    <a:lumMod val="50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’)”</a:t>
            </a:r>
            <a:endParaRPr lang="en-ID" spc="300" dirty="0">
              <a:solidFill>
                <a:schemeClr val="bg2">
                  <a:lumMod val="50000"/>
                </a:schemeClr>
              </a:solidFill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4440187"/>
      </p:ext>
    </p:extLst>
  </p:cSld>
  <p:clrMapOvr>
    <a:masterClrMapping/>
  </p:clrMapOvr>
  <p:transition spd="slow">
    <p:wip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E816A-7A73-4D4C-8054-E9AD5F1E78B9}"/>
              </a:ext>
            </a:extLst>
          </p:cNvPr>
          <p:cNvSpPr txBox="1"/>
          <p:nvPr/>
        </p:nvSpPr>
        <p:spPr>
          <a:xfrm>
            <a:off x="3941212" y="573540"/>
            <a:ext cx="42418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Create Data MongoDB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20A63D-F291-48CA-A921-B008DB26A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D3DAF03-8C81-4270-8F2F-F3C9163ACFFE}"/>
              </a:ext>
            </a:extLst>
          </p:cNvPr>
          <p:cNvSpPr txBox="1"/>
          <p:nvPr/>
        </p:nvSpPr>
        <p:spPr>
          <a:xfrm>
            <a:off x="1739052" y="1881532"/>
            <a:ext cx="8713892" cy="29615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Fungsi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insert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dapat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menambahkan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data/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dokumen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ke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koleksi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Misalnya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kita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ingin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menyimpan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posting blog. </a:t>
            </a:r>
          </a:p>
          <a:p>
            <a:pPr algn="ctr">
              <a:lnSpc>
                <a:spcPct val="150000"/>
              </a:lnSpc>
            </a:pPr>
            <a:endParaRPr lang="en-US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  <a:p>
            <a:pPr algn="ctr">
              <a:lnSpc>
                <a:spcPct val="150000"/>
              </a:lnSpc>
            </a:pP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Pertama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kita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membuat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variabel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lokal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bernama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post yang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merupakan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objek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JavaScript yang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mewakili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dokumen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kita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 Itu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memiliki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kunci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"title", “author", dan "date" (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tanggal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diterbitkan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).</a:t>
            </a:r>
            <a:endParaRPr lang="en-ID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8234507"/>
      </p:ext>
    </p:extLst>
  </p:cSld>
  <p:clrMapOvr>
    <a:masterClrMapping/>
  </p:clrMapOvr>
  <p:transition spd="slow">
    <p:wip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E816A-7A73-4D4C-8054-E9AD5F1E78B9}"/>
              </a:ext>
            </a:extLst>
          </p:cNvPr>
          <p:cNvSpPr txBox="1"/>
          <p:nvPr/>
        </p:nvSpPr>
        <p:spPr>
          <a:xfrm>
            <a:off x="3941212" y="573540"/>
            <a:ext cx="42418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Create Data MongoDB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20A63D-F291-48CA-A921-B008DB26A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D3DAF03-8C81-4270-8F2F-F3C9163ACFFE}"/>
              </a:ext>
            </a:extLst>
          </p:cNvPr>
          <p:cNvSpPr txBox="1"/>
          <p:nvPr/>
        </p:nvSpPr>
        <p:spPr>
          <a:xfrm>
            <a:off x="3386668" y="1980157"/>
            <a:ext cx="6356772" cy="33770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pc="300" dirty="0">
                <a:solidFill>
                  <a:schemeClr val="bg2">
                    <a:lumMod val="50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const post = {</a:t>
            </a:r>
            <a:br>
              <a:rPr lang="en-US" spc="300" dirty="0">
                <a:solidFill>
                  <a:schemeClr val="bg2">
                    <a:lumMod val="50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</a:br>
            <a:r>
              <a:rPr lang="en-US" spc="300" dirty="0">
                <a:solidFill>
                  <a:schemeClr val="bg2">
                    <a:lumMod val="50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	“title” : “</a:t>
            </a:r>
            <a:r>
              <a:rPr lang="en-US" spc="300" dirty="0" err="1">
                <a:solidFill>
                  <a:schemeClr val="bg2">
                    <a:lumMod val="50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Membuat</a:t>
            </a:r>
            <a:r>
              <a:rPr lang="en-US" spc="300" dirty="0">
                <a:solidFill>
                  <a:schemeClr val="bg2">
                    <a:lumMod val="50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solidFill>
                  <a:schemeClr val="bg2">
                    <a:lumMod val="50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ayam</a:t>
            </a:r>
            <a:r>
              <a:rPr lang="en-US" spc="300" dirty="0">
                <a:solidFill>
                  <a:schemeClr val="bg2">
                    <a:lumMod val="50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goreng”,</a:t>
            </a:r>
          </a:p>
          <a:p>
            <a:pPr>
              <a:lnSpc>
                <a:spcPct val="150000"/>
              </a:lnSpc>
            </a:pPr>
            <a:r>
              <a:rPr lang="en-US" spc="300" dirty="0">
                <a:solidFill>
                  <a:schemeClr val="bg2">
                    <a:lumMod val="50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	“author” : “Chef </a:t>
            </a:r>
            <a:r>
              <a:rPr lang="en-US" spc="300" dirty="0" err="1">
                <a:solidFill>
                  <a:schemeClr val="bg2">
                    <a:lumMod val="50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Marinka</a:t>
            </a:r>
            <a:r>
              <a:rPr lang="en-US" spc="300" dirty="0">
                <a:solidFill>
                  <a:schemeClr val="bg2">
                    <a:lumMod val="50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”,</a:t>
            </a:r>
            <a:br>
              <a:rPr lang="en-US" spc="300" dirty="0">
                <a:solidFill>
                  <a:schemeClr val="bg2">
                    <a:lumMod val="50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</a:br>
            <a:r>
              <a:rPr lang="en-US" spc="300" dirty="0">
                <a:solidFill>
                  <a:schemeClr val="bg2">
                    <a:lumMod val="50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	“date” : new Date()</a:t>
            </a:r>
            <a:br>
              <a:rPr lang="en-US" spc="300" dirty="0">
                <a:solidFill>
                  <a:schemeClr val="bg2">
                    <a:lumMod val="50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</a:br>
            <a:r>
              <a:rPr lang="en-US" spc="300" dirty="0">
                <a:solidFill>
                  <a:schemeClr val="bg2">
                    <a:lumMod val="50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}</a:t>
            </a:r>
          </a:p>
          <a:p>
            <a:pPr>
              <a:lnSpc>
                <a:spcPct val="150000"/>
              </a:lnSpc>
            </a:pPr>
            <a:endParaRPr lang="en-US" spc="300" dirty="0">
              <a:solidFill>
                <a:schemeClr val="bg2">
                  <a:lumMod val="50000"/>
                </a:schemeClr>
              </a:solidFill>
              <a:latin typeface="Poppins Medium" panose="00000600000000000000" pitchFamily="2" charset="0"/>
              <a:cs typeface="Poppins Medium" panose="000006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Fungsi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new Date() </a:t>
            </a: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digunakan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untuk </a:t>
            </a: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mengambil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perwaktuan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saat ini.</a:t>
            </a:r>
            <a:endParaRPr lang="en-ID" spc="300" dirty="0">
              <a:solidFill>
                <a:schemeClr val="tx1">
                  <a:lumMod val="95000"/>
                  <a:lumOff val="5000"/>
                </a:schemeClr>
              </a:solidFill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7884773"/>
      </p:ext>
    </p:extLst>
  </p:cSld>
  <p:clrMapOvr>
    <a:masterClrMapping/>
  </p:clrMapOvr>
  <p:transition spd="slow">
    <p:wip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E816A-7A73-4D4C-8054-E9AD5F1E78B9}"/>
              </a:ext>
            </a:extLst>
          </p:cNvPr>
          <p:cNvSpPr txBox="1"/>
          <p:nvPr/>
        </p:nvSpPr>
        <p:spPr>
          <a:xfrm>
            <a:off x="3941212" y="573540"/>
            <a:ext cx="42418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Create Data MongoDB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20A63D-F291-48CA-A921-B008DB26A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94BFFE6-DE03-480E-BBF5-856DE96532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3689" y="1806865"/>
            <a:ext cx="6844621" cy="3643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5322088"/>
      </p:ext>
    </p:extLst>
  </p:cSld>
  <p:clrMapOvr>
    <a:masterClrMapping/>
  </p:clrMapOvr>
  <p:transition spd="slow">
    <p:wip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E816A-7A73-4D4C-8054-E9AD5F1E78B9}"/>
              </a:ext>
            </a:extLst>
          </p:cNvPr>
          <p:cNvSpPr txBox="1"/>
          <p:nvPr/>
        </p:nvSpPr>
        <p:spPr>
          <a:xfrm>
            <a:off x="3941212" y="573540"/>
            <a:ext cx="42418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Create Data MongoDB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20A63D-F291-48CA-A921-B008DB26A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D3DAF03-8C81-4270-8F2F-F3C9163ACFFE}"/>
              </a:ext>
            </a:extLst>
          </p:cNvPr>
          <p:cNvSpPr txBox="1"/>
          <p:nvPr/>
        </p:nvSpPr>
        <p:spPr>
          <a:xfrm>
            <a:off x="2043852" y="1746477"/>
            <a:ext cx="8104292" cy="29615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Kita </a:t>
            </a: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telah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membuat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variable post yang </a:t>
            </a: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berisi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data </a:t>
            </a: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dari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title, author dan date.</a:t>
            </a:r>
          </a:p>
          <a:p>
            <a:pPr algn="ctr">
              <a:lnSpc>
                <a:spcPct val="150000"/>
              </a:lnSpc>
            </a:pPr>
            <a:endParaRPr lang="en-US" spc="300" dirty="0">
              <a:solidFill>
                <a:schemeClr val="tx1">
                  <a:lumMod val="95000"/>
                  <a:lumOff val="5000"/>
                </a:schemeClr>
              </a:solidFill>
              <a:latin typeface="Poppins Medium" panose="00000600000000000000" pitchFamily="2" charset="0"/>
              <a:cs typeface="Poppins Medium" panose="00000600000000000000" pitchFamily="2" charset="0"/>
            </a:endParaRPr>
          </a:p>
          <a:p>
            <a:pPr algn="ctr">
              <a:lnSpc>
                <a:spcPct val="150000"/>
              </a:lnSpc>
            </a:pP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Sekarang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, kalian </a:t>
            </a: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bisa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memasukkan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variable post ke dalam </a:t>
            </a: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koleksi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yang kalian </a:t>
            </a: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buat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tadi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dengan </a:t>
            </a: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menggunakan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perintah</a:t>
            </a:r>
            <a:b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</a:br>
            <a:r>
              <a:rPr lang="en-US" spc="300" dirty="0">
                <a:solidFill>
                  <a:schemeClr val="bg2">
                    <a:lumMod val="50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“</a:t>
            </a:r>
            <a:r>
              <a:rPr lang="en-US" spc="300" dirty="0" err="1">
                <a:solidFill>
                  <a:schemeClr val="bg2">
                    <a:lumMod val="50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db.koleksiSaya.insertOne</a:t>
            </a:r>
            <a:r>
              <a:rPr lang="en-US" spc="300" dirty="0">
                <a:solidFill>
                  <a:schemeClr val="bg2">
                    <a:lumMod val="50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(post)”</a:t>
            </a:r>
            <a:endParaRPr lang="en-ID" spc="300" dirty="0">
              <a:solidFill>
                <a:schemeClr val="bg2">
                  <a:lumMod val="50000"/>
                </a:schemeClr>
              </a:solidFill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277972"/>
      </p:ext>
    </p:extLst>
  </p:cSld>
  <p:clrMapOvr>
    <a:masterClrMapping/>
  </p:clrMapOvr>
  <p:transition spd="slow">
    <p:wip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E816A-7A73-4D4C-8054-E9AD5F1E78B9}"/>
              </a:ext>
            </a:extLst>
          </p:cNvPr>
          <p:cNvSpPr txBox="1"/>
          <p:nvPr/>
        </p:nvSpPr>
        <p:spPr>
          <a:xfrm>
            <a:off x="3941212" y="573540"/>
            <a:ext cx="42418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Create Data MongoDB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20A63D-F291-48CA-A921-B008DB26A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D3DAF03-8C81-4270-8F2F-F3C9163ACFFE}"/>
              </a:ext>
            </a:extLst>
          </p:cNvPr>
          <p:cNvSpPr txBox="1"/>
          <p:nvPr/>
        </p:nvSpPr>
        <p:spPr>
          <a:xfrm>
            <a:off x="2043852" y="1746477"/>
            <a:ext cx="8104292" cy="468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Jika </a:t>
            </a: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berhasil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akan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tampil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seperti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ini 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6058231-6F74-4AD0-8F86-659FEACAA0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8520" y="2448568"/>
            <a:ext cx="7134959" cy="1817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043637"/>
      </p:ext>
    </p:extLst>
  </p:cSld>
  <p:clrMapOvr>
    <a:masterClrMapping/>
  </p:clrMapOvr>
  <p:transition spd="slow">
    <p:wip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E816A-7A73-4D4C-8054-E9AD5F1E78B9}"/>
              </a:ext>
            </a:extLst>
          </p:cNvPr>
          <p:cNvSpPr txBox="1"/>
          <p:nvPr/>
        </p:nvSpPr>
        <p:spPr>
          <a:xfrm>
            <a:off x="3941212" y="573540"/>
            <a:ext cx="42418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Create Data MongoDB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20A63D-F291-48CA-A921-B008DB26A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D3DAF03-8C81-4270-8F2F-F3C9163ACFFE}"/>
              </a:ext>
            </a:extLst>
          </p:cNvPr>
          <p:cNvSpPr txBox="1"/>
          <p:nvPr/>
        </p:nvSpPr>
        <p:spPr>
          <a:xfrm>
            <a:off x="2642444" y="1776957"/>
            <a:ext cx="6907108" cy="29615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Data post </a:t>
            </a: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tadi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telah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di </a:t>
            </a: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simpan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pada collection </a:t>
            </a: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koleksiSaya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dan pada database </a:t>
            </a: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dbsaya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.</a:t>
            </a:r>
          </a:p>
          <a:p>
            <a:pPr algn="ctr">
              <a:lnSpc>
                <a:spcPct val="150000"/>
              </a:lnSpc>
            </a:pPr>
            <a:endParaRPr lang="en-US" spc="300" dirty="0">
              <a:solidFill>
                <a:schemeClr val="tx1">
                  <a:lumMod val="95000"/>
                  <a:lumOff val="5000"/>
                </a:schemeClr>
              </a:solidFill>
              <a:latin typeface="Poppins Medium" panose="00000600000000000000" pitchFamily="2" charset="0"/>
              <a:cs typeface="Poppins Medium" panose="00000600000000000000" pitchFamily="2" charset="0"/>
            </a:endParaRPr>
          </a:p>
          <a:p>
            <a:pPr algn="ctr">
              <a:lnSpc>
                <a:spcPct val="150000"/>
              </a:lnSpc>
            </a:pP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Kalian </a:t>
            </a: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bisa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melihatnya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dengan </a:t>
            </a: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menggunakan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perintah</a:t>
            </a:r>
            <a:b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</a:br>
            <a:r>
              <a:rPr lang="en-US" spc="300" dirty="0">
                <a:solidFill>
                  <a:schemeClr val="bg2">
                    <a:lumMod val="50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“</a:t>
            </a:r>
            <a:r>
              <a:rPr lang="en-US" spc="300" dirty="0" err="1">
                <a:solidFill>
                  <a:schemeClr val="bg2">
                    <a:lumMod val="50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db.koleksiSaya.find</a:t>
            </a:r>
            <a:r>
              <a:rPr lang="en-US" spc="300" dirty="0">
                <a:solidFill>
                  <a:schemeClr val="bg2">
                    <a:lumMod val="50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()”</a:t>
            </a:r>
          </a:p>
        </p:txBody>
      </p:sp>
    </p:spTree>
    <p:extLst>
      <p:ext uri="{BB962C8B-B14F-4D97-AF65-F5344CB8AC3E}">
        <p14:creationId xmlns:p14="http://schemas.microsoft.com/office/powerpoint/2010/main" val="3747063951"/>
      </p:ext>
    </p:extLst>
  </p:cSld>
  <p:clrMapOvr>
    <a:masterClrMapping/>
  </p:clrMapOvr>
  <p:transition spd="slow">
    <p:wip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E816A-7A73-4D4C-8054-E9AD5F1E78B9}"/>
              </a:ext>
            </a:extLst>
          </p:cNvPr>
          <p:cNvSpPr txBox="1"/>
          <p:nvPr/>
        </p:nvSpPr>
        <p:spPr>
          <a:xfrm>
            <a:off x="3941212" y="573540"/>
            <a:ext cx="42418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Create Data MongoDB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20A63D-F291-48CA-A921-B008DB26A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D3DAF03-8C81-4270-8F2F-F3C9163ACFFE}"/>
              </a:ext>
            </a:extLst>
          </p:cNvPr>
          <p:cNvSpPr txBox="1"/>
          <p:nvPr/>
        </p:nvSpPr>
        <p:spPr>
          <a:xfrm>
            <a:off x="2043852" y="1746477"/>
            <a:ext cx="8104292" cy="468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Jika </a:t>
            </a: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berhasil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akan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tampil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seperti</a:t>
            </a:r>
            <a:r>
              <a:rPr lang="en-US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ini :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93D4CFB-13C7-4CF2-89E8-03BB5FE746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9147" y="2532964"/>
            <a:ext cx="6213705" cy="2871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417346"/>
      </p:ext>
    </p:extLst>
  </p:cSld>
  <p:clrMapOvr>
    <a:masterClrMapping/>
  </p:clrMapOvr>
  <p:transition spd="slow">
    <p:wip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F22EE6-24AF-4F19-A05D-DAF8F48D5BA2}"/>
              </a:ext>
            </a:extLst>
          </p:cNvPr>
          <p:cNvSpPr txBox="1"/>
          <p:nvPr/>
        </p:nvSpPr>
        <p:spPr>
          <a:xfrm>
            <a:off x="4255592" y="577514"/>
            <a:ext cx="36808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Tugas</a:t>
            </a:r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 Big Data (4)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1AA6688-63F1-4DC2-9DB9-C9F2E98F1C97}"/>
              </a:ext>
            </a:extLst>
          </p:cNvPr>
          <p:cNvSpPr txBox="1"/>
          <p:nvPr/>
        </p:nvSpPr>
        <p:spPr>
          <a:xfrm>
            <a:off x="1854325" y="1484991"/>
            <a:ext cx="8483346" cy="21305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Buatlah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slide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presentasi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yang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menjelaskan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proses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pembuatan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database, collection dan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dokumennya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Kerjakan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dalam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bentuk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individu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Jelaskan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tiap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bagian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instalasi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dan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kumpulkan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pada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akun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github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</a:t>
            </a:r>
            <a:endParaRPr lang="en-ID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892680-AFAE-42A5-97D6-22C9BB09BE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9210317"/>
      </p:ext>
    </p:extLst>
  </p:cSld>
  <p:clrMapOvr>
    <a:masterClrMapping/>
  </p:clrMapOvr>
  <p:transition spd="slow">
    <p:wip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FAFC6A-445D-4C99-B1CC-3B93878EED8A}"/>
              </a:ext>
            </a:extLst>
          </p:cNvPr>
          <p:cNvSpPr txBox="1"/>
          <p:nvPr/>
        </p:nvSpPr>
        <p:spPr>
          <a:xfrm>
            <a:off x="3918159" y="2721114"/>
            <a:ext cx="435568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b="1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TERIMAKASIH</a:t>
            </a:r>
            <a:endParaRPr lang="en-ID" sz="4000" b="1" spc="6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2A8C7AF-9308-474A-B0D7-AB525C303D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1852374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510</TotalTime>
  <Words>631</Words>
  <Application>Microsoft Office PowerPoint</Application>
  <PresentationFormat>Widescreen</PresentationFormat>
  <Paragraphs>69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5" baseType="lpstr">
      <vt:lpstr>Arial</vt:lpstr>
      <vt:lpstr>Calibri</vt:lpstr>
      <vt:lpstr>Calibri Light</vt:lpstr>
      <vt:lpstr>Poppins Medium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Ahmad Fauzan</dc:creator>
  <cp:lastModifiedBy>DM-09</cp:lastModifiedBy>
  <cp:revision>192</cp:revision>
  <dcterms:created xsi:type="dcterms:W3CDTF">2023-01-04T01:24:47Z</dcterms:created>
  <dcterms:modified xsi:type="dcterms:W3CDTF">2023-02-06T02:17:13Z</dcterms:modified>
</cp:coreProperties>
</file>