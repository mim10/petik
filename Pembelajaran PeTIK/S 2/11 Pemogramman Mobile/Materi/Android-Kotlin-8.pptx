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82" r:id="rId5"/>
    <p:sldId id="273" r:id="rId6"/>
    <p:sldId id="322" r:id="rId7"/>
    <p:sldId id="323" r:id="rId8"/>
    <p:sldId id="324" r:id="rId9"/>
    <p:sldId id="290" r:id="rId10"/>
    <p:sldId id="312" r:id="rId11"/>
    <p:sldId id="325" r:id="rId12"/>
    <p:sldId id="326" r:id="rId13"/>
    <p:sldId id="327" r:id="rId14"/>
    <p:sldId id="328" r:id="rId15"/>
    <p:sldId id="329" r:id="rId16"/>
    <p:sldId id="330" r:id="rId17"/>
    <p:sldId id="333" r:id="rId18"/>
    <p:sldId id="331" r:id="rId19"/>
    <p:sldId id="332" r:id="rId20"/>
    <p:sldId id="334" r:id="rId21"/>
    <p:sldId id="335" r:id="rId22"/>
    <p:sldId id="336" r:id="rId23"/>
    <p:sldId id="337" r:id="rId24"/>
    <p:sldId id="338" r:id="rId25"/>
    <p:sldId id="340" r:id="rId26"/>
    <p:sldId id="339" r:id="rId27"/>
    <p:sldId id="341" r:id="rId28"/>
    <p:sldId id="342" r:id="rId29"/>
    <p:sldId id="343" r:id="rId30"/>
    <p:sldId id="344" r:id="rId31"/>
    <p:sldId id="346" r:id="rId32"/>
    <p:sldId id="345" r:id="rId33"/>
    <p:sldId id="347" r:id="rId34"/>
    <p:sldId id="348" r:id="rId35"/>
    <p:sldId id="349" r:id="rId36"/>
    <p:sldId id="350" r:id="rId37"/>
    <p:sldId id="351" r:id="rId38"/>
    <p:sldId id="272" r:id="rId39"/>
  </p:sldIdLst>
  <p:sldSz cx="12192000" cy="6858000"/>
  <p:notesSz cx="6858000" cy="9144000"/>
  <p:embeddedFontLst>
    <p:embeddedFont>
      <p:font typeface="Calibri" panose="020F0502020204030204" pitchFamily="34" charset="0"/>
      <p:regular r:id="rId40"/>
      <p:bold r:id="rId41"/>
      <p:italic r:id="rId42"/>
      <p:boldItalic r:id="rId43"/>
    </p:embeddedFont>
    <p:embeddedFont>
      <p:font typeface="Calibri Light" panose="020F0302020204030204" pitchFamily="34" charset="0"/>
      <p:regular r:id="rId44"/>
      <p:italic r:id="rId45"/>
    </p:embeddedFont>
    <p:embeddedFont>
      <p:font typeface="Nirmala UI" panose="020B0502040204020203" pitchFamily="34" charset="0"/>
      <p:regular r:id="rId46"/>
      <p:bold r:id="rId47"/>
    </p:embeddedFont>
    <p:embeddedFont>
      <p:font typeface="Poppins Medium" panose="00000600000000000000" pitchFamily="2" charset="0"/>
      <p:regular r:id="rId4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643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3.fntdata"/><Relationship Id="rId47" Type="http://schemas.openxmlformats.org/officeDocument/2006/relationships/font" Target="fonts/font8.fntdata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font" Target="fonts/font1.fntdata"/><Relationship Id="rId45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5.fntdata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4.fntdata"/><Relationship Id="rId48" Type="http://schemas.openxmlformats.org/officeDocument/2006/relationships/font" Target="fonts/font9.fntdata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7.fntdata"/><Relationship Id="rId20" Type="http://schemas.openxmlformats.org/officeDocument/2006/relationships/slide" Target="slides/slide19.xml"/><Relationship Id="rId41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9E325-5EAA-480A-81BA-0EA5676E48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69C70E-5875-4AF5-BBFC-72EC75A001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1D4AE2-9902-4972-A6A2-AA315F152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B5220-94FA-4DD9-9ED6-C13B07E3BBB2}" type="datetimeFigureOut">
              <a:rPr lang="en-ID" smtClean="0"/>
              <a:t>23/05/2023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D1ED90-5084-4B19-A00E-9E78ADDD3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E60BF9-A85D-4B50-A393-7137582CD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F6289-1DF4-4978-8E42-F8F8671FF37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601637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3AC33-5C12-4F62-96C5-6AE03B92AB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20D4F7-A771-43CC-88EA-7F3DDDBA20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8034EE-A72E-431E-A8FF-9DDD4F2E2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B5220-94FA-4DD9-9ED6-C13B07E3BBB2}" type="datetimeFigureOut">
              <a:rPr lang="en-ID" smtClean="0"/>
              <a:t>23/05/2023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B960C8-0281-4AF3-B9CB-3919E4BF5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10772F-88F1-4B8B-BD1C-37FEC7622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F6289-1DF4-4978-8E42-F8F8671FF37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185376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BA791-78C5-4BCE-BC6D-CA58ECAA3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C3CA01-4F78-4D2E-9A35-91155C621B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1CA56B-51E6-4F5C-AA9A-7047999E5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B5220-94FA-4DD9-9ED6-C13B07E3BBB2}" type="datetimeFigureOut">
              <a:rPr lang="en-ID" smtClean="0"/>
              <a:t>23/05/2023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EBDDC-4521-4C93-A6BB-A6CB1C4CF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4E79AE-2958-45BA-A68C-FAD56CF05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F6289-1DF4-4978-8E42-F8F8671FF37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67551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4D696-42E5-4DF9-BC88-FF19A28A6F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B48B10-2AAB-4B84-8E4C-91AE82627A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FE5086-44CC-4793-89A0-813112ADA6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585686-4B6E-48CF-A7B5-3503F9926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B5220-94FA-4DD9-9ED6-C13B07E3BBB2}" type="datetimeFigureOut">
              <a:rPr lang="en-ID" smtClean="0"/>
              <a:t>23/05/2023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E1F9AC-BBC6-4E4F-917A-E9A16A2F6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CC0E98-021B-4296-B14C-89A5F7B49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F6289-1DF4-4978-8E42-F8F8671FF37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719537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682BA-90AD-48F8-A91B-76F1BD24F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1E4D24-A6CF-4B80-98AF-67EABDA1C1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BF6DF0-5FC4-4021-B09A-43466AEE10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F5E381-74F1-488F-B79C-E44F065E3D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072AB5-61DD-4ED8-895F-AFD544B64B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55227A3-D7C8-43B8-9478-681620DC2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B5220-94FA-4DD9-9ED6-C13B07E3BBB2}" type="datetimeFigureOut">
              <a:rPr lang="en-ID" smtClean="0"/>
              <a:t>23/05/2023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D517B8A-D93A-47D2-BE52-F41E2C203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54B13D-AA6C-4D63-96EB-335DDA391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F6289-1DF4-4978-8E42-F8F8671FF37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486250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6D32E-E775-403B-9893-BD79BC2B2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FC1B4A-A845-40F0-B43A-7A8F23BD2C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B5220-94FA-4DD9-9ED6-C13B07E3BBB2}" type="datetimeFigureOut">
              <a:rPr lang="en-ID" smtClean="0"/>
              <a:t>23/05/2023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0DC5EC-E611-4DF1-9457-2C6D77F1C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7BAD39-91C0-4570-B48E-2E17CB72B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F6289-1DF4-4978-8E42-F8F8671FF37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584106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1C170F-D242-47F1-8C0F-663FAA90C1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B5220-94FA-4DD9-9ED6-C13B07E3BBB2}" type="datetimeFigureOut">
              <a:rPr lang="en-ID" smtClean="0"/>
              <a:t>23/05/2023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284264-F580-4C25-A98D-431D0F469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161F6B-E3DB-4FD5-B117-A225BEBE3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F6289-1DF4-4978-8E42-F8F8671FF37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689583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115BB-41FE-467D-81BD-30B3128D3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F77B1B-3D3F-40CD-BFB8-3C0942D263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C76F15-C204-4B0B-83E8-C746637525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82CA90-C733-4338-97F7-F43ED97061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B5220-94FA-4DD9-9ED6-C13B07E3BBB2}" type="datetimeFigureOut">
              <a:rPr lang="en-ID" smtClean="0"/>
              <a:t>23/05/2023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BE43E1-62CA-48E2-AA98-1013AA075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9D8A4F-AC5A-4D60-8C5D-A86A06F7B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F6289-1DF4-4978-8E42-F8F8671FF37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34225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88D84-3A14-4332-B1A4-CAF8F43DC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78A2814-ABE7-4738-BC36-38770D393A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19EAD0-B254-4D24-8110-45C2F0DD9D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4DE529-AE79-4751-9243-28776DB05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B5220-94FA-4DD9-9ED6-C13B07E3BBB2}" type="datetimeFigureOut">
              <a:rPr lang="en-ID" smtClean="0"/>
              <a:t>23/05/2023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3902C8-9A3F-4AAC-9EA2-401245B58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DCCF4E-EE22-4CAD-A6D6-7C22F6060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F6289-1DF4-4978-8E42-F8F8671FF37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430405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AA2A6-9479-41C9-8A29-5F708D373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350101-69A2-4487-905A-CDA9B495D2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663450-55C0-4413-9BB9-2383C0790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B5220-94FA-4DD9-9ED6-C13B07E3BBB2}" type="datetimeFigureOut">
              <a:rPr lang="en-ID" smtClean="0"/>
              <a:t>23/05/2023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89A9B0-D92C-4AD1-9B3E-7B9D87101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355BE9-48D2-48E8-A567-B502CE23F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F6289-1DF4-4978-8E42-F8F8671FF37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607592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6C9C839-1748-4A5E-AE29-B48BEF3BBF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54C2F0-CB92-486D-AAD8-0257AB024A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E45BEB-067A-4449-A620-D5217A410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B5220-94FA-4DD9-9ED6-C13B07E3BBB2}" type="datetimeFigureOut">
              <a:rPr lang="en-ID" smtClean="0"/>
              <a:t>23/05/2023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6566CE-C044-4F77-BFA6-76C2E5596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F4232B-A1F3-4083-9151-2F445CF03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F6289-1DF4-4978-8E42-F8F8671FF37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936906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BDAA49-688C-430B-AF4C-F7B3AF39C0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90F00A-5D40-4557-B057-CFAC280216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B7AE7C-725B-4014-8870-F942C9B93A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4B5220-94FA-4DD9-9ED6-C13B07E3BBB2}" type="datetimeFigureOut">
              <a:rPr lang="en-ID" smtClean="0"/>
              <a:t>23/05/2023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DCDAE6-6E5E-42B7-B666-DF9F59F767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2543CF-4277-413C-A586-5E1669F620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2F6289-1DF4-4978-8E42-F8F8671FF37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30455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3AAC676-CB9B-4751-B85B-324CE1705B81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7" name="Picture 2" descr="Android | Platform yang memungkinkan segalanya">
            <a:extLst>
              <a:ext uri="{FF2B5EF4-FFF2-40B4-BE49-F238E27FC236}">
                <a16:creationId xmlns:a16="http://schemas.microsoft.com/office/drawing/2014/main" id="{9F7D2CD0-94DF-40DC-99A7-D80752F399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5199" y="1971631"/>
            <a:ext cx="5181601" cy="27223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9539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D831133-7C2B-4E3D-A967-B3A0DB70140F}"/>
              </a:ext>
            </a:extLst>
          </p:cNvPr>
          <p:cNvSpPr txBox="1"/>
          <p:nvPr/>
        </p:nvSpPr>
        <p:spPr>
          <a:xfrm>
            <a:off x="1010920" y="1434673"/>
            <a:ext cx="58047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LINIMASA ANDROID DEVELOPER</a:t>
            </a:r>
            <a:endParaRPr lang="en-ID" sz="2800" b="1" dirty="0"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1244415" y="1936978"/>
            <a:ext cx="3889013" cy="23529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spc="300" dirty="0"/>
              <a:t>LOCAL DATA PERSISTENT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spc="300" dirty="0"/>
              <a:t>FIREBASE AUTH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2000" spc="300" dirty="0"/>
              <a:t>API SERVICE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2000" spc="300" dirty="0"/>
              <a:t>VIEWMODELS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2000" spc="300" dirty="0"/>
              <a:t>BUILD APK/BUNDLES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2050" name="Picture 2" descr="Google Developers Indonesia Blog: Android Studio 4.2">
            <a:extLst>
              <a:ext uri="{FF2B5EF4-FFF2-40B4-BE49-F238E27FC236}">
                <a16:creationId xmlns:a16="http://schemas.microsoft.com/office/drawing/2014/main" id="{0599EFBF-C5F1-475E-BD55-F6A2C3873D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1080" y="1577231"/>
            <a:ext cx="3418840" cy="3418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502405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D831133-7C2B-4E3D-A967-B3A0DB70140F}"/>
              </a:ext>
            </a:extLst>
          </p:cNvPr>
          <p:cNvSpPr txBox="1"/>
          <p:nvPr/>
        </p:nvSpPr>
        <p:spPr>
          <a:xfrm>
            <a:off x="1937673" y="2905780"/>
            <a:ext cx="831670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spc="300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LOCAL DATA PERSISTENT ANDROID</a:t>
            </a:r>
            <a:endParaRPr lang="en-ID" sz="3200" b="1" spc="300" dirty="0"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431892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D831133-7C2B-4E3D-A967-B3A0DB70140F}"/>
              </a:ext>
            </a:extLst>
          </p:cNvPr>
          <p:cNvSpPr txBox="1"/>
          <p:nvPr/>
        </p:nvSpPr>
        <p:spPr>
          <a:xfrm>
            <a:off x="2481800" y="2598003"/>
            <a:ext cx="72283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Poppins Medium" panose="00000600000000000000" pitchFamily="2" charset="0"/>
                <a:ea typeface="Nirmala UI" panose="020B0502040204020203" pitchFamily="34" charset="0"/>
                <a:cs typeface="Poppins Medium" panose="00000600000000000000" pitchFamily="2" charset="0"/>
              </a:rPr>
              <a:t>APA YANG KALIAN KETAHUI TENTANG PENYIMPANAN DATA LOKAL DI ANDROID?</a:t>
            </a:r>
            <a:endParaRPr lang="en-ID" sz="2400" b="1" dirty="0">
              <a:latin typeface="Poppins Medium" panose="00000600000000000000" pitchFamily="2" charset="0"/>
              <a:ea typeface="Nirmala UI" panose="020B0502040204020203" pitchFamily="34" charset="0"/>
              <a:cs typeface="Poppins Medium" panose="00000600000000000000" pitchFamily="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8" name="Picture 4">
            <a:extLst>
              <a:ext uri="{FF2B5EF4-FFF2-40B4-BE49-F238E27FC236}">
                <a16:creationId xmlns:a16="http://schemas.microsoft.com/office/drawing/2014/main" id="{7947E6BE-F919-44A0-8299-449E7B8D75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599" y="4333240"/>
            <a:ext cx="3352800" cy="18807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734083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2091619" y="1819943"/>
            <a:ext cx="8008761" cy="2546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D" b="1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Local Data </a:t>
            </a:r>
            <a:r>
              <a:rPr lang="en-ID" b="1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Pesistent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Pengembangan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aplikasi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pada platform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manapun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tidak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luput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dari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proses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penyimpanan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dan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manipulasi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data. Pada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perangkat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Android,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terdapat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beragam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mekanisme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penyimpanan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yang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bergantung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pada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kebutuhan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aplikasi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</a:t>
            </a:r>
            <a:endParaRPr lang="en-ID" sz="1400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218404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2091619" y="1819943"/>
            <a:ext cx="8008761" cy="2546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D" b="1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onSavedInstanceState</a:t>
            </a:r>
            <a:endParaRPr lang="en-ID" b="1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  <a:p>
            <a:pPr algn="ctr">
              <a:lnSpc>
                <a:spcPct val="150000"/>
              </a:lnSpc>
            </a:pPr>
            <a:endParaRPr lang="en-ID" b="1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  <a:p>
            <a:pPr algn="ctr">
              <a:lnSpc>
                <a:spcPct val="150000"/>
              </a:lnSpc>
            </a:pP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Ini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adalah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penyimpanan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data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terkecil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di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dalam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Android.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Ia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hanya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menyimpan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data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ketika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aplikasi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dibuka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saja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,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ketika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aplikasi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ditutup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datanya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hilang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 </a:t>
            </a:r>
            <a:endParaRPr lang="en-ID" sz="1400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0201108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1244185" y="1532711"/>
            <a:ext cx="9703630" cy="37925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D" b="1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DataStore</a:t>
            </a:r>
            <a:endParaRPr lang="en-ID" b="1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  <a:p>
            <a:pPr algn="ctr">
              <a:lnSpc>
                <a:spcPct val="150000"/>
              </a:lnSpc>
            </a:pPr>
            <a:endParaRPr lang="en-ID" b="1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  <a:p>
            <a:pPr algn="ctr">
              <a:lnSpc>
                <a:spcPct val="150000"/>
              </a:lnSpc>
            </a:pP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Media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penyimpanan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jenis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ini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memudahkan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untuk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menyimpan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data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dengan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tipe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data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primitif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seperti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boolean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, int, long,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atau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string yang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tidak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berelasi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satu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sama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lain.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Konsep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yang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digunakan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pada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jenis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ini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adalah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pasangan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antara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key–value.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Biasanya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penyimpanan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jenis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ini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digunakan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untuk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menyimpan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pengaturan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aplikasi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,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seperti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ukuran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huruf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,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tema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,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atau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notifikasi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</a:t>
            </a:r>
            <a:endParaRPr lang="en-ID" sz="1400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017331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1244185" y="1532711"/>
            <a:ext cx="9703630" cy="33770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D" b="1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SQLiteDatabase</a:t>
            </a:r>
            <a:endParaRPr lang="en-ID" b="1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  <a:p>
            <a:pPr algn="ctr">
              <a:lnSpc>
                <a:spcPct val="150000"/>
              </a:lnSpc>
            </a:pPr>
            <a:endParaRPr lang="en-ID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  <a:p>
            <a:pPr algn="ctr">
              <a:lnSpc>
                <a:spcPct val="150000"/>
              </a:lnSpc>
            </a:pP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Ini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adalah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database open source yang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ringan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dan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biasa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digunakan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di Android. Anda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bisa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menyimpan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data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dalam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bentuk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tabel-tabel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berelasi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seperti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yang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dilakukan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pada platform lain. Database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semacam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ini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dibutuhkan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untuk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menyimpan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data yang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kompleks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,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seperti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catatan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keuangan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atau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tugas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harian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</a:t>
            </a:r>
            <a:endParaRPr lang="en-ID" sz="1400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0851280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1523977" y="1564640"/>
            <a:ext cx="9144046" cy="7546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D" sz="3200" b="1" spc="300" dirty="0"/>
              <a:t>TIME FOR CODING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637CA68-05D9-495B-9074-D8969B39BC3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732" b="17694"/>
          <a:stretch/>
        </p:blipFill>
        <p:spPr>
          <a:xfrm>
            <a:off x="3567430" y="2387600"/>
            <a:ext cx="4880610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10915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1523977" y="1107429"/>
            <a:ext cx="9144046" cy="4267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Buatlah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projek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baru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dengan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kriteria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sebagai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berikut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: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6EBBE76-7C19-48A5-A047-E9FCB71A03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36135" y="1856850"/>
            <a:ext cx="7719729" cy="3551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91359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1523977" y="1107429"/>
            <a:ext cx="9144046" cy="7961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Tambahkan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buildFeatures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{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viewBinding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true }</a:t>
            </a:r>
          </a:p>
          <a:p>
            <a:pPr algn="ctr">
              <a:lnSpc>
                <a:spcPct val="150000"/>
              </a:lnSpc>
            </a:pP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Dalam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build.gradle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(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module:app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1797473-8003-4A5A-8607-699C0C0B09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1238" y="2227469"/>
            <a:ext cx="5709523" cy="3162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64137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1523977" y="1107429"/>
            <a:ext cx="9144046" cy="4267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Buatlah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class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kotlin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dengan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nama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DataUser</a:t>
            </a:r>
            <a:endParaRPr lang="en-ID" sz="1600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8ABEC0-3023-45DF-A7AE-B14922B195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8853" y="1946054"/>
            <a:ext cx="4534293" cy="3581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82844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1523976" y="1115506"/>
            <a:ext cx="9144046" cy="4267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Hasilnya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seperti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ini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: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30CA669-7E7A-4040-83D1-067E9FB65C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5321" y="1967987"/>
            <a:ext cx="2759357" cy="151538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1712745-876C-44D8-8DA9-2958398F79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24076" y="1913615"/>
            <a:ext cx="5143946" cy="3703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57219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1523977" y="1107429"/>
            <a:ext cx="9144046" cy="7961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Tambahkan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companion object dan parameter context pada class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DataUser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seperti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dibawah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ini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: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F4EE28-9003-4C25-B997-4056BF1CE3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7303" y="2157004"/>
            <a:ext cx="5957393" cy="3098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63870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1523976" y="1422508"/>
            <a:ext cx="9144046" cy="4267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Dibawah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companion object,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buatlah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variable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seperti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ini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: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1383FD5-9E2D-46C8-A35F-E6EE5D7FF8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7548" y="2327814"/>
            <a:ext cx="7856901" cy="2202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72873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1523977" y="1107429"/>
            <a:ext cx="9144046" cy="7961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Dibawah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variable preferences,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buatlah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sebuah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function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untuk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melakukan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set data user (edit user)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seperti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dibawah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ini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: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10BDC0A-4921-4AA9-82A0-CC6FAF072A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0114" y="2157004"/>
            <a:ext cx="8283658" cy="2591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9730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1523977" y="1107429"/>
            <a:ext cx="9144046" cy="7961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Tambahkan</a:t>
            </a:r>
            <a:r>
              <a:rPr lang="en-US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‘</a:t>
            </a:r>
            <a:r>
              <a:rPr lang="en-US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kotlin-parcelize</a:t>
            </a:r>
            <a:r>
              <a:rPr lang="en-US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’ di </a:t>
            </a:r>
            <a:r>
              <a:rPr lang="en-US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build.gradle</a:t>
            </a:r>
            <a:r>
              <a:rPr lang="en-US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(</a:t>
            </a:r>
            <a:r>
              <a:rPr lang="en-US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module:app</a:t>
            </a:r>
            <a:r>
              <a:rPr lang="en-US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) </a:t>
            </a:r>
            <a:r>
              <a:rPr lang="en-US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kemudian</a:t>
            </a:r>
            <a:r>
              <a:rPr lang="en-US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lakukan</a:t>
            </a:r>
            <a:r>
              <a:rPr lang="en-US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sync </a:t>
            </a:r>
            <a:r>
              <a:rPr lang="en-US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gradle</a:t>
            </a:r>
            <a:endParaRPr lang="en-ID" sz="1600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13FEF1E-40F0-4CB2-A72D-E7AD36A08C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0369" y="2400453"/>
            <a:ext cx="3711262" cy="1851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58612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2262662" y="1322033"/>
            <a:ext cx="7666676" cy="7961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Kemudian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buatlah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data class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UserResponse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seperti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dibawah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ini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: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105E559-1808-4702-9EEE-3C42B9DE4B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3180" y="2334521"/>
            <a:ext cx="4145639" cy="3551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01161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1523977" y="1107429"/>
            <a:ext cx="9144046" cy="7961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Dan </a:t>
            </a:r>
            <a:r>
              <a:rPr lang="en-US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tambahkan</a:t>
            </a:r>
            <a:r>
              <a:rPr lang="en-US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beberapa</a:t>
            </a:r>
            <a:r>
              <a:rPr lang="en-US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variable dalam </a:t>
            </a:r>
            <a:r>
              <a:rPr lang="en-US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UserResponse</a:t>
            </a:r>
            <a:endParaRPr lang="en-US" sz="1600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  <a:p>
            <a:pPr algn="ctr">
              <a:lnSpc>
                <a:spcPct val="150000"/>
              </a:lnSpc>
            </a:pPr>
            <a:r>
              <a:rPr lang="en-US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M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aka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hasilnya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akan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seperti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ini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: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C1965AA-2ECB-4ADF-B0AE-B0C34337BE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170" y="1955707"/>
            <a:ext cx="2712955" cy="154699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1EC25D3-0B00-4EC0-AD1C-1D01EEEE0B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8879" y="2091498"/>
            <a:ext cx="6757996" cy="3832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55569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1523977" y="1107429"/>
            <a:ext cx="9144046" cy="7961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Kemudian</a:t>
            </a:r>
            <a:r>
              <a:rPr lang="en-US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buatlah</a:t>
            </a:r>
            <a:r>
              <a:rPr lang="en-US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sebuah</a:t>
            </a:r>
            <a:r>
              <a:rPr lang="en-US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function get user pada </a:t>
            </a:r>
            <a:r>
              <a:rPr lang="en-US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DataUser</a:t>
            </a:r>
            <a:r>
              <a:rPr lang="en-US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seperti </a:t>
            </a:r>
            <a:r>
              <a:rPr lang="en-US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dibawah</a:t>
            </a:r>
            <a:r>
              <a:rPr lang="en-US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ini :</a:t>
            </a:r>
            <a:endParaRPr lang="en-ID" sz="1600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DD53F08-5476-4DF9-A8A8-EE73B51170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81342" y="2139661"/>
            <a:ext cx="6829315" cy="4035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90300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1523977" y="1107429"/>
            <a:ext cx="9144046" cy="7961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Pada activity_main.xml </a:t>
            </a:r>
            <a:r>
              <a:rPr lang="en-US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ubahlah</a:t>
            </a:r>
            <a:r>
              <a:rPr lang="en-US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menjadi</a:t>
            </a:r>
            <a:r>
              <a:rPr lang="en-US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LinearLayout</a:t>
            </a:r>
            <a:r>
              <a:rPr lang="en-US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seperti </a:t>
            </a:r>
            <a:r>
              <a:rPr lang="en-US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berikut</a:t>
            </a:r>
            <a:r>
              <a:rPr lang="en-US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ini :</a:t>
            </a:r>
            <a:endParaRPr lang="en-ID" sz="1600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19D506A-D71E-47A4-8352-DFB691F664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60860" y="2157004"/>
            <a:ext cx="8070279" cy="368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85412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1523977" y="1107429"/>
            <a:ext cx="9144046" cy="7961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Buatlah</a:t>
            </a:r>
            <a:r>
              <a:rPr lang="en-US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dua</a:t>
            </a:r>
            <a:r>
              <a:rPr lang="en-US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editText</a:t>
            </a:r>
            <a:r>
              <a:rPr lang="en-US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, </a:t>
            </a:r>
            <a:r>
              <a:rPr lang="en-US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satu</a:t>
            </a:r>
            <a:r>
              <a:rPr lang="en-US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untuk name dengan id </a:t>
            </a:r>
            <a:r>
              <a:rPr lang="en-US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etName</a:t>
            </a:r>
            <a:r>
              <a:rPr lang="en-US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 </a:t>
            </a:r>
            <a:r>
              <a:rPr lang="en-US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Kemudian</a:t>
            </a:r>
            <a:r>
              <a:rPr lang="en-US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untuk note dengan id </a:t>
            </a:r>
            <a:r>
              <a:rPr lang="en-US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etNote</a:t>
            </a:r>
            <a:r>
              <a:rPr lang="en-US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didalam</a:t>
            </a:r>
            <a:r>
              <a:rPr lang="en-US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LinearLayout</a:t>
            </a:r>
            <a:endParaRPr lang="en-ID" sz="1600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96786C4-B203-42E3-BD80-3F84FDCFFD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78897" y="2029946"/>
            <a:ext cx="6034206" cy="3964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09960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1523977" y="1107429"/>
            <a:ext cx="9144046" cy="11654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Dibawah</a:t>
            </a:r>
            <a:r>
              <a:rPr lang="en-US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editText</a:t>
            </a:r>
            <a:r>
              <a:rPr lang="en-US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tadi</a:t>
            </a:r>
            <a:r>
              <a:rPr lang="en-US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, </a:t>
            </a:r>
            <a:r>
              <a:rPr lang="en-US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tambahkan</a:t>
            </a:r>
            <a:r>
              <a:rPr lang="en-US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textview</a:t>
            </a:r>
            <a:r>
              <a:rPr lang="en-US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untuk name dan </a:t>
            </a:r>
            <a:r>
              <a:rPr lang="en-US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notenya</a:t>
            </a:r>
            <a:r>
              <a:rPr lang="en-US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dengan id </a:t>
            </a:r>
            <a:r>
              <a:rPr lang="en-US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tvName</a:t>
            </a:r>
            <a:r>
              <a:rPr lang="en-US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untuk name dan </a:t>
            </a:r>
            <a:r>
              <a:rPr lang="en-US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tvNote</a:t>
            </a:r>
            <a:r>
              <a:rPr lang="en-US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untuk note seperti </a:t>
            </a:r>
            <a:r>
              <a:rPr lang="en-US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dibawah</a:t>
            </a:r>
            <a:r>
              <a:rPr lang="en-US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ini :</a:t>
            </a:r>
            <a:endParaRPr lang="en-ID" sz="1600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B1DCE3-BC50-4F00-B459-43E197BAB1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8788" y="2523945"/>
            <a:ext cx="3728461" cy="3463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28609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1523977" y="1107429"/>
            <a:ext cx="9144046" cy="4267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Maka</a:t>
            </a:r>
            <a:r>
              <a:rPr lang="en-US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tampilannya</a:t>
            </a:r>
            <a:r>
              <a:rPr lang="en-US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akan</a:t>
            </a:r>
            <a:r>
              <a:rPr lang="en-US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seperti ini :</a:t>
            </a:r>
            <a:endParaRPr lang="en-ID" sz="1600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F2D94BC-3342-4CC9-99F6-D411D27F9D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2467" y="1787673"/>
            <a:ext cx="5087065" cy="3456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46864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1523977" y="1107429"/>
            <a:ext cx="9144046" cy="7961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Jangan </a:t>
            </a:r>
            <a:r>
              <a:rPr lang="en-US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lupa</a:t>
            </a:r>
            <a:r>
              <a:rPr lang="en-US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menambahkan</a:t>
            </a:r>
            <a:r>
              <a:rPr lang="en-US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Button dengan id </a:t>
            </a:r>
            <a:r>
              <a:rPr lang="en-US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btnSubmit</a:t>
            </a:r>
            <a:r>
              <a:rPr lang="en-US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ditengah</a:t>
            </a:r>
            <a:r>
              <a:rPr lang="en-US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edittext</a:t>
            </a:r>
            <a:r>
              <a:rPr lang="en-US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dan </a:t>
            </a:r>
            <a:r>
              <a:rPr lang="en-US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texview</a:t>
            </a:r>
            <a:endParaRPr lang="en-ID" sz="1600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4944934-834D-4E6C-BA21-ACE075B80A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2641" y="2156906"/>
            <a:ext cx="8966718" cy="3823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35296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1523977" y="1107429"/>
            <a:ext cx="9144046" cy="4267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Kemudian</a:t>
            </a:r>
            <a:r>
              <a:rPr lang="en-US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, </a:t>
            </a:r>
            <a:r>
              <a:rPr lang="en-US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tambahkan</a:t>
            </a:r>
            <a:r>
              <a:rPr lang="en-US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binding pada </a:t>
            </a:r>
            <a:r>
              <a:rPr lang="en-US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MainActivity</a:t>
            </a:r>
            <a:endParaRPr lang="en-ID" sz="1600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423341-983A-4D75-B2A1-B6A46EA8AA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10564" y="1856851"/>
            <a:ext cx="6370872" cy="3551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02721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1523977" y="1107429"/>
            <a:ext cx="9144046" cy="4267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Setelah itu, </a:t>
            </a:r>
            <a:r>
              <a:rPr lang="en-US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buatlah</a:t>
            </a:r>
            <a:r>
              <a:rPr lang="en-US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action Ketika </a:t>
            </a:r>
            <a:r>
              <a:rPr lang="en-US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btnSubmit</a:t>
            </a:r>
            <a:r>
              <a:rPr lang="en-US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ditekan</a:t>
            </a:r>
            <a:endParaRPr lang="en-ID" sz="1600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CB4C2FB-404B-473E-A931-8BE29E64BF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701" y="1943026"/>
            <a:ext cx="5974598" cy="3513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6990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1523977" y="1107429"/>
            <a:ext cx="9144046" cy="7961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Sebelum</a:t>
            </a:r>
            <a:r>
              <a:rPr lang="en-US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itu, </a:t>
            </a:r>
            <a:r>
              <a:rPr lang="en-US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buatlah</a:t>
            </a:r>
            <a:r>
              <a:rPr lang="en-US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function </a:t>
            </a:r>
            <a:r>
              <a:rPr lang="en-US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submitData</a:t>
            </a:r>
            <a:r>
              <a:rPr lang="en-US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() </a:t>
            </a:r>
            <a:r>
              <a:rPr lang="en-US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dibawah</a:t>
            </a:r>
            <a:r>
              <a:rPr lang="en-US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onCreate</a:t>
            </a:r>
            <a:r>
              <a:rPr lang="en-US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()</a:t>
            </a:r>
            <a:endParaRPr lang="en-ID" sz="1600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2E3C728-7229-4E31-80C5-219D9E82E0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9682" y="2157004"/>
            <a:ext cx="5652635" cy="3906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040625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1523977" y="1107429"/>
            <a:ext cx="9144046" cy="4267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Isilah</a:t>
            </a:r>
            <a:r>
              <a:rPr lang="en-US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function </a:t>
            </a:r>
            <a:r>
              <a:rPr lang="en-US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submitData</a:t>
            </a:r>
            <a:r>
              <a:rPr lang="en-US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seperti ini :</a:t>
            </a:r>
            <a:endParaRPr lang="en-ID" sz="1600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EFCE98D-FED9-449D-9867-729209B9DC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0928" y="1954128"/>
            <a:ext cx="5890144" cy="2505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159342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1523977" y="1107429"/>
            <a:ext cx="9144046" cy="7961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Kemudian</a:t>
            </a:r>
            <a:r>
              <a:rPr lang="en-US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tambahkan</a:t>
            </a:r>
            <a:r>
              <a:rPr lang="en-US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submitData</a:t>
            </a:r>
            <a:r>
              <a:rPr lang="en-US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() </a:t>
            </a:r>
            <a:r>
              <a:rPr lang="en-US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didalam</a:t>
            </a:r>
            <a:r>
              <a:rPr lang="en-US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setOnClickListener</a:t>
            </a:r>
            <a:r>
              <a:rPr lang="en-US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seperti </a:t>
            </a:r>
            <a:r>
              <a:rPr lang="en-US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dibawah</a:t>
            </a:r>
            <a:r>
              <a:rPr lang="en-US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ini :</a:t>
            </a:r>
            <a:endParaRPr lang="en-ID" sz="1600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CEB2F3-74B7-40A4-87F2-C43D9FC3EF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6767" y="2157004"/>
            <a:ext cx="5798466" cy="3865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29889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1523977" y="2438292"/>
            <a:ext cx="9144046" cy="7961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Kemudian</a:t>
            </a:r>
            <a:r>
              <a:rPr lang="en-US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test </a:t>
            </a:r>
            <a:r>
              <a:rPr lang="en-US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aplikasinya</a:t>
            </a:r>
            <a:r>
              <a:rPr lang="en-US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 Apakah Ketika kalian close </a:t>
            </a:r>
            <a:r>
              <a:rPr lang="en-US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masih</a:t>
            </a:r>
            <a:r>
              <a:rPr lang="en-US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menyimpan</a:t>
            </a:r>
            <a:r>
              <a:rPr lang="en-US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data atau tidak?</a:t>
            </a:r>
            <a:endParaRPr lang="en-ID" sz="1600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40857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1523977" y="1107429"/>
            <a:ext cx="9144046" cy="4267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Panggil</a:t>
            </a:r>
            <a:r>
              <a:rPr lang="en-US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DataUser</a:t>
            </a:r>
            <a:r>
              <a:rPr lang="en-US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tadi</a:t>
            </a:r>
            <a:r>
              <a:rPr lang="en-US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dibawah</a:t>
            </a:r>
            <a:r>
              <a:rPr lang="en-US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binding seperti ini :</a:t>
            </a:r>
            <a:endParaRPr lang="en-ID" sz="1600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A9145F6-542E-43B8-9F62-91A85334CF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5788" y="1801989"/>
            <a:ext cx="6500423" cy="3254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032899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1523977" y="1107429"/>
            <a:ext cx="9144046" cy="4267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Kemudian</a:t>
            </a:r>
            <a:r>
              <a:rPr lang="en-US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inisialisasi</a:t>
            </a:r>
            <a:r>
              <a:rPr lang="en-US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dataUser</a:t>
            </a:r>
            <a:r>
              <a:rPr lang="en-US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seperti ini :</a:t>
            </a:r>
            <a:endParaRPr lang="en-ID" sz="1600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B3BE616-E532-4796-BBB5-9A63053C79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31478" y="1923919"/>
            <a:ext cx="6729043" cy="3010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815722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1523977" y="1107429"/>
            <a:ext cx="9144046" cy="4267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Kemudian</a:t>
            </a:r>
            <a:r>
              <a:rPr lang="en-US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ubah</a:t>
            </a:r>
            <a:r>
              <a:rPr lang="en-US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isi</a:t>
            </a:r>
            <a:r>
              <a:rPr lang="en-US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function </a:t>
            </a:r>
            <a:r>
              <a:rPr lang="en-US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submitData</a:t>
            </a:r>
            <a:r>
              <a:rPr lang="en-US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seperti ini :</a:t>
            </a:r>
            <a:endParaRPr lang="en-ID" sz="1600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187839B-7372-41B6-9B8A-1B3E8D5442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44443" y="1958375"/>
            <a:ext cx="7303114" cy="2735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550478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1523977" y="1107429"/>
            <a:ext cx="9144046" cy="4267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Kemudian</a:t>
            </a:r>
            <a:r>
              <a:rPr lang="en-US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tambahkan</a:t>
            </a:r>
            <a:r>
              <a:rPr lang="en-US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getUser</a:t>
            </a:r>
            <a:r>
              <a:rPr lang="en-US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seperti ini :</a:t>
            </a:r>
            <a:endParaRPr lang="en-ID" sz="1600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E878423-6A2E-429C-93FA-FC250A9E98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7769" y="1752454"/>
            <a:ext cx="5776461" cy="3353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466669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1523977" y="1182746"/>
            <a:ext cx="9144046" cy="4267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Terakhir</a:t>
            </a:r>
            <a:r>
              <a:rPr lang="en-US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, </a:t>
            </a:r>
            <a:r>
              <a:rPr lang="en-US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tambahkan</a:t>
            </a:r>
            <a:r>
              <a:rPr lang="en-US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kodingan</a:t>
            </a:r>
            <a:r>
              <a:rPr lang="en-US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berikut</a:t>
            </a:r>
            <a:r>
              <a:rPr lang="en-US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ke </a:t>
            </a:r>
            <a:r>
              <a:rPr lang="en-US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onCreate</a:t>
            </a:r>
            <a:endParaRPr lang="en-ID" sz="1600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23EAD8-049E-4EEF-820F-28FBB34164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2892" y="1803959"/>
            <a:ext cx="6866215" cy="3871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890439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1523977" y="3132844"/>
            <a:ext cx="9144046" cy="4267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Jalankan</a:t>
            </a:r>
            <a:r>
              <a:rPr lang="en-US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dan test </a:t>
            </a:r>
            <a:r>
              <a:rPr lang="en-US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aplikasinya</a:t>
            </a:r>
            <a:r>
              <a:rPr lang="en-US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..</a:t>
            </a:r>
            <a:endParaRPr lang="en-ID" sz="1600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06764460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D831133-7C2B-4E3D-A967-B3A0DB70140F}"/>
              </a:ext>
            </a:extLst>
          </p:cNvPr>
          <p:cNvSpPr txBox="1"/>
          <p:nvPr/>
        </p:nvSpPr>
        <p:spPr>
          <a:xfrm>
            <a:off x="4408681" y="2939967"/>
            <a:ext cx="33746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spc="300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TERIMAKASIH</a:t>
            </a:r>
            <a:endParaRPr lang="en-ID" sz="3200" b="1" spc="300" dirty="0"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507375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331</TotalTime>
  <Words>490</Words>
  <Application>Microsoft Office PowerPoint</Application>
  <PresentationFormat>Widescreen</PresentationFormat>
  <Paragraphs>50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4" baseType="lpstr">
      <vt:lpstr>Nirmala UI</vt:lpstr>
      <vt:lpstr>Calibri Light</vt:lpstr>
      <vt:lpstr>Calibri</vt:lpstr>
      <vt:lpstr>Poppins Medium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Ahmad Fauzan</dc:creator>
  <cp:lastModifiedBy>Ahmad Fauzan</cp:lastModifiedBy>
  <cp:revision>140</cp:revision>
  <dcterms:created xsi:type="dcterms:W3CDTF">2023-03-27T01:36:44Z</dcterms:created>
  <dcterms:modified xsi:type="dcterms:W3CDTF">2023-05-23T01:43:32Z</dcterms:modified>
</cp:coreProperties>
</file>