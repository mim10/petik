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91" r:id="rId6"/>
    <p:sldId id="294" r:id="rId7"/>
    <p:sldId id="292" r:id="rId8"/>
    <p:sldId id="293" r:id="rId9"/>
    <p:sldId id="295" r:id="rId10"/>
    <p:sldId id="296" r:id="rId11"/>
    <p:sldId id="297" r:id="rId12"/>
    <p:sldId id="298" r:id="rId13"/>
    <p:sldId id="299" r:id="rId14"/>
    <p:sldId id="290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8" r:id="rId33"/>
    <p:sldId id="317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2" r:id="rId47"/>
    <p:sldId id="331" r:id="rId48"/>
    <p:sldId id="333" r:id="rId49"/>
    <p:sldId id="334" r:id="rId50"/>
    <p:sldId id="335" r:id="rId51"/>
    <p:sldId id="272" r:id="rId52"/>
  </p:sldIdLst>
  <p:sldSz cx="12192000" cy="6858000"/>
  <p:notesSz cx="6858000" cy="9144000"/>
  <p:embeddedFontLs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Calibri Light" panose="020F0302020204030204" pitchFamily="34" charset="0"/>
      <p:regular r:id="rId57"/>
      <p:italic r:id="rId58"/>
    </p:embeddedFont>
    <p:embeddedFont>
      <p:font typeface="Nirmala UI" panose="020B0502040204020203" pitchFamily="34" charset="0"/>
      <p:regular r:id="rId59"/>
      <p:bold r:id="rId60"/>
    </p:embeddedFont>
    <p:embeddedFont>
      <p:font typeface="Poppins Medium" panose="00000600000000000000" pitchFamily="2" charset="0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8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26/05/2023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estaurant-api.dicoding.dev/list" TargetMode="External"/><Relationship Id="rId5" Type="http://schemas.openxmlformats.org/officeDocument/2006/relationships/hyperlink" Target="https://restaurant-api.dicoding.dev/detail/uewq1zg2zlskfw1e867" TargetMode="External"/><Relationship Id="rId4" Type="http://schemas.openxmlformats.org/officeDocument/2006/relationships/hyperlink" Target="https://restaurant-api.dicoding.dev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staurant-api.dicoding.dev/detail/uewq1zg2zlskfw1e867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9F7D2CD0-94DF-40DC-99A7-D80752F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2067817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3889013" cy="235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LOCAL DATA PERSISTENT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FIREBASE AUTH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API SERVICE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BUILD APK/BUNDLES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428474" y="2905780"/>
            <a:ext cx="5335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API SERVICE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31910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mempelajari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 API dan format JSON.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belajar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 API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macam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dan mem-parsing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supaya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dibaca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31910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Retrofit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mem-parsing JSON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efektif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Materi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sangat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penting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Developer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mengirimkan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server.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485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76088" y="2538400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tiga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memparsing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API Service.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Retrofit2, OkHttp3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LoggingInterceptor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6637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651CFE-50D3-457F-BE71-F00725F30E22}"/>
              </a:ext>
            </a:extLst>
          </p:cNvPr>
          <p:cNvGrpSpPr/>
          <p:nvPr/>
        </p:nvGrpSpPr>
        <p:grpSpPr>
          <a:xfrm>
            <a:off x="3399915" y="2308513"/>
            <a:ext cx="5392169" cy="1323952"/>
            <a:chOff x="2426883" y="2397308"/>
            <a:chExt cx="5392169" cy="1323952"/>
          </a:xfrm>
        </p:grpSpPr>
        <p:pic>
          <p:nvPicPr>
            <p:cNvPr id="2" name="Picture 2" descr="Networking on Android using Retrofit 2 | Udemy">
              <a:extLst>
                <a:ext uri="{FF2B5EF4-FFF2-40B4-BE49-F238E27FC236}">
                  <a16:creationId xmlns:a16="http://schemas.microsoft.com/office/drawing/2014/main" id="{2FB8D403-583D-402C-9357-862E3D16E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6883" y="2470280"/>
              <a:ext cx="2210432" cy="1241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903203-C335-4554-BE07-B0E1A812AEF2}"/>
                </a:ext>
              </a:extLst>
            </p:cNvPr>
            <p:cNvSpPr txBox="1"/>
            <p:nvPr/>
          </p:nvSpPr>
          <p:spPr>
            <a:xfrm>
              <a:off x="4826647" y="2397308"/>
              <a:ext cx="2992405" cy="1323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2800" b="1" spc="300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RETROFIT2</a:t>
              </a:r>
            </a:p>
            <a:p>
              <a:pPr>
                <a:lnSpc>
                  <a:spcPct val="150000"/>
                </a:lnSpc>
              </a:pPr>
              <a:r>
                <a:rPr lang="en-ID" sz="2800" b="1" spc="300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ANDROID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386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31910"/>
            <a:ext cx="8491631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Retrofit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Rest Client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dan java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squareup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relatif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mengunggah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 (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webservice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REST. Di Retrofit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mengonfigurasi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konverter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mana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serialisasi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944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31910"/>
            <a:ext cx="8491631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Retrofit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Rest Client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dan java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squareup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relatif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mengunggah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 (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webservice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REST. Di Retrofit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mengonfigurasi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konverter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mana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serialisasi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823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EAF361-7618-4262-AE29-03FAA22EF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757" y="1438678"/>
            <a:ext cx="3299441" cy="233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B80D1D-CFEA-4B5F-919F-9DC14D269D87}"/>
              </a:ext>
            </a:extLst>
          </p:cNvPr>
          <p:cNvSpPr txBox="1"/>
          <p:nvPr/>
        </p:nvSpPr>
        <p:spPr>
          <a:xfrm>
            <a:off x="3492076" y="3876871"/>
            <a:ext cx="4824802" cy="67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8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OKHTTP3 ANDROID</a:t>
            </a:r>
          </a:p>
        </p:txBody>
      </p:sp>
    </p:spTree>
    <p:extLst>
      <p:ext uri="{BB962C8B-B14F-4D97-AF65-F5344CB8AC3E}">
        <p14:creationId xmlns:p14="http://schemas.microsoft.com/office/powerpoint/2010/main" val="2863849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043877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OkHTTP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dipakai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Program android studio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permintaan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request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URL.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pemilihan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OkHTTP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alternatif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diluar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sekali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volley, retrofit,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loopj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openHTTP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880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80D1D-CFEA-4B5F-919F-9DC14D269D87}"/>
              </a:ext>
            </a:extLst>
          </p:cNvPr>
          <p:cNvSpPr txBox="1"/>
          <p:nvPr/>
        </p:nvSpPr>
        <p:spPr>
          <a:xfrm>
            <a:off x="3286802" y="1516228"/>
            <a:ext cx="5353344" cy="67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L</a:t>
            </a:r>
            <a:r>
              <a:rPr lang="en-ID" sz="28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OGGING INTERCEPTOR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1973AB8-4E9E-4D03-8513-45AF8003A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543" y="2291817"/>
            <a:ext cx="5047861" cy="283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6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043877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Logging Interceptor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dipakai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Program android studio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logging/log data pada request/response API di Retrofit.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3278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Android Studio kalian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spesifikasi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AB634-B9CE-4506-A668-B60EF5E31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808" y="2290677"/>
            <a:ext cx="8108383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50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Mari buat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dahulu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activity_main.xml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urutan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(1)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40FF27-2A11-4CB7-B5C0-E3602BE81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885" y="2649441"/>
            <a:ext cx="4218038" cy="30016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15949B-0557-4423-843B-01CEEB74B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057" y="2560740"/>
            <a:ext cx="3809096" cy="3347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E1F139-414F-47B6-90A7-4EC5B5F654C5}"/>
              </a:ext>
            </a:extLst>
          </p:cNvPr>
          <p:cNvSpPr txBox="1"/>
          <p:nvPr/>
        </p:nvSpPr>
        <p:spPr>
          <a:xfrm>
            <a:off x="5047861" y="2755302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  <a:endParaRPr lang="en-ID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C08D69-FCAF-426C-89D4-EBB27A447420}"/>
              </a:ext>
            </a:extLst>
          </p:cNvPr>
          <p:cNvSpPr txBox="1"/>
          <p:nvPr/>
        </p:nvSpPr>
        <p:spPr>
          <a:xfrm>
            <a:off x="9529665" y="2755301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  <a:endParaRPr lang="en-ID" sz="3200" b="1" dirty="0"/>
          </a:p>
        </p:txBody>
      </p:sp>
    </p:spTree>
    <p:extLst>
      <p:ext uri="{BB962C8B-B14F-4D97-AF65-F5344CB8AC3E}">
        <p14:creationId xmlns:p14="http://schemas.microsoft.com/office/powerpoint/2010/main" val="796849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5037E2-34F4-4B66-BBD0-28869464F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218" y="1687306"/>
            <a:ext cx="3664523" cy="34833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8EEF0D-F144-4E56-BD5A-3C05C7A4B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551" y="1675536"/>
            <a:ext cx="4401696" cy="3506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D213C9-56F4-47CE-AEF4-543807FFE1E5}"/>
              </a:ext>
            </a:extLst>
          </p:cNvPr>
          <p:cNvSpPr txBox="1"/>
          <p:nvPr/>
        </p:nvSpPr>
        <p:spPr>
          <a:xfrm>
            <a:off x="4646644" y="1803579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  <a:endParaRPr lang="en-ID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BF728C-7513-4E6A-A95B-DC2E4BDC9301}"/>
              </a:ext>
            </a:extLst>
          </p:cNvPr>
          <p:cNvSpPr txBox="1"/>
          <p:nvPr/>
        </p:nvSpPr>
        <p:spPr>
          <a:xfrm>
            <a:off x="9936480" y="1803579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  <a:endParaRPr lang="en-ID" sz="3200" b="1" dirty="0"/>
          </a:p>
        </p:txBody>
      </p:sp>
    </p:spTree>
    <p:extLst>
      <p:ext uri="{BB962C8B-B14F-4D97-AF65-F5344CB8AC3E}">
        <p14:creationId xmlns:p14="http://schemas.microsoft.com/office/powerpoint/2010/main" val="830142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B2A937-9AFB-45E4-937B-39BFBA63F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55" y="1564765"/>
            <a:ext cx="4360288" cy="343743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0EBCA1-A6C5-4759-B0E2-A86124A11C47}"/>
              </a:ext>
            </a:extLst>
          </p:cNvPr>
          <p:cNvGrpSpPr/>
          <p:nvPr/>
        </p:nvGrpSpPr>
        <p:grpSpPr>
          <a:xfrm>
            <a:off x="5787983" y="1272902"/>
            <a:ext cx="4998205" cy="4528583"/>
            <a:chOff x="5787983" y="1272902"/>
            <a:chExt cx="4998205" cy="452858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3FBB810-0264-48AA-A8DC-1003539AD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7983" y="1272902"/>
              <a:ext cx="4998205" cy="356814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52B11BB-B388-4C55-B13D-74F4C21FA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87983" y="4841045"/>
              <a:ext cx="3945405" cy="96044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14038DC-CC2A-4554-B8D6-A8BC99141BC9}"/>
              </a:ext>
            </a:extLst>
          </p:cNvPr>
          <p:cNvSpPr txBox="1"/>
          <p:nvPr/>
        </p:nvSpPr>
        <p:spPr>
          <a:xfrm>
            <a:off x="4646644" y="1803579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  <a:endParaRPr lang="en-ID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7E229-33FF-411B-AAC7-34C199839553}"/>
              </a:ext>
            </a:extLst>
          </p:cNvPr>
          <p:cNvSpPr txBox="1"/>
          <p:nvPr/>
        </p:nvSpPr>
        <p:spPr>
          <a:xfrm>
            <a:off x="9936480" y="2543808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6</a:t>
            </a:r>
            <a:endParaRPr lang="en-ID" sz="3200" b="1" dirty="0"/>
          </a:p>
        </p:txBody>
      </p:sp>
    </p:spTree>
    <p:extLst>
      <p:ext uri="{BB962C8B-B14F-4D97-AF65-F5344CB8AC3E}">
        <p14:creationId xmlns:p14="http://schemas.microsoft.com/office/powerpoint/2010/main" val="160404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9355EE-557D-4AB4-8A51-1F44B0331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20" y="1760016"/>
            <a:ext cx="4756144" cy="3097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E107F3-BF54-4054-BB88-03C254477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337" y="1394132"/>
            <a:ext cx="4658987" cy="38291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383615-59D3-406D-847B-DCAD06692A94}"/>
              </a:ext>
            </a:extLst>
          </p:cNvPr>
          <p:cNvSpPr txBox="1"/>
          <p:nvPr/>
        </p:nvSpPr>
        <p:spPr>
          <a:xfrm>
            <a:off x="4842587" y="1980860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7</a:t>
            </a:r>
            <a:endParaRPr lang="en-ID" sz="3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BF0F27-8130-4E57-A834-3E16E6FC646F}"/>
              </a:ext>
            </a:extLst>
          </p:cNvPr>
          <p:cNvSpPr txBox="1"/>
          <p:nvPr/>
        </p:nvSpPr>
        <p:spPr>
          <a:xfrm>
            <a:off x="10114383" y="1621882"/>
            <a:ext cx="63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8</a:t>
            </a:r>
            <a:endParaRPr lang="en-ID" sz="3200" b="1" dirty="0"/>
          </a:p>
        </p:txBody>
      </p:sp>
    </p:spTree>
    <p:extLst>
      <p:ext uri="{BB962C8B-B14F-4D97-AF65-F5344CB8AC3E}">
        <p14:creationId xmlns:p14="http://schemas.microsoft.com/office/powerpoint/2010/main" val="659661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resource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teksnya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strings.xml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A324D-108B-41AC-876D-C5CE6D6C1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647" y="2401071"/>
            <a:ext cx="7316705" cy="297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04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437392"/>
            <a:ext cx="8491631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awal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dijelaskan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bahwa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restoran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beserta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reviewnya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API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4"/>
              </a:rPr>
              <a:t>https://restaurant-api.dicoding.dev/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 Endpoint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dipanggil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5"/>
              </a:rPr>
              <a:t>https://restaurant-api.dicoding.dev/detail/uewq1zg2zlskfw1e867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uewq1zg2zlskfw1e867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salah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restoran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dilihat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6"/>
              </a:rPr>
              <a:t>https://restaurant-api.dicoding.dev/list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4511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Retrofit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mengakses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build.gradle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(Module: app).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baris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CC433E-74D9-45B1-9895-A5E01C140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584" y="3142254"/>
            <a:ext cx="6502831" cy="246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06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sync,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aktifkan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dahulu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ViewBinding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konfigurasi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FFDC3-0F2D-4D56-9641-81EEA1AFF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060" y="2797876"/>
            <a:ext cx="3521880" cy="283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32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544912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selesai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langsung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Sync Now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pojok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Studio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mengunduh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8614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712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lanjut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(folder)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berfungsi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supaya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project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terlihat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rapi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package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pilih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New → Package.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AD23CF-89B7-4164-8D00-03F94D54D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711" y="3136357"/>
            <a:ext cx="6697792" cy="217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49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Enter.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Alhasil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folder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tercipta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7D6A9-9649-427E-A9EE-70EEE1E45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892" y="2382377"/>
            <a:ext cx="3604216" cy="235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38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buat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pindahkan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MainActivity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drag &amp; drop.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BE5C26-B796-49DE-875C-091D283D0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24" y="2921662"/>
            <a:ext cx="4114752" cy="179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47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package data buat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kembali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remote. Lalu,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response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81929-46A4-4D83-81F2-0548962BE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887" y="3213374"/>
            <a:ext cx="4644225" cy="128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444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577346"/>
            <a:ext cx="849163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kondisi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sekarang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muncul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folder response. Lalu,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bagaimana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folder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data? 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Tenang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mengubah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project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ikon gear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pilih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Tree Appearance.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706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centang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Compact Middle Packages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sehingga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project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ini.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3BA54-56E7-464D-949E-305636C74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589" y="2285392"/>
            <a:ext cx="9130821" cy="296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69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Nah,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baru lagi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retrofit di dalam folder data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package data.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6076C-C793-40FF-9906-274521300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926" y="2797876"/>
            <a:ext cx="3180148" cy="249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43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782618"/>
            <a:ext cx="849163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model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menampung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respon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API.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Supaya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kali ini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menggunakan plugin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RoboPojoGenerator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unduh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menu File → Setting → Plugins. Pada tab Marketplace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RoboPojoGenerator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Install.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38277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F50F2-317D-4FF3-9186-5E5C334C7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862" y="1030335"/>
            <a:ext cx="6296276" cy="457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45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462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package 'response' dan pilih New → Generate POJO from JSON.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Sebenarnya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saja copy-paste semua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 pada 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4"/>
              </a:rPr>
              <a:t>https://restaurant-api.dicoding.dev/detail/uewq1zg2zlskfw1e867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Namun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hanya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dibutuhkan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saja,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baris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berhubungan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city, address,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menusehingga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dimasukkan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cukup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3112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86C29B-7FD2-4C79-8E2F-5E6E633D23FE}"/>
              </a:ext>
            </a:extLst>
          </p:cNvPr>
          <p:cNvGrpSpPr/>
          <p:nvPr/>
        </p:nvGrpSpPr>
        <p:grpSpPr>
          <a:xfrm>
            <a:off x="3984763" y="1075462"/>
            <a:ext cx="4222473" cy="4707076"/>
            <a:chOff x="3826603" y="853969"/>
            <a:chExt cx="4701577" cy="52411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E08085-DCD3-4314-AC49-1C4610671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26603" y="853969"/>
              <a:ext cx="4538793" cy="327582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8EF44DE-9913-4DF4-9F18-2C0975AB5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26603" y="4126889"/>
              <a:ext cx="4701577" cy="19682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0696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jangan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atur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language sesuai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bahasa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Anda, pilih GSON pada Framework,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Root object name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RestaurantResponse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Lalu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Generate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tercipta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A79BC-1AEE-425F-B5D4-199C693FC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191" y="3429000"/>
            <a:ext cx="4230292" cy="264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043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RestaurantResponse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pastikan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CDE6D5-8EF0-40F8-BEFB-C72E85E6C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554" y="2382649"/>
            <a:ext cx="3014518" cy="329922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D4C33D7-4E5C-4372-BF0B-FF08BA523F2E}"/>
              </a:ext>
            </a:extLst>
          </p:cNvPr>
          <p:cNvGrpSpPr/>
          <p:nvPr/>
        </p:nvGrpSpPr>
        <p:grpSpPr>
          <a:xfrm>
            <a:off x="6711209" y="2263814"/>
            <a:ext cx="2742625" cy="3569643"/>
            <a:chOff x="7154402" y="1850063"/>
            <a:chExt cx="3314545" cy="431402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9A9A266-FE20-49E0-A314-96C4C1578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54402" y="1850063"/>
              <a:ext cx="3014518" cy="295728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99C0993-0854-4973-823D-D71EFFDEA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54402" y="4797784"/>
              <a:ext cx="3314545" cy="1366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5954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RestaurantResponse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pastikan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19AAF-655D-4E5F-9615-44791E6FE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185" y="2382377"/>
            <a:ext cx="4399629" cy="347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63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persiapan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Retrofit,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interface baru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package 'retrofit' → New → Kotlin Class/Java Class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ApiService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BAB945-0EBD-4F89-A332-9EE22F8D8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027" y="3213374"/>
            <a:ext cx="5143946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8152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363708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baru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ApiConfig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package 'retrofit'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proyek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→ New → Kotlin Class/Java Class,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konfigurasi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Retrofit.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44036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FB8160D-1327-4C5B-9643-0E54598E0DD1}"/>
              </a:ext>
            </a:extLst>
          </p:cNvPr>
          <p:cNvGrpSpPr/>
          <p:nvPr/>
        </p:nvGrpSpPr>
        <p:grpSpPr>
          <a:xfrm>
            <a:off x="3227286" y="1208573"/>
            <a:ext cx="5384869" cy="4310226"/>
            <a:chOff x="2938037" y="742460"/>
            <a:chExt cx="5951736" cy="476396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9A4FA10-1120-49B5-8CD7-1B8E56D3A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8037" y="742460"/>
              <a:ext cx="5936494" cy="412277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FC57C0-38EC-4B8F-895E-C5A4490CC0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5542"/>
            <a:stretch/>
          </p:blipFill>
          <p:spPr>
            <a:xfrm>
              <a:off x="2938037" y="4865237"/>
              <a:ext cx="5951736" cy="641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28177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95340" y="2571457"/>
            <a:ext cx="9001319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Kelas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efektif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konfigurasi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Retrofit baru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membutuhkannya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tetapi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cukup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memanggil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dalam class ini saja.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1576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melangkah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jauh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terlebih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dahulu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layout untuk item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folder layout → New → Layout resource file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item_review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Lalu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CA4FB-518A-414D-AB06-60EE0CB29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652" y="3353367"/>
            <a:ext cx="5558696" cy="283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81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109190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baru pada package '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' untuk adapter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ReviewAdapter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kali ini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menggunakan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ListAdapteruntuk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list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dinamis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2025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680F9E-809A-42C5-A477-EA44A6423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623" y="1118635"/>
            <a:ext cx="8820754" cy="4620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281285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267810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dengan Retrofit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menggunakan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MainActivity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92015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2591C5-5044-40F4-BD7E-832A9F28F98F}"/>
              </a:ext>
            </a:extLst>
          </p:cNvPr>
          <p:cNvGrpSpPr/>
          <p:nvPr/>
        </p:nvGrpSpPr>
        <p:grpSpPr>
          <a:xfrm>
            <a:off x="1543650" y="1143491"/>
            <a:ext cx="4241775" cy="4571017"/>
            <a:chOff x="3390665" y="853969"/>
            <a:chExt cx="5410669" cy="58306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7A6948-A1B1-4D7C-99EC-564D0481E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0665" y="853969"/>
              <a:ext cx="5410669" cy="22861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050496A-D2BA-4272-81E1-D788AE49D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90665" y="3140167"/>
              <a:ext cx="5410669" cy="354444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598436-1D53-418D-9BC7-6961295D74CA}"/>
              </a:ext>
            </a:extLst>
          </p:cNvPr>
          <p:cNvGrpSpPr/>
          <p:nvPr/>
        </p:nvGrpSpPr>
        <p:grpSpPr>
          <a:xfrm>
            <a:off x="6096000" y="977672"/>
            <a:ext cx="4241775" cy="4902655"/>
            <a:chOff x="6183531" y="1111328"/>
            <a:chExt cx="4549240" cy="525802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51F2156-A4F4-48AC-AB4D-AE3EDB9BCDD8}"/>
                </a:ext>
              </a:extLst>
            </p:cNvPr>
            <p:cNvGrpSpPr/>
            <p:nvPr/>
          </p:nvGrpSpPr>
          <p:grpSpPr>
            <a:xfrm>
              <a:off x="6183531" y="1111328"/>
              <a:ext cx="4549240" cy="3797667"/>
              <a:chOff x="5985021" y="1217863"/>
              <a:chExt cx="4549240" cy="3797667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E69206B-6347-46D4-9B8A-00D411B53E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85021" y="1217863"/>
                <a:ext cx="4549240" cy="291948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0ECA62E-5A18-47A2-A3D1-0F5B5F299D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5021" y="3986955"/>
                <a:ext cx="4549240" cy="1028575"/>
              </a:xfrm>
              <a:prstGeom prst="rect">
                <a:avLst/>
              </a:prstGeom>
            </p:spPr>
          </p:pic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F1A23E8-D1BD-443C-9BDA-8FF44458E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83531" y="4912444"/>
              <a:ext cx="4549240" cy="14569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81031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8D8E9-0073-44C1-82D8-C7631B44F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739" y="1091489"/>
            <a:ext cx="7864522" cy="2659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472101-7F2F-48DA-B601-37090C974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905" y="3988619"/>
            <a:ext cx="4496190" cy="20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335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Terakhir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permission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AndroidManifest.xml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membutuhkan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internet.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6C885-D362-4EFD-A0B8-AEF5F0034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188" y="2691967"/>
            <a:ext cx="6216297" cy="29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530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5522879" y="2099859"/>
            <a:ext cx="4821205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Selesai!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jalankan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restoran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review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CE8A2-169B-4DB1-8CA5-79A212BA2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452" y="1144749"/>
            <a:ext cx="2639148" cy="45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316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1026</Words>
  <Application>Microsoft Office PowerPoint</Application>
  <PresentationFormat>Widescreen</PresentationFormat>
  <Paragraphs>57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Calibri Light</vt:lpstr>
      <vt:lpstr>Poppins Medium</vt:lpstr>
      <vt:lpstr>Nirmala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167</cp:revision>
  <dcterms:created xsi:type="dcterms:W3CDTF">2023-03-27T01:36:44Z</dcterms:created>
  <dcterms:modified xsi:type="dcterms:W3CDTF">2023-05-26T01:23:34Z</dcterms:modified>
</cp:coreProperties>
</file>